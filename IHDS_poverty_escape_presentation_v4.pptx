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Anhad: Hello everyone. We are Anhad, Aman, Eshaan and Gokul, and our project is about poverty in India. We asked a practical question: which poor households will still be poor seven years later? To answer it we used a real survey that visited the same households twice. We built and tested four machine learning models, and we made a small demo app.</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Anhad: Our talk has eight parts. I will cover the problem, the earlier studies and the conclusion. Aman will explain the data and how we built and ran the project. Eshaan will explain the methods and what the model has learned. Gokul will present the results. All four of us can answer questions on every part.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you remember only one slide, remember this one. It holds the question, the data, the method, the result, what the result means and what the model cannot do. Every other slide fills in one of these six boxes.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Anhad: Most poverty numbers describe a single year. A welfare programme, though, needs to know who is likely to stay poor. So we turned this into a prediction problem. We take a household that was poor in 2004-05 and ask whether it had escaped by 2011-12. Along the way we also wanted to learn which conditions matter, and to build a small demo that shows the idea.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Anhad: Our domain is social welfare and poverty targeting. The people who could use this are welfare departments, NGOs and researchers. It matters because budgets are limited, and programmes need a way to decide whom to reach first. Machine learning is already used for this: a 2022 paper in Nature used it to target cash aid in Togo. Our work supports SDG 1 and SDG 10.</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Anhad: We registered a clear idea, and we have delivered all of it. We improved it in four ways: we used one poverty line in both rounds, we test on whole villages, we checked how many features are really needed, and we built the demo. The optional propensity-score idea became our education analysis. We say clearly that it shows a link and not a cause.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Anhad: Earlier work tells us three things. Escaping poverty is real and it differs between groups. The survey we use shows that Adivasi households escaped least. And machine learning is already used to target aid. Thorat and co-authors used our survey but did not build a prediction model. Narendranath and co-authors is the closest study, but we could not read its results. So our contribution is a careful prediction, with explanations, tested on villages the model has not seen.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Aman: Thank you, Anhad. I will now explain the data we used. It comes from the India Human Development Survey, which is a panel: it visited the same households in 2004-05 and again in 2011-12. The second survey does not store the old household number, so we rebuilt it from the state, district, village and household codes, and we checked it against the official tracking file. About 83% of the households were found again.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Aman: Poverty means that spending per person is below a line. The two survey files used different lines, so comparing them directly would not be fair. The second file also stores the Tendulkar line for 2004-05 prices, so we used that line for both rounds. Our target is 1 if a household was poor in 2004-05 and not poor in 2011-12. About 69 in every 100 households escaped.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Aman: Every feature describes the household in 2004-05, so the model only uses what was known before the outcome. We started with 945 survey columns and kept 137 in ten groups, such as assets, household structure, education, jobs and services. Some of them we built ourselves from the person records. We left out spending and income on purpose, because poverty is defined from spending and they would give the model the answer.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Aman: The coordinator's email asks about feature selection, so we tested it directly. We ranked the features using only the training villages, kept the top few, and trained the model again. The chart shows how the score changes. With about 40 features the score is already close to the score with all of them. We still keep all 137, for the reason on the slide.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Aman: Missing answers were stored as negative codes, so we turned them into blanks. Blank numbers get the median, and extreme values are pulled in, because a few cells hold typing errors. Categories such as state become yes or no columns. All of this is learned from the training villages only, so nothing leaks from the test villages.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Aman: Before building any model we looked at the data. Adivasi households escaped least often, and the escape rate rises with the schooling of the most educated adult. These are raw comparisons that ignore other differences between households, which is one reason we use models.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Eshaan: Thank you, Aman. I will now explain how we set up and test the models. We split the data by village and not by household. Households in one village share roads, prices and weather, so a random split would put neighbours on both sides and make the score look better than it is. We checked this by repeating both kinds of split 20 times. The test villages are never used to choose a model or its settings.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Eshaan: Here is the whole pipeline in nine boxes. We check and link the survey files, measure poverty with one line, create the target, build the features and split by village. Then we train and tune four models, test them on villages they have never seen, explain the best one, and save everything. The slides, the report and the app all read the same saved results.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Eshaan: We chose the models from simple to strong. Logistic Regression is the simple baseline. Random Forest and XGBoost can find curved patterns and interactions. The ensemble averages the three, and the dummy shows what no skill looks like. We did not use a neural network because we have only about nine thousand rows, and trees are easier to explain.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Eshaan: Tuning means trying many settings and keeping the best one according to cross-validation. We did not use class weights, because they make the predicted probabilities wrong. The cut-off is picked on training predictions so that the average F1 of both classes is as high as possible. And we chose XGBoost as the headline model by cross-validation, before we looked at the test set.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Aman: Thank you, Eshaan. I will now show how the project is built and run. This is our project folder, and the notebook is the heart of it. You run it from top to bottom, and it writes the tables, charts and saved models into the outputs folder. Everything else, meaning the charts, the slides, the report and the app, reads from outputs. We fixed the random seeds and pinned the package versions so that the results repeat.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Aman: This slide shows that the project was really executed. On the left is the output of the notebook run, with the time it took to tune each model. On the right is the output of our quick check script, which recomputes the headline scores from the saved predictions in a few seconds, so we can run it live if you like. The full notebook takes about 30 minutes, and running it again gave identical result tables.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Gokul: Thank you, Aman. I will now take you through the results. First, the measures we use. Accuracy is the share of correct answers, but it can mislead here, because a model that always says escaped is right about 69% of the time. So we also report precision, recall and F1 for both groups, the confusion matrix, and ROC-AUC, which does not depend on the cut-off.</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Gokul: Here are the four models on the same test villages. XGBoost scores 0.722, the ensemble 0.719, Random Forest 0.709 and Logistic Regression 0.700, and the dummy scores 0.487, which is guessing. The top two are within chance of each other. The scores are modest, which is why we call this a ranking tool.</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Gokul: This table gives precision, recall and F1 for each group. All the models show the same pattern: they find the escaped households better than the stayed-poor households. A welfare programme cares most about the stayed-poor households, which is why we show both groups.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Gokul: The ROC curve shows how well a model ranks households at every possible cut-off. All four curves are well above the dashed line, which is guessing, and they are close to each other. Cross-validation on the training villages tells the same story and points to XGBoost.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Gokul: Each box compares what a model predicted with what really happened. For XGBoost, the model finds a little over half of the households that stayed poor and about three quarters of the households that escaped. All four models look alike. They make many errors, so we use the model to rank households and not to decide about one family.</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Gokul: This is the practical value of the model. We ranked the test households by predicted risk and cut them into five equal groups. In the highest-risk group, 57% stayed poor, against 31% on average and only 11% in the lowest group. A programme with a small budget could focus on the top groups and still reach more than half of the households that stay poor.</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Eshaan: Thank you, Gokul. Next I will explain what the model has learned. SHAP splits each prediction into the push from each feature, a little like splitting a bill between items. Averaging these pushes shows what the model relies on: the number of young children, the state, assets, the ration card type and the caste and religion group. This tells us what the model uses, and it does not tell us what causes escape. The ration card is a label the government gives to poor households, so we do not read it as a risk factor.</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Eshaan: Each dot is a household. A dot above zero means the feature pushed the prediction towards escape. Households with no child under six are pushed towards escape, and households with two or more are pushed towards staying poor. More assets per person generally push towards escape.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Eshaan: Our registered idea included a small propensity-score analysis, and this is it. Poor households with an educated adult escaped about 11 points more often. After comparing them with similar households, using weights built from propensity scores, the gap is about 6 points. We still call this a link and not a cause. The details and the safety checks are in the backup slides.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Anhad: Thank you, Eshaan. We want to be honest about the limits. The model can rank households, but it is not accurate enough to judge a single family. Escaping is partly noise around a poverty line, and about 11% of poor households were lost between the surveys. The data are old. Our results show patterns and not causes. And because state and caste are strong predictors, the score must be used to support groups and never to leave them out.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Anhad: To conclude, about seven in ten poor households escaped. Our best model ranks households modestly well, and the riskiest fifth stayed poor 57% of the time. The strongest signals are young children, state, assets, the ration card and social group. Education goes together with escape, but we do not claim that it causes it. In future we would use newer data, add village data, build a model for falling into poverty, and check fairness for each group.</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Anhad: Now a short live demo. We run streamlit run app.py and choose the real test household with the lowest predicted chance of escaping. The app shows the chance of escaping, the risk group, how often households in that group really stayed poor, and a chart of what pushed the estimate. Then I change the number of assets so you can see the estimate move. Please remember that it is a screening aid. Thank you, and we are happy to take your questions.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References. All are checked: the DOIs resolve to the titles and pages shown.</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divider. The slides after this one are only for questions.</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asked: The link is built from the survey codes and agrees with the official tracking file. About 11% of poor households were lost, often because they moved. Re-weighting for this changes the escape rate very little.</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asked: Calibration asks whether a predicted 70% really means about 70 in 100. Ours is close. We avoided class weights because they distort the probabilities.</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asked: We repeated the train and test step on 20 village splits. The order of models is stable, but the top two swap places sometimes. The table shows overfitting: Random Forest fits its training households almost perfectly, so training scores are not used to judge models.</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asked: These checks change one thing at a time and see whether the main result moves. It hardly does. Leaving out spending and income, which we did on purpose, costs very little.</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asked: A propensity score is the chance of having an educated adult given the household's starting traits. Weighting by it makes the two groups similar. The E-value says how strong a hidden cause would have to be to explain the gap away. Ours is about 1.4, so we call the result suggestive.</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asked: We added up the importance of all features in each group. Household structure and assets lead. Groups with many features collect more, and features that move together share credit.</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glossary to explain any term in one sentence.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i.org/10.1016/j.worlddev.2003.08.002" TargetMode="External"/><Relationship Id="rId3" Type="http://schemas.openxmlformats.org/officeDocument/2006/relationships/hyperlink" Target="https://doi.org/10.1016/j.worlddev.2017.01.004" TargetMode="External"/><Relationship Id="rId4" Type="http://schemas.openxmlformats.org/officeDocument/2006/relationships/hyperlink" Target="https://doi.org/10.1109/ICACCI.2018.8554571" TargetMode="External"/><Relationship Id="rId5" Type="http://schemas.openxmlformats.org/officeDocument/2006/relationships/hyperlink" Target="https://doi.org/10.1093/wber/lhw056" TargetMode="External"/><Relationship Id="rId6" Type="http://schemas.openxmlformats.org/officeDocument/2006/relationships/hyperlink" Target="https://doi.org/10.1038/s41586-022-04484-9" TargetMode="External"/><Relationship Id="rId7" Type="http://schemas.openxmlformats.org/officeDocument/2006/relationships/hyperlink" Target="https://doi.org/10.1126/science.aaf7894" TargetMode="External"/><Relationship Id="rId8" Type="http://schemas.openxmlformats.org/officeDocument/2006/relationships/hyperlink" Target="https://doi.org/10.1023/A:1010933404324" TargetMode="External"/><Relationship Id="rId9" Type="http://schemas.openxmlformats.org/officeDocument/2006/relationships/hyperlink" Target="https://doi.org/10.1145/2939672.2939785" TargetMode="External"/><Relationship Id="rId10" Type="http://schemas.openxmlformats.org/officeDocument/2006/relationships/hyperlink" Target="https://arxiv.org/abs/1705.07874" TargetMode="External"/><Relationship Id="rId11" Type="http://schemas.openxmlformats.org/officeDocument/2006/relationships/hyperlink" Target="https://doi.org/10.7326/M16-2607" TargetMode="External"/><Relationship Id="rId12" Type="http://schemas.openxmlformats.org/officeDocument/2006/relationships/hyperlink" Target="https://ihds.umd.edu" TargetMode="External"/><Relationship Id="rId13" Type="http://schemas.openxmlformats.org/officeDocument/2006/relationships/hyperlink" Target="https://sdgs.un.org/goals/goal1" TargetMode="External"/><Relationship Id="rId14" Type="http://schemas.openxmlformats.org/officeDocument/2006/relationships/hyperlink" Target="https://sdgs.un.org/goals/goal10" TargetMode="External"/><Relationship Id="rId15"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AF7F0"/>
        </a:solidFill>
        <a:effectLst/>
      </p:bgPr>
    </p:bg>
    <p:spTree>
      <p:nvGrpSpPr>
        <p:cNvPr id="1" name=""/>
        <p:cNvGrpSpPr/>
        <p:nvPr/>
      </p:nvGrpSpPr>
      <p:grpSpPr/>
      <p:sp>
        <p:nvSpPr>
          <p:cNvPr id="2" name="Rectangle 1"/>
          <p:cNvSpPr/>
          <p:nvPr/>
        </p:nvSpPr>
        <p:spPr>
          <a:xfrm>
            <a:off x="0" y="0"/>
            <a:ext cx="3840480" cy="6858000"/>
          </a:xfrm>
          <a:prstGeom prst="rect">
            <a:avLst/>
          </a:prstGeom>
          <a:solidFill>
            <a:srgbClr val="0F6E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548640"/>
            <a:ext cx="3108960" cy="914400"/>
          </a:xfrm>
          <a:prstGeom prst="rect">
            <a:avLst/>
          </a:prstGeom>
          <a:noFill/>
        </p:spPr>
        <p:txBody>
          <a:bodyPr wrap="square" anchor="t" lIns="45720" rIns="45720">
            <a:spAutoFit/>
          </a:bodyPr>
          <a:lstStyle/>
          <a:p>
            <a:pPr algn="l">
              <a:spcAft>
                <a:spcPts val="630"/>
              </a:spcAft>
            </a:pPr>
            <a:r>
              <a:rPr sz="1400" b="1">
                <a:solidFill>
                  <a:srgbClr val="FFFFFF"/>
                </a:solidFill>
                <a:latin typeface="Calibri"/>
              </a:rPr>
              <a:t>Applications and Use Cases of Machine Learning (TE7483)</a:t>
            </a:r>
          </a:p>
          <a:p>
            <a:pPr algn="l">
              <a:spcAft>
                <a:spcPts val="630"/>
              </a:spcAft>
            </a:pPr>
            <a:r>
              <a:rPr sz="1400" b="1">
                <a:solidFill>
                  <a:srgbClr val="FFFFFF"/>
                </a:solidFill>
                <a:latin typeface="Calibri"/>
              </a:rPr>
              <a:t>ESE Case Study Project</a:t>
            </a:r>
          </a:p>
        </p:txBody>
      </p:sp>
      <p:sp>
        <p:nvSpPr>
          <p:cNvPr id="4" name="TextBox 3"/>
          <p:cNvSpPr txBox="1"/>
          <p:nvPr/>
        </p:nvSpPr>
        <p:spPr>
          <a:xfrm>
            <a:off x="457200" y="4389120"/>
            <a:ext cx="3108960" cy="1828800"/>
          </a:xfrm>
          <a:prstGeom prst="rect">
            <a:avLst/>
          </a:prstGeom>
          <a:noFill/>
        </p:spPr>
        <p:txBody>
          <a:bodyPr wrap="square" anchor="t" lIns="45720" rIns="45720">
            <a:spAutoFit/>
          </a:bodyPr>
          <a:lstStyle/>
          <a:p>
            <a:pPr algn="l">
              <a:spcAft>
                <a:spcPts val="720"/>
              </a:spcAft>
            </a:pPr>
            <a:r>
              <a:rPr sz="1600" b="1">
                <a:solidFill>
                  <a:srgbClr val="FFFFFF"/>
                </a:solidFill>
                <a:latin typeface="Calibri"/>
              </a:rPr>
              <a:t>SDG 1: No Poverty</a:t>
            </a:r>
          </a:p>
          <a:p>
            <a:pPr algn="l">
              <a:spcAft>
                <a:spcPts val="720"/>
              </a:spcAft>
            </a:pPr>
            <a:r>
              <a:rPr sz="1600" b="1">
                <a:solidFill>
                  <a:srgbClr val="FFFFFF"/>
                </a:solidFill>
                <a:latin typeface="Calibri"/>
              </a:rPr>
              <a:t>SDG 10: Reduced Inequalities</a:t>
            </a:r>
          </a:p>
        </p:txBody>
      </p:sp>
      <p:sp>
        <p:nvSpPr>
          <p:cNvPr id="5" name="TextBox 4"/>
          <p:cNvSpPr txBox="1"/>
          <p:nvPr/>
        </p:nvSpPr>
        <p:spPr>
          <a:xfrm>
            <a:off x="4389120" y="914400"/>
            <a:ext cx="7406640" cy="2011680"/>
          </a:xfrm>
          <a:prstGeom prst="rect">
            <a:avLst/>
          </a:prstGeom>
          <a:noFill/>
        </p:spPr>
        <p:txBody>
          <a:bodyPr wrap="square" anchor="t" lIns="45720" rIns="45720">
            <a:spAutoFit/>
          </a:bodyPr>
          <a:lstStyle/>
          <a:p>
            <a:pPr algn="l">
              <a:spcAft>
                <a:spcPts val="1710"/>
              </a:spcAft>
            </a:pPr>
            <a:r>
              <a:rPr sz="3800" b="1">
                <a:solidFill>
                  <a:srgbClr val="1F2937"/>
                </a:solidFill>
                <a:latin typeface="Calibri"/>
              </a:rPr>
              <a:t>Predicting Household Escape from Poverty in India</a:t>
            </a:r>
          </a:p>
        </p:txBody>
      </p:sp>
      <p:sp>
        <p:nvSpPr>
          <p:cNvPr id="6" name="TextBox 5"/>
          <p:cNvSpPr txBox="1"/>
          <p:nvPr/>
        </p:nvSpPr>
        <p:spPr>
          <a:xfrm>
            <a:off x="4389120" y="2331720"/>
            <a:ext cx="7406640" cy="914400"/>
          </a:xfrm>
          <a:prstGeom prst="rect">
            <a:avLst/>
          </a:prstGeom>
          <a:noFill/>
        </p:spPr>
        <p:txBody>
          <a:bodyPr wrap="square" anchor="t" lIns="45720" rIns="45720">
            <a:spAutoFit/>
          </a:bodyPr>
          <a:lstStyle/>
          <a:p>
            <a:pPr algn="l">
              <a:spcAft>
                <a:spcPts val="810"/>
              </a:spcAft>
            </a:pPr>
            <a:r>
              <a:rPr sz="1800" b="0">
                <a:solidFill>
                  <a:srgbClr val="5B6470"/>
                </a:solidFill>
                <a:latin typeface="Calibri"/>
              </a:rPr>
              <a:t>A Machine Learning Analysis of Longitudinal Socio-Economic Factors (India Human Development Survey, 2004-05 and 2011-12)</a:t>
            </a:r>
          </a:p>
        </p:txBody>
      </p:sp>
      <p:sp>
        <p:nvSpPr>
          <p:cNvPr id="7" name="Rounded Rectangle 6"/>
          <p:cNvSpPr/>
          <p:nvPr/>
        </p:nvSpPr>
        <p:spPr>
          <a:xfrm>
            <a:off x="4389120" y="3429000"/>
            <a:ext cx="7315200" cy="2103120"/>
          </a:xfrm>
          <a:prstGeom prst="roundRect">
            <a:avLst>
              <a:gd name="adj" fmla="val 6000"/>
            </a:avLst>
          </a:prstGeom>
          <a:solidFill>
            <a:srgbClr val="FFFFFF"/>
          </a:solidFill>
          <a:ln>
            <a:solidFill>
              <a:srgbClr val="E3DE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17720" y="3566160"/>
            <a:ext cx="6949440" cy="1920240"/>
          </a:xfrm>
          <a:prstGeom prst="rect">
            <a:avLst/>
          </a:prstGeom>
          <a:noFill/>
        </p:spPr>
        <p:txBody>
          <a:bodyPr wrap="square" anchor="t" lIns="45720" rIns="45720">
            <a:spAutoFit/>
          </a:bodyPr>
          <a:lstStyle/>
          <a:p>
            <a:pPr algn="l">
              <a:spcAft>
                <a:spcPts val="400"/>
              </a:spcAft>
            </a:pPr>
            <a:r>
              <a:rPr sz="1600" b="1">
                <a:solidFill>
                  <a:srgbClr val="0F6E6A"/>
                </a:solidFill>
                <a:latin typeface="Calibri"/>
              </a:rPr>
              <a:t>Team members</a:t>
            </a:r>
          </a:p>
          <a:p>
            <a:pPr algn="l">
              <a:spcAft>
                <a:spcPts val="400"/>
              </a:spcAft>
            </a:pPr>
            <a:r>
              <a:rPr sz="1600" b="0">
                <a:solidFill>
                  <a:srgbClr val="1F2937"/>
                </a:solidFill>
                <a:latin typeface="Calibri"/>
              </a:rPr>
              <a:t>Anhad Mahajan (PRN 24070126031)</a:t>
            </a:r>
          </a:p>
          <a:p>
            <a:pPr algn="l">
              <a:spcAft>
                <a:spcPts val="400"/>
              </a:spcAft>
            </a:pPr>
            <a:r>
              <a:rPr sz="1600" b="0">
                <a:solidFill>
                  <a:srgbClr val="1F2937"/>
                </a:solidFill>
                <a:latin typeface="Calibri"/>
              </a:rPr>
              <a:t>Aman Sumeet Saxena (PRN 24070126030)</a:t>
            </a:r>
          </a:p>
          <a:p>
            <a:pPr algn="l">
              <a:spcAft>
                <a:spcPts val="400"/>
              </a:spcAft>
            </a:pPr>
            <a:r>
              <a:rPr sz="1600" b="0">
                <a:solidFill>
                  <a:srgbClr val="1F2937"/>
                </a:solidFill>
                <a:latin typeface="Calibri"/>
              </a:rPr>
              <a:t>Eshaan Sumesh (PRN 24070126058)</a:t>
            </a:r>
          </a:p>
          <a:p>
            <a:pPr algn="l">
              <a:spcAft>
                <a:spcPts val="400"/>
              </a:spcAft>
            </a:pPr>
            <a:r>
              <a:rPr sz="1600" b="0">
                <a:solidFill>
                  <a:srgbClr val="1F2937"/>
                </a:solidFill>
                <a:latin typeface="Calibri"/>
              </a:rPr>
              <a:t>Gokul Sethumadhavan (PRN 24070126061)</a:t>
            </a:r>
          </a:p>
        </p:txBody>
      </p:sp>
      <p:sp>
        <p:nvSpPr>
          <p:cNvPr id="9" name="TextBox 8"/>
          <p:cNvSpPr txBox="1"/>
          <p:nvPr/>
        </p:nvSpPr>
        <p:spPr>
          <a:xfrm>
            <a:off x="4389120" y="5669280"/>
            <a:ext cx="7315200" cy="914400"/>
          </a:xfrm>
          <a:prstGeom prst="rect">
            <a:avLst/>
          </a:prstGeom>
          <a:noFill/>
        </p:spPr>
        <p:txBody>
          <a:bodyPr wrap="square" anchor="t" lIns="45720" rIns="45720">
            <a:spAutoFit/>
          </a:bodyPr>
          <a:lstStyle/>
          <a:p>
            <a:pPr algn="l">
              <a:spcAft>
                <a:spcPts val="140"/>
              </a:spcAft>
            </a:pPr>
            <a:r>
              <a:rPr sz="1400" b="0">
                <a:solidFill>
                  <a:srgbClr val="5B6470"/>
                </a:solidFill>
                <a:latin typeface="Calibri"/>
              </a:rPr>
              <a:t>Guide: Dr. Shrikrishna Kolhar</a:t>
            </a:r>
          </a:p>
          <a:p>
            <a:pPr algn="l">
              <a:spcAft>
                <a:spcPts val="140"/>
              </a:spcAft>
            </a:pPr>
            <a:r>
              <a:rPr sz="1400" b="0">
                <a:solidFill>
                  <a:srgbClr val="5B6470"/>
                </a:solidFill>
                <a:latin typeface="Calibri"/>
              </a:rPr>
              <a:t>AIML-A, B.Tech 2024-28, academic year 2026-27</a:t>
            </a:r>
          </a:p>
          <a:p>
            <a:pPr algn="l">
              <a:spcAft>
                <a:spcPts val="140"/>
              </a:spcAft>
            </a:pPr>
            <a:r>
              <a:rPr sz="1400" b="0">
                <a:solidFill>
                  <a:srgbClr val="5B6470"/>
                </a:solidFill>
                <a:latin typeface="Calibri"/>
              </a:rPr>
              <a:t>Symbiosis Institute of Technology, Pune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7F0"/>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F6E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94360"/>
            <a:ext cx="11155680" cy="731520"/>
          </a:xfrm>
          <a:prstGeom prst="rect">
            <a:avLst/>
          </a:prstGeom>
          <a:noFill/>
        </p:spPr>
        <p:txBody>
          <a:bodyPr wrap="square" anchor="t" lIns="45720" rIns="45720">
            <a:spAutoFit/>
          </a:bodyPr>
          <a:lstStyle/>
          <a:p>
            <a:pPr algn="l">
              <a:spcAft>
                <a:spcPts val="1170"/>
              </a:spcAft>
            </a:pPr>
            <a:r>
              <a:rPr sz="2600" b="1">
                <a:solidFill>
                  <a:srgbClr val="1F2937"/>
                </a:solidFill>
                <a:latin typeface="Calibri"/>
              </a:rPr>
              <a:t>Contents</a:t>
            </a:r>
          </a:p>
        </p:txBody>
      </p:sp>
      <p:sp>
        <p:nvSpPr>
          <p:cNvPr id="4" name="TextBox 3"/>
          <p:cNvSpPr txBox="1"/>
          <p:nvPr/>
        </p:nvSpPr>
        <p:spPr>
          <a:xfrm>
            <a:off x="11247120" y="6400800"/>
            <a:ext cx="731520" cy="320040"/>
          </a:xfrm>
          <a:prstGeom prst="rect">
            <a:avLst/>
          </a:prstGeom>
          <a:noFill/>
        </p:spPr>
        <p:txBody>
          <a:bodyPr wrap="square" anchor="t" lIns="45720" rIns="45720">
            <a:spAutoFit/>
          </a:bodyPr>
          <a:lstStyle/>
          <a:p>
            <a:pPr algn="r">
              <a:spcAft>
                <a:spcPts val="495"/>
              </a:spcAft>
            </a:pPr>
            <a:r>
              <a:rPr sz="1100" b="0">
                <a:solidFill>
                  <a:srgbClr val="5B6470"/>
                </a:solidFill>
                <a:latin typeface="Calibri"/>
              </a:rPr>
              <a:t>2</a:t>
            </a:r>
          </a:p>
        </p:txBody>
      </p:sp>
      <p:sp>
        <p:nvSpPr>
          <p:cNvPr id="5" name="Rounded Rectangle 4"/>
          <p:cNvSpPr/>
          <p:nvPr/>
        </p:nvSpPr>
        <p:spPr>
          <a:xfrm>
            <a:off x="548640" y="1508760"/>
            <a:ext cx="5440680" cy="1005840"/>
          </a:xfrm>
          <a:prstGeom prst="roundRect">
            <a:avLst>
              <a:gd name="adj" fmla="val 6000"/>
            </a:avLst>
          </a:prstGeom>
          <a:solidFill>
            <a:srgbClr val="FFFFFF"/>
          </a:solidFill>
          <a:ln>
            <a:solidFill>
              <a:srgbClr val="E3DE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508760"/>
            <a:ext cx="731520" cy="1005840"/>
          </a:xfrm>
          <a:prstGeom prst="rect">
            <a:avLst/>
          </a:prstGeom>
          <a:noFill/>
        </p:spPr>
        <p:txBody>
          <a:bodyPr wrap="square" anchor="ctr" lIns="45720" rIns="45720">
            <a:spAutoFit/>
          </a:bodyPr>
          <a:lstStyle/>
          <a:p>
            <a:pPr algn="l">
              <a:spcAft>
                <a:spcPts val="1350"/>
              </a:spcAft>
            </a:pPr>
            <a:r>
              <a:rPr sz="3000" b="1">
                <a:solidFill>
                  <a:srgbClr val="0F6E6A"/>
                </a:solidFill>
                <a:latin typeface="Calibri"/>
              </a:rPr>
              <a:t>1</a:t>
            </a:r>
          </a:p>
        </p:txBody>
      </p:sp>
      <p:sp>
        <p:nvSpPr>
          <p:cNvPr id="7" name="TextBox 6"/>
          <p:cNvSpPr txBox="1"/>
          <p:nvPr/>
        </p:nvSpPr>
        <p:spPr>
          <a:xfrm>
            <a:off x="1463040" y="1645920"/>
            <a:ext cx="4389120" cy="457200"/>
          </a:xfrm>
          <a:prstGeom prst="rect">
            <a:avLst/>
          </a:prstGeom>
          <a:noFill/>
        </p:spPr>
        <p:txBody>
          <a:bodyPr wrap="square" anchor="t" lIns="45720" rIns="45720">
            <a:spAutoFit/>
          </a:bodyPr>
          <a:lstStyle/>
          <a:p>
            <a:pPr algn="l">
              <a:spcAft>
                <a:spcPts val="855"/>
              </a:spcAft>
            </a:pPr>
            <a:r>
              <a:rPr sz="1900" b="1">
                <a:solidFill>
                  <a:srgbClr val="1F2937"/>
                </a:solidFill>
                <a:latin typeface="Calibri"/>
              </a:rPr>
              <a:t>Problem and Use Case</a:t>
            </a:r>
          </a:p>
        </p:txBody>
      </p:sp>
      <p:sp>
        <p:nvSpPr>
          <p:cNvPr id="8" name="TextBox 7"/>
          <p:cNvSpPr txBox="1"/>
          <p:nvPr/>
        </p:nvSpPr>
        <p:spPr>
          <a:xfrm>
            <a:off x="1463040" y="2039112"/>
            <a:ext cx="4389120" cy="365760"/>
          </a:xfrm>
          <a:prstGeom prst="rect">
            <a:avLst/>
          </a:prstGeom>
          <a:noFill/>
        </p:spPr>
        <p:txBody>
          <a:bodyPr wrap="square" anchor="t" lIns="45720" rIns="45720">
            <a:spAutoFit/>
          </a:bodyPr>
          <a:lstStyle/>
          <a:p>
            <a:pPr algn="l">
              <a:spcAft>
                <a:spcPts val="585"/>
              </a:spcAft>
            </a:pPr>
            <a:r>
              <a:rPr sz="1300" b="0">
                <a:solidFill>
                  <a:srgbClr val="5B6470"/>
                </a:solidFill>
                <a:latin typeface="Calibri"/>
              </a:rPr>
              <a:t>Presented by Anhad</a:t>
            </a:r>
          </a:p>
        </p:txBody>
      </p:sp>
      <p:sp>
        <p:nvSpPr>
          <p:cNvPr id="9" name="Rounded Rectangle 8"/>
          <p:cNvSpPr/>
          <p:nvPr/>
        </p:nvSpPr>
        <p:spPr>
          <a:xfrm>
            <a:off x="548640" y="2679192"/>
            <a:ext cx="5440680" cy="1005840"/>
          </a:xfrm>
          <a:prstGeom prst="roundRect">
            <a:avLst>
              <a:gd name="adj" fmla="val 6000"/>
            </a:avLst>
          </a:prstGeom>
          <a:solidFill>
            <a:srgbClr val="FFFFFF"/>
          </a:solidFill>
          <a:ln>
            <a:solidFill>
              <a:srgbClr val="E3DE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679192"/>
            <a:ext cx="731520" cy="1005840"/>
          </a:xfrm>
          <a:prstGeom prst="rect">
            <a:avLst/>
          </a:prstGeom>
          <a:noFill/>
        </p:spPr>
        <p:txBody>
          <a:bodyPr wrap="square" anchor="ctr" lIns="45720" rIns="45720">
            <a:spAutoFit/>
          </a:bodyPr>
          <a:lstStyle/>
          <a:p>
            <a:pPr algn="l">
              <a:spcAft>
                <a:spcPts val="1350"/>
              </a:spcAft>
            </a:pPr>
            <a:r>
              <a:rPr sz="3000" b="1">
                <a:solidFill>
                  <a:srgbClr val="0F6E6A"/>
                </a:solidFill>
                <a:latin typeface="Calibri"/>
              </a:rPr>
              <a:t>2</a:t>
            </a:r>
          </a:p>
        </p:txBody>
      </p:sp>
      <p:sp>
        <p:nvSpPr>
          <p:cNvPr id="11" name="TextBox 10"/>
          <p:cNvSpPr txBox="1"/>
          <p:nvPr/>
        </p:nvSpPr>
        <p:spPr>
          <a:xfrm>
            <a:off x="1463040" y="2816352"/>
            <a:ext cx="4389120" cy="457200"/>
          </a:xfrm>
          <a:prstGeom prst="rect">
            <a:avLst/>
          </a:prstGeom>
          <a:noFill/>
        </p:spPr>
        <p:txBody>
          <a:bodyPr wrap="square" anchor="t" lIns="45720" rIns="45720">
            <a:spAutoFit/>
          </a:bodyPr>
          <a:lstStyle/>
          <a:p>
            <a:pPr algn="l">
              <a:spcAft>
                <a:spcPts val="855"/>
              </a:spcAft>
            </a:pPr>
            <a:r>
              <a:rPr sz="1900" b="1">
                <a:solidFill>
                  <a:srgbClr val="1F2937"/>
                </a:solidFill>
                <a:latin typeface="Calibri"/>
              </a:rPr>
              <a:t>Literature Review</a:t>
            </a:r>
          </a:p>
        </p:txBody>
      </p:sp>
      <p:sp>
        <p:nvSpPr>
          <p:cNvPr id="12" name="TextBox 11"/>
          <p:cNvSpPr txBox="1"/>
          <p:nvPr/>
        </p:nvSpPr>
        <p:spPr>
          <a:xfrm>
            <a:off x="1463040" y="3209544"/>
            <a:ext cx="4389120" cy="365760"/>
          </a:xfrm>
          <a:prstGeom prst="rect">
            <a:avLst/>
          </a:prstGeom>
          <a:noFill/>
        </p:spPr>
        <p:txBody>
          <a:bodyPr wrap="square" anchor="t" lIns="45720" rIns="45720">
            <a:spAutoFit/>
          </a:bodyPr>
          <a:lstStyle/>
          <a:p>
            <a:pPr algn="l">
              <a:spcAft>
                <a:spcPts val="585"/>
              </a:spcAft>
            </a:pPr>
            <a:r>
              <a:rPr sz="1300" b="0">
                <a:solidFill>
                  <a:srgbClr val="5B6470"/>
                </a:solidFill>
                <a:latin typeface="Calibri"/>
              </a:rPr>
              <a:t>Presented by Anhad</a:t>
            </a:r>
          </a:p>
        </p:txBody>
      </p:sp>
      <p:sp>
        <p:nvSpPr>
          <p:cNvPr id="13" name="Rounded Rectangle 12"/>
          <p:cNvSpPr/>
          <p:nvPr/>
        </p:nvSpPr>
        <p:spPr>
          <a:xfrm>
            <a:off x="548640" y="3849624"/>
            <a:ext cx="5440680" cy="1005840"/>
          </a:xfrm>
          <a:prstGeom prst="roundRect">
            <a:avLst>
              <a:gd name="adj" fmla="val 6000"/>
            </a:avLst>
          </a:prstGeom>
          <a:solidFill>
            <a:srgbClr val="FFFFFF"/>
          </a:solidFill>
          <a:ln>
            <a:solidFill>
              <a:srgbClr val="E3DE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849624"/>
            <a:ext cx="731520" cy="1005840"/>
          </a:xfrm>
          <a:prstGeom prst="rect">
            <a:avLst/>
          </a:prstGeom>
          <a:noFill/>
        </p:spPr>
        <p:txBody>
          <a:bodyPr wrap="square" anchor="ctr" lIns="45720" rIns="45720">
            <a:spAutoFit/>
          </a:bodyPr>
          <a:lstStyle/>
          <a:p>
            <a:pPr algn="l">
              <a:spcAft>
                <a:spcPts val="1350"/>
              </a:spcAft>
            </a:pPr>
            <a:r>
              <a:rPr sz="3000" b="1">
                <a:solidFill>
                  <a:srgbClr val="0F6E6A"/>
                </a:solidFill>
                <a:latin typeface="Calibri"/>
              </a:rPr>
              <a:t>3</a:t>
            </a:r>
          </a:p>
        </p:txBody>
      </p:sp>
      <p:sp>
        <p:nvSpPr>
          <p:cNvPr id="15" name="TextBox 14"/>
          <p:cNvSpPr txBox="1"/>
          <p:nvPr/>
        </p:nvSpPr>
        <p:spPr>
          <a:xfrm>
            <a:off x="1463040" y="3986784"/>
            <a:ext cx="4389120" cy="457200"/>
          </a:xfrm>
          <a:prstGeom prst="rect">
            <a:avLst/>
          </a:prstGeom>
          <a:noFill/>
        </p:spPr>
        <p:txBody>
          <a:bodyPr wrap="square" anchor="t" lIns="45720" rIns="45720">
            <a:spAutoFit/>
          </a:bodyPr>
          <a:lstStyle/>
          <a:p>
            <a:pPr algn="l">
              <a:spcAft>
                <a:spcPts val="855"/>
              </a:spcAft>
            </a:pPr>
            <a:r>
              <a:rPr sz="1900" b="1">
                <a:solidFill>
                  <a:srgbClr val="1F2937"/>
                </a:solidFill>
                <a:latin typeface="Calibri"/>
              </a:rPr>
              <a:t>Dataset and Preprocessing</a:t>
            </a:r>
          </a:p>
        </p:txBody>
      </p:sp>
      <p:sp>
        <p:nvSpPr>
          <p:cNvPr id="16" name="TextBox 15"/>
          <p:cNvSpPr txBox="1"/>
          <p:nvPr/>
        </p:nvSpPr>
        <p:spPr>
          <a:xfrm>
            <a:off x="1463040" y="4379976"/>
            <a:ext cx="4389120" cy="365760"/>
          </a:xfrm>
          <a:prstGeom prst="rect">
            <a:avLst/>
          </a:prstGeom>
          <a:noFill/>
        </p:spPr>
        <p:txBody>
          <a:bodyPr wrap="square" anchor="t" lIns="45720" rIns="45720">
            <a:spAutoFit/>
          </a:bodyPr>
          <a:lstStyle/>
          <a:p>
            <a:pPr algn="l">
              <a:spcAft>
                <a:spcPts val="585"/>
              </a:spcAft>
            </a:pPr>
            <a:r>
              <a:rPr sz="1300" b="0">
                <a:solidFill>
                  <a:srgbClr val="5B6470"/>
                </a:solidFill>
                <a:latin typeface="Calibri"/>
              </a:rPr>
              <a:t>Presented by Aman</a:t>
            </a:r>
          </a:p>
        </p:txBody>
      </p:sp>
      <p:sp>
        <p:nvSpPr>
          <p:cNvPr id="17" name="Rounded Rectangle 16"/>
          <p:cNvSpPr/>
          <p:nvPr/>
        </p:nvSpPr>
        <p:spPr>
          <a:xfrm>
            <a:off x="548640" y="5020056"/>
            <a:ext cx="5440680" cy="1005840"/>
          </a:xfrm>
          <a:prstGeom prst="roundRect">
            <a:avLst>
              <a:gd name="adj" fmla="val 6000"/>
            </a:avLst>
          </a:prstGeom>
          <a:solidFill>
            <a:srgbClr val="FFFFFF"/>
          </a:solidFill>
          <a:ln>
            <a:solidFill>
              <a:srgbClr val="E3DE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5020056"/>
            <a:ext cx="731520" cy="1005840"/>
          </a:xfrm>
          <a:prstGeom prst="rect">
            <a:avLst/>
          </a:prstGeom>
          <a:noFill/>
        </p:spPr>
        <p:txBody>
          <a:bodyPr wrap="square" anchor="ctr" lIns="45720" rIns="45720">
            <a:spAutoFit/>
          </a:bodyPr>
          <a:lstStyle/>
          <a:p>
            <a:pPr algn="l">
              <a:spcAft>
                <a:spcPts val="1350"/>
              </a:spcAft>
            </a:pPr>
            <a:r>
              <a:rPr sz="3000" b="1">
                <a:solidFill>
                  <a:srgbClr val="0F6E6A"/>
                </a:solidFill>
                <a:latin typeface="Calibri"/>
              </a:rPr>
              <a:t>4</a:t>
            </a:r>
          </a:p>
        </p:txBody>
      </p:sp>
      <p:sp>
        <p:nvSpPr>
          <p:cNvPr id="19" name="TextBox 18"/>
          <p:cNvSpPr txBox="1"/>
          <p:nvPr/>
        </p:nvSpPr>
        <p:spPr>
          <a:xfrm>
            <a:off x="1463040" y="5157216"/>
            <a:ext cx="4389120" cy="457200"/>
          </a:xfrm>
          <a:prstGeom prst="rect">
            <a:avLst/>
          </a:prstGeom>
          <a:noFill/>
        </p:spPr>
        <p:txBody>
          <a:bodyPr wrap="square" anchor="t" lIns="45720" rIns="45720">
            <a:spAutoFit/>
          </a:bodyPr>
          <a:lstStyle/>
          <a:p>
            <a:pPr algn="l">
              <a:spcAft>
                <a:spcPts val="855"/>
              </a:spcAft>
            </a:pPr>
            <a:r>
              <a:rPr sz="1900" b="1">
                <a:solidFill>
                  <a:srgbClr val="1F2937"/>
                </a:solidFill>
                <a:latin typeface="Calibri"/>
              </a:rPr>
              <a:t>Methodology and ML Pipeline</a:t>
            </a:r>
          </a:p>
        </p:txBody>
      </p:sp>
      <p:sp>
        <p:nvSpPr>
          <p:cNvPr id="20" name="TextBox 19"/>
          <p:cNvSpPr txBox="1"/>
          <p:nvPr/>
        </p:nvSpPr>
        <p:spPr>
          <a:xfrm>
            <a:off x="1463040" y="5550408"/>
            <a:ext cx="4389120" cy="365760"/>
          </a:xfrm>
          <a:prstGeom prst="rect">
            <a:avLst/>
          </a:prstGeom>
          <a:noFill/>
        </p:spPr>
        <p:txBody>
          <a:bodyPr wrap="square" anchor="t" lIns="45720" rIns="45720">
            <a:spAutoFit/>
          </a:bodyPr>
          <a:lstStyle/>
          <a:p>
            <a:pPr algn="l">
              <a:spcAft>
                <a:spcPts val="585"/>
              </a:spcAft>
            </a:pPr>
            <a:r>
              <a:rPr sz="1300" b="0">
                <a:solidFill>
                  <a:srgbClr val="5B6470"/>
                </a:solidFill>
                <a:latin typeface="Calibri"/>
              </a:rPr>
              <a:t>Presented by Eshaan</a:t>
            </a:r>
          </a:p>
        </p:txBody>
      </p:sp>
      <p:sp>
        <p:nvSpPr>
          <p:cNvPr id="21" name="Rounded Rectangle 20"/>
          <p:cNvSpPr/>
          <p:nvPr/>
        </p:nvSpPr>
        <p:spPr>
          <a:xfrm>
            <a:off x="6217920" y="1508760"/>
            <a:ext cx="5440680" cy="1005840"/>
          </a:xfrm>
          <a:prstGeom prst="roundRect">
            <a:avLst>
              <a:gd name="adj" fmla="val 6000"/>
            </a:avLst>
          </a:prstGeom>
          <a:solidFill>
            <a:srgbClr val="FFFFFF"/>
          </a:solidFill>
          <a:ln>
            <a:solidFill>
              <a:srgbClr val="E3DE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0" y="1508760"/>
            <a:ext cx="731520" cy="1005840"/>
          </a:xfrm>
          <a:prstGeom prst="rect">
            <a:avLst/>
          </a:prstGeom>
          <a:noFill/>
        </p:spPr>
        <p:txBody>
          <a:bodyPr wrap="square" anchor="ctr" lIns="45720" rIns="45720">
            <a:spAutoFit/>
          </a:bodyPr>
          <a:lstStyle/>
          <a:p>
            <a:pPr algn="l">
              <a:spcAft>
                <a:spcPts val="1350"/>
              </a:spcAft>
            </a:pPr>
            <a:r>
              <a:rPr sz="3000" b="1">
                <a:solidFill>
                  <a:srgbClr val="0F6E6A"/>
                </a:solidFill>
                <a:latin typeface="Calibri"/>
              </a:rPr>
              <a:t>5</a:t>
            </a:r>
          </a:p>
        </p:txBody>
      </p:sp>
      <p:sp>
        <p:nvSpPr>
          <p:cNvPr id="23" name="TextBox 22"/>
          <p:cNvSpPr txBox="1"/>
          <p:nvPr/>
        </p:nvSpPr>
        <p:spPr>
          <a:xfrm>
            <a:off x="7132320" y="1645920"/>
            <a:ext cx="4389120" cy="457200"/>
          </a:xfrm>
          <a:prstGeom prst="rect">
            <a:avLst/>
          </a:prstGeom>
          <a:noFill/>
        </p:spPr>
        <p:txBody>
          <a:bodyPr wrap="square" anchor="t" lIns="45720" rIns="45720">
            <a:spAutoFit/>
          </a:bodyPr>
          <a:lstStyle/>
          <a:p>
            <a:pPr algn="l">
              <a:spcAft>
                <a:spcPts val="855"/>
              </a:spcAft>
            </a:pPr>
            <a:r>
              <a:rPr sz="1900" b="1">
                <a:solidFill>
                  <a:srgbClr val="1F2937"/>
                </a:solidFill>
                <a:latin typeface="Calibri"/>
              </a:rPr>
              <a:t>Implementation</a:t>
            </a:r>
          </a:p>
        </p:txBody>
      </p:sp>
      <p:sp>
        <p:nvSpPr>
          <p:cNvPr id="24" name="TextBox 23"/>
          <p:cNvSpPr txBox="1"/>
          <p:nvPr/>
        </p:nvSpPr>
        <p:spPr>
          <a:xfrm>
            <a:off x="7132320" y="2039112"/>
            <a:ext cx="4389120" cy="365760"/>
          </a:xfrm>
          <a:prstGeom prst="rect">
            <a:avLst/>
          </a:prstGeom>
          <a:noFill/>
        </p:spPr>
        <p:txBody>
          <a:bodyPr wrap="square" anchor="t" lIns="45720" rIns="45720">
            <a:spAutoFit/>
          </a:bodyPr>
          <a:lstStyle/>
          <a:p>
            <a:pPr algn="l">
              <a:spcAft>
                <a:spcPts val="585"/>
              </a:spcAft>
            </a:pPr>
            <a:r>
              <a:rPr sz="1300" b="0">
                <a:solidFill>
                  <a:srgbClr val="5B6470"/>
                </a:solidFill>
                <a:latin typeface="Calibri"/>
              </a:rPr>
              <a:t>Presented by Aman</a:t>
            </a:r>
          </a:p>
        </p:txBody>
      </p:sp>
      <p:sp>
        <p:nvSpPr>
          <p:cNvPr id="25" name="Rounded Rectangle 24"/>
          <p:cNvSpPr/>
          <p:nvPr/>
        </p:nvSpPr>
        <p:spPr>
          <a:xfrm>
            <a:off x="6217920" y="2679192"/>
            <a:ext cx="5440680" cy="1005840"/>
          </a:xfrm>
          <a:prstGeom prst="roundRect">
            <a:avLst>
              <a:gd name="adj" fmla="val 6000"/>
            </a:avLst>
          </a:prstGeom>
          <a:solidFill>
            <a:srgbClr val="FFFFFF"/>
          </a:solidFill>
          <a:ln>
            <a:solidFill>
              <a:srgbClr val="E3DE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00800" y="2679192"/>
            <a:ext cx="731520" cy="1005840"/>
          </a:xfrm>
          <a:prstGeom prst="rect">
            <a:avLst/>
          </a:prstGeom>
          <a:noFill/>
        </p:spPr>
        <p:txBody>
          <a:bodyPr wrap="square" anchor="ctr" lIns="45720" rIns="45720">
            <a:spAutoFit/>
          </a:bodyPr>
          <a:lstStyle/>
          <a:p>
            <a:pPr algn="l">
              <a:spcAft>
                <a:spcPts val="1350"/>
              </a:spcAft>
            </a:pPr>
            <a:r>
              <a:rPr sz="3000" b="1">
                <a:solidFill>
                  <a:srgbClr val="0F6E6A"/>
                </a:solidFill>
                <a:latin typeface="Calibri"/>
              </a:rPr>
              <a:t>6</a:t>
            </a:r>
          </a:p>
        </p:txBody>
      </p:sp>
      <p:sp>
        <p:nvSpPr>
          <p:cNvPr id="27" name="TextBox 26"/>
          <p:cNvSpPr txBox="1"/>
          <p:nvPr/>
        </p:nvSpPr>
        <p:spPr>
          <a:xfrm>
            <a:off x="7132320" y="2816352"/>
            <a:ext cx="4389120" cy="457200"/>
          </a:xfrm>
          <a:prstGeom prst="rect">
            <a:avLst/>
          </a:prstGeom>
          <a:noFill/>
        </p:spPr>
        <p:txBody>
          <a:bodyPr wrap="square" anchor="t" lIns="45720" rIns="45720">
            <a:spAutoFit/>
          </a:bodyPr>
          <a:lstStyle/>
          <a:p>
            <a:pPr algn="l">
              <a:spcAft>
                <a:spcPts val="855"/>
              </a:spcAft>
            </a:pPr>
            <a:r>
              <a:rPr sz="1900" b="1">
                <a:solidFill>
                  <a:srgbClr val="1F2937"/>
                </a:solidFill>
                <a:latin typeface="Calibri"/>
              </a:rPr>
              <a:t>Results and Evaluation</a:t>
            </a:r>
          </a:p>
        </p:txBody>
      </p:sp>
      <p:sp>
        <p:nvSpPr>
          <p:cNvPr id="28" name="TextBox 27"/>
          <p:cNvSpPr txBox="1"/>
          <p:nvPr/>
        </p:nvSpPr>
        <p:spPr>
          <a:xfrm>
            <a:off x="7132320" y="3209544"/>
            <a:ext cx="4389120" cy="365760"/>
          </a:xfrm>
          <a:prstGeom prst="rect">
            <a:avLst/>
          </a:prstGeom>
          <a:noFill/>
        </p:spPr>
        <p:txBody>
          <a:bodyPr wrap="square" anchor="t" lIns="45720" rIns="45720">
            <a:spAutoFit/>
          </a:bodyPr>
          <a:lstStyle/>
          <a:p>
            <a:pPr algn="l">
              <a:spcAft>
                <a:spcPts val="585"/>
              </a:spcAft>
            </a:pPr>
            <a:r>
              <a:rPr sz="1300" b="0">
                <a:solidFill>
                  <a:srgbClr val="5B6470"/>
                </a:solidFill>
                <a:latin typeface="Calibri"/>
              </a:rPr>
              <a:t>Presented by Gokul</a:t>
            </a:r>
          </a:p>
        </p:txBody>
      </p:sp>
      <p:sp>
        <p:nvSpPr>
          <p:cNvPr id="29" name="Rounded Rectangle 28"/>
          <p:cNvSpPr/>
          <p:nvPr/>
        </p:nvSpPr>
        <p:spPr>
          <a:xfrm>
            <a:off x="6217920" y="3849624"/>
            <a:ext cx="5440680" cy="1005840"/>
          </a:xfrm>
          <a:prstGeom prst="roundRect">
            <a:avLst>
              <a:gd name="adj" fmla="val 6000"/>
            </a:avLst>
          </a:prstGeom>
          <a:solidFill>
            <a:srgbClr val="FFFFFF"/>
          </a:solidFill>
          <a:ln>
            <a:solidFill>
              <a:srgbClr val="E3DE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00800" y="3849624"/>
            <a:ext cx="731520" cy="1005840"/>
          </a:xfrm>
          <a:prstGeom prst="rect">
            <a:avLst/>
          </a:prstGeom>
          <a:noFill/>
        </p:spPr>
        <p:txBody>
          <a:bodyPr wrap="square" anchor="ctr" lIns="45720" rIns="45720">
            <a:spAutoFit/>
          </a:bodyPr>
          <a:lstStyle/>
          <a:p>
            <a:pPr algn="l">
              <a:spcAft>
                <a:spcPts val="1350"/>
              </a:spcAft>
            </a:pPr>
            <a:r>
              <a:rPr sz="3000" b="1">
                <a:solidFill>
                  <a:srgbClr val="0F6E6A"/>
                </a:solidFill>
                <a:latin typeface="Calibri"/>
              </a:rPr>
              <a:t>7</a:t>
            </a:r>
          </a:p>
        </p:txBody>
      </p:sp>
      <p:sp>
        <p:nvSpPr>
          <p:cNvPr id="31" name="TextBox 30"/>
          <p:cNvSpPr txBox="1"/>
          <p:nvPr/>
        </p:nvSpPr>
        <p:spPr>
          <a:xfrm>
            <a:off x="7132320" y="3986784"/>
            <a:ext cx="4389120" cy="457200"/>
          </a:xfrm>
          <a:prstGeom prst="rect">
            <a:avLst/>
          </a:prstGeom>
          <a:noFill/>
        </p:spPr>
        <p:txBody>
          <a:bodyPr wrap="square" anchor="t" lIns="45720" rIns="45720">
            <a:spAutoFit/>
          </a:bodyPr>
          <a:lstStyle/>
          <a:p>
            <a:pPr algn="l">
              <a:spcAft>
                <a:spcPts val="855"/>
              </a:spcAft>
            </a:pPr>
            <a:r>
              <a:rPr sz="1900" b="1">
                <a:solidFill>
                  <a:srgbClr val="1F2937"/>
                </a:solidFill>
                <a:latin typeface="Calibri"/>
              </a:rPr>
              <a:t>Interpretation of the Model</a:t>
            </a:r>
          </a:p>
        </p:txBody>
      </p:sp>
      <p:sp>
        <p:nvSpPr>
          <p:cNvPr id="32" name="TextBox 31"/>
          <p:cNvSpPr txBox="1"/>
          <p:nvPr/>
        </p:nvSpPr>
        <p:spPr>
          <a:xfrm>
            <a:off x="7132320" y="4379976"/>
            <a:ext cx="4389120" cy="365760"/>
          </a:xfrm>
          <a:prstGeom prst="rect">
            <a:avLst/>
          </a:prstGeom>
          <a:noFill/>
        </p:spPr>
        <p:txBody>
          <a:bodyPr wrap="square" anchor="t" lIns="45720" rIns="45720">
            <a:spAutoFit/>
          </a:bodyPr>
          <a:lstStyle/>
          <a:p>
            <a:pPr algn="l">
              <a:spcAft>
                <a:spcPts val="585"/>
              </a:spcAft>
            </a:pPr>
            <a:r>
              <a:rPr sz="1300" b="0">
                <a:solidFill>
                  <a:srgbClr val="5B6470"/>
                </a:solidFill>
                <a:latin typeface="Calibri"/>
              </a:rPr>
              <a:t>Presented by Eshaan</a:t>
            </a:r>
          </a:p>
        </p:txBody>
      </p:sp>
      <p:sp>
        <p:nvSpPr>
          <p:cNvPr id="33" name="Rounded Rectangle 32"/>
          <p:cNvSpPr/>
          <p:nvPr/>
        </p:nvSpPr>
        <p:spPr>
          <a:xfrm>
            <a:off x="6217920" y="5020056"/>
            <a:ext cx="5440680" cy="1005840"/>
          </a:xfrm>
          <a:prstGeom prst="roundRect">
            <a:avLst>
              <a:gd name="adj" fmla="val 6000"/>
            </a:avLst>
          </a:prstGeom>
          <a:solidFill>
            <a:srgbClr val="FFFFFF"/>
          </a:solidFill>
          <a:ln>
            <a:solidFill>
              <a:srgbClr val="E3DE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00800" y="5020056"/>
            <a:ext cx="731520" cy="1005840"/>
          </a:xfrm>
          <a:prstGeom prst="rect">
            <a:avLst/>
          </a:prstGeom>
          <a:noFill/>
        </p:spPr>
        <p:txBody>
          <a:bodyPr wrap="square" anchor="ctr" lIns="45720" rIns="45720">
            <a:spAutoFit/>
          </a:bodyPr>
          <a:lstStyle/>
          <a:p>
            <a:pPr algn="l">
              <a:spcAft>
                <a:spcPts val="1350"/>
              </a:spcAft>
            </a:pPr>
            <a:r>
              <a:rPr sz="3000" b="1">
                <a:solidFill>
                  <a:srgbClr val="0F6E6A"/>
                </a:solidFill>
                <a:latin typeface="Calibri"/>
              </a:rPr>
              <a:t>8</a:t>
            </a:r>
          </a:p>
        </p:txBody>
      </p:sp>
      <p:sp>
        <p:nvSpPr>
          <p:cNvPr id="35" name="TextBox 34"/>
          <p:cNvSpPr txBox="1"/>
          <p:nvPr/>
        </p:nvSpPr>
        <p:spPr>
          <a:xfrm>
            <a:off x="7132320" y="5157216"/>
            <a:ext cx="4389120" cy="457200"/>
          </a:xfrm>
          <a:prstGeom prst="rect">
            <a:avLst/>
          </a:prstGeom>
          <a:noFill/>
        </p:spPr>
        <p:txBody>
          <a:bodyPr wrap="square" anchor="t" lIns="45720" rIns="45720">
            <a:spAutoFit/>
          </a:bodyPr>
          <a:lstStyle/>
          <a:p>
            <a:pPr algn="l">
              <a:spcAft>
                <a:spcPts val="855"/>
              </a:spcAft>
            </a:pPr>
            <a:r>
              <a:rPr sz="1900" b="1">
                <a:solidFill>
                  <a:srgbClr val="1F2937"/>
                </a:solidFill>
                <a:latin typeface="Calibri"/>
              </a:rPr>
              <a:t>Conclusion</a:t>
            </a:r>
          </a:p>
        </p:txBody>
      </p:sp>
      <p:sp>
        <p:nvSpPr>
          <p:cNvPr id="36" name="TextBox 35"/>
          <p:cNvSpPr txBox="1"/>
          <p:nvPr/>
        </p:nvSpPr>
        <p:spPr>
          <a:xfrm>
            <a:off x="7132320" y="5550408"/>
            <a:ext cx="4389120" cy="365760"/>
          </a:xfrm>
          <a:prstGeom prst="rect">
            <a:avLst/>
          </a:prstGeom>
          <a:noFill/>
        </p:spPr>
        <p:txBody>
          <a:bodyPr wrap="square" anchor="t" lIns="45720" rIns="45720">
            <a:spAutoFit/>
          </a:bodyPr>
          <a:lstStyle/>
          <a:p>
            <a:pPr algn="l">
              <a:spcAft>
                <a:spcPts val="585"/>
              </a:spcAft>
            </a:pPr>
            <a:r>
              <a:rPr sz="1300" b="0">
                <a:solidFill>
                  <a:srgbClr val="5B6470"/>
                </a:solidFill>
                <a:latin typeface="Calibri"/>
              </a:rPr>
              <a:t>Presented by Anhad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7F0"/>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F6E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94360"/>
            <a:ext cx="11155680" cy="731520"/>
          </a:xfrm>
          <a:prstGeom prst="rect">
            <a:avLst/>
          </a:prstGeom>
          <a:noFill/>
        </p:spPr>
        <p:txBody>
          <a:bodyPr wrap="square" anchor="t" lIns="45720" rIns="45720">
            <a:spAutoFit/>
          </a:bodyPr>
          <a:lstStyle/>
          <a:p>
            <a:pPr algn="l">
              <a:spcAft>
                <a:spcPts val="1170"/>
              </a:spcAft>
            </a:pPr>
            <a:r>
              <a:rPr sz="2600" b="1">
                <a:solidFill>
                  <a:srgbClr val="1F2937"/>
                </a:solidFill>
                <a:latin typeface="Calibri"/>
              </a:rPr>
              <a:t>The project on one page</a:t>
            </a:r>
          </a:p>
        </p:txBody>
      </p:sp>
      <p:sp>
        <p:nvSpPr>
          <p:cNvPr id="4" name="TextBox 3"/>
          <p:cNvSpPr txBox="1"/>
          <p:nvPr/>
        </p:nvSpPr>
        <p:spPr>
          <a:xfrm>
            <a:off x="11247120" y="6400800"/>
            <a:ext cx="731520" cy="320040"/>
          </a:xfrm>
          <a:prstGeom prst="rect">
            <a:avLst/>
          </a:prstGeom>
          <a:noFill/>
        </p:spPr>
        <p:txBody>
          <a:bodyPr wrap="square" anchor="t" lIns="45720" rIns="45720">
            <a:spAutoFit/>
          </a:bodyPr>
          <a:lstStyle/>
          <a:p>
            <a:pPr algn="r">
              <a:spcAft>
                <a:spcPts val="495"/>
              </a:spcAft>
            </a:pPr>
            <a:r>
              <a:rPr sz="1100" b="0">
                <a:solidFill>
                  <a:srgbClr val="5B6470"/>
                </a:solidFill>
                <a:latin typeface="Calibri"/>
              </a:rPr>
              <a:t>3</a:t>
            </a:r>
          </a:p>
        </p:txBody>
      </p:sp>
      <p:sp>
        <p:nvSpPr>
          <p:cNvPr id="5" name="Rounded Rectangle 4"/>
          <p:cNvSpPr/>
          <p:nvPr/>
        </p:nvSpPr>
        <p:spPr>
          <a:xfrm>
            <a:off x="548640" y="1463040"/>
            <a:ext cx="3611880" cy="2286000"/>
          </a:xfrm>
          <a:prstGeom prst="roundRect">
            <a:avLst>
              <a:gd name="adj" fmla="val 6000"/>
            </a:avLst>
          </a:prstGeom>
          <a:solidFill>
            <a:srgbClr val="FFFFFF"/>
          </a:solidFill>
          <a:ln>
            <a:solidFill>
              <a:srgbClr val="E3DE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572768"/>
            <a:ext cx="3246120" cy="411480"/>
          </a:xfrm>
          <a:prstGeom prst="rect">
            <a:avLst/>
          </a:prstGeom>
          <a:noFill/>
        </p:spPr>
        <p:txBody>
          <a:bodyPr wrap="square" anchor="t" lIns="45720" rIns="45720">
            <a:spAutoFit/>
          </a:bodyPr>
          <a:lstStyle/>
          <a:p>
            <a:pPr algn="l">
              <a:spcAft>
                <a:spcPts val="765"/>
              </a:spcAft>
            </a:pPr>
            <a:r>
              <a:rPr sz="1700" b="1">
                <a:solidFill>
                  <a:srgbClr val="0F6E6A"/>
                </a:solidFill>
                <a:latin typeface="Calibri"/>
              </a:rPr>
              <a:t>Problem</a:t>
            </a:r>
          </a:p>
        </p:txBody>
      </p:sp>
      <p:sp>
        <p:nvSpPr>
          <p:cNvPr id="7" name="TextBox 6"/>
          <p:cNvSpPr txBox="1"/>
          <p:nvPr/>
        </p:nvSpPr>
        <p:spPr>
          <a:xfrm>
            <a:off x="731520" y="1993392"/>
            <a:ext cx="3246120" cy="1691640"/>
          </a:xfrm>
          <a:prstGeom prst="rect">
            <a:avLst/>
          </a:prstGeom>
          <a:noFill/>
        </p:spPr>
        <p:txBody>
          <a:bodyPr wrap="square" anchor="t" lIns="45720" rIns="45720">
            <a:spAutoFit/>
          </a:bodyPr>
          <a:lstStyle/>
          <a:p>
            <a:pPr algn="l">
              <a:spcAft>
                <a:spcPts val="675"/>
              </a:spcAft>
            </a:pPr>
            <a:r>
              <a:rPr sz="1500" b="0">
                <a:solidFill>
                  <a:srgbClr val="1F2937"/>
                </a:solidFill>
                <a:latin typeface="Calibri"/>
              </a:rPr>
              <a:t>Which poor households will still be poor seven years later? If a programme knew this, it could help those households first.</a:t>
            </a:r>
          </a:p>
        </p:txBody>
      </p:sp>
      <p:sp>
        <p:nvSpPr>
          <p:cNvPr id="8" name="Rounded Rectangle 7"/>
          <p:cNvSpPr/>
          <p:nvPr/>
        </p:nvSpPr>
        <p:spPr>
          <a:xfrm>
            <a:off x="4297679" y="1463040"/>
            <a:ext cx="3611880" cy="2286000"/>
          </a:xfrm>
          <a:prstGeom prst="roundRect">
            <a:avLst>
              <a:gd name="adj" fmla="val 6000"/>
            </a:avLst>
          </a:prstGeom>
          <a:solidFill>
            <a:srgbClr val="FFFFFF"/>
          </a:solidFill>
          <a:ln>
            <a:solidFill>
              <a:srgbClr val="E3DE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480559" y="1572768"/>
            <a:ext cx="3246120" cy="411480"/>
          </a:xfrm>
          <a:prstGeom prst="rect">
            <a:avLst/>
          </a:prstGeom>
          <a:noFill/>
        </p:spPr>
        <p:txBody>
          <a:bodyPr wrap="square" anchor="t" lIns="45720" rIns="45720">
            <a:spAutoFit/>
          </a:bodyPr>
          <a:lstStyle/>
          <a:p>
            <a:pPr algn="l">
              <a:spcAft>
                <a:spcPts val="765"/>
              </a:spcAft>
            </a:pPr>
            <a:r>
              <a:rPr sz="1700" b="1">
                <a:solidFill>
                  <a:srgbClr val="0F6E6A"/>
                </a:solidFill>
                <a:latin typeface="Calibri"/>
              </a:rPr>
              <a:t>Data</a:t>
            </a:r>
          </a:p>
        </p:txBody>
      </p:sp>
      <p:sp>
        <p:nvSpPr>
          <p:cNvPr id="10" name="TextBox 9"/>
          <p:cNvSpPr txBox="1"/>
          <p:nvPr/>
        </p:nvSpPr>
        <p:spPr>
          <a:xfrm>
            <a:off x="4480559" y="1993392"/>
            <a:ext cx="3246120" cy="1691640"/>
          </a:xfrm>
          <a:prstGeom prst="rect">
            <a:avLst/>
          </a:prstGeom>
          <a:noFill/>
        </p:spPr>
        <p:txBody>
          <a:bodyPr wrap="square" anchor="t" lIns="45720" rIns="45720">
            <a:spAutoFit/>
          </a:bodyPr>
          <a:lstStyle/>
          <a:p>
            <a:pPr algn="l">
              <a:spcAft>
                <a:spcPts val="675"/>
              </a:spcAft>
            </a:pPr>
            <a:r>
              <a:rPr sz="1500" b="0">
                <a:solidFill>
                  <a:srgbClr val="1F2937"/>
                </a:solidFill>
                <a:latin typeface="Calibri"/>
              </a:rPr>
              <a:t>A survey visited the same households in 2004-05 and again in 2011-12. We study the 11,146 poor households that could be found again.</a:t>
            </a:r>
          </a:p>
        </p:txBody>
      </p:sp>
      <p:sp>
        <p:nvSpPr>
          <p:cNvPr id="11" name="Rounded Rectangle 10"/>
          <p:cNvSpPr/>
          <p:nvPr/>
        </p:nvSpPr>
        <p:spPr>
          <a:xfrm>
            <a:off x="8046718" y="1463040"/>
            <a:ext cx="3611880" cy="2286000"/>
          </a:xfrm>
          <a:prstGeom prst="roundRect">
            <a:avLst>
              <a:gd name="adj" fmla="val 6000"/>
            </a:avLst>
          </a:prstGeom>
          <a:solidFill>
            <a:srgbClr val="FFFFFF"/>
          </a:solidFill>
          <a:ln>
            <a:solidFill>
              <a:srgbClr val="E3DE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598" y="1572768"/>
            <a:ext cx="3246120" cy="411480"/>
          </a:xfrm>
          <a:prstGeom prst="rect">
            <a:avLst/>
          </a:prstGeom>
          <a:noFill/>
        </p:spPr>
        <p:txBody>
          <a:bodyPr wrap="square" anchor="t" lIns="45720" rIns="45720">
            <a:spAutoFit/>
          </a:bodyPr>
          <a:lstStyle/>
          <a:p>
            <a:pPr algn="l">
              <a:spcAft>
                <a:spcPts val="765"/>
              </a:spcAft>
            </a:pPr>
            <a:r>
              <a:rPr sz="1700" b="1">
                <a:solidFill>
                  <a:srgbClr val="0F6E6A"/>
                </a:solidFill>
                <a:latin typeface="Calibri"/>
              </a:rPr>
              <a:t>Method</a:t>
            </a:r>
          </a:p>
        </p:txBody>
      </p:sp>
      <p:sp>
        <p:nvSpPr>
          <p:cNvPr id="13" name="TextBox 12"/>
          <p:cNvSpPr txBox="1"/>
          <p:nvPr/>
        </p:nvSpPr>
        <p:spPr>
          <a:xfrm>
            <a:off x="8229598" y="1993392"/>
            <a:ext cx="3246120" cy="1691640"/>
          </a:xfrm>
          <a:prstGeom prst="rect">
            <a:avLst/>
          </a:prstGeom>
          <a:noFill/>
        </p:spPr>
        <p:txBody>
          <a:bodyPr wrap="square" anchor="t" lIns="45720" rIns="45720">
            <a:spAutoFit/>
          </a:bodyPr>
          <a:lstStyle/>
          <a:p>
            <a:pPr algn="l">
              <a:spcAft>
                <a:spcPts val="675"/>
              </a:spcAft>
            </a:pPr>
            <a:r>
              <a:rPr sz="1500" b="0">
                <a:solidFill>
                  <a:srgbClr val="1F2937"/>
                </a:solidFill>
                <a:latin typeface="Calibri"/>
              </a:rPr>
              <a:t>We use 137 facts about each household from 2004-05 to train four models. We test them on villages they have never seen.</a:t>
            </a:r>
          </a:p>
        </p:txBody>
      </p:sp>
      <p:sp>
        <p:nvSpPr>
          <p:cNvPr id="14" name="Rounded Rectangle 13"/>
          <p:cNvSpPr/>
          <p:nvPr/>
        </p:nvSpPr>
        <p:spPr>
          <a:xfrm>
            <a:off x="548640" y="3931920"/>
            <a:ext cx="3611880" cy="2286000"/>
          </a:xfrm>
          <a:prstGeom prst="roundRect">
            <a:avLst>
              <a:gd name="adj" fmla="val 6000"/>
            </a:avLst>
          </a:prstGeom>
          <a:solidFill>
            <a:srgbClr val="FFFFFF"/>
          </a:solidFill>
          <a:ln>
            <a:solidFill>
              <a:srgbClr val="E3DE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4041648"/>
            <a:ext cx="3246120" cy="411480"/>
          </a:xfrm>
          <a:prstGeom prst="rect">
            <a:avLst/>
          </a:prstGeom>
          <a:noFill/>
        </p:spPr>
        <p:txBody>
          <a:bodyPr wrap="square" anchor="t" lIns="45720" rIns="45720">
            <a:spAutoFit/>
          </a:bodyPr>
          <a:lstStyle/>
          <a:p>
            <a:pPr algn="l">
              <a:spcAft>
                <a:spcPts val="765"/>
              </a:spcAft>
            </a:pPr>
            <a:r>
              <a:rPr sz="1700" b="1">
                <a:solidFill>
                  <a:srgbClr val="0F6E6A"/>
                </a:solidFill>
                <a:latin typeface="Calibri"/>
              </a:rPr>
              <a:t>Result</a:t>
            </a:r>
          </a:p>
        </p:txBody>
      </p:sp>
      <p:sp>
        <p:nvSpPr>
          <p:cNvPr id="16" name="TextBox 15"/>
          <p:cNvSpPr txBox="1"/>
          <p:nvPr/>
        </p:nvSpPr>
        <p:spPr>
          <a:xfrm>
            <a:off x="731520" y="4462272"/>
            <a:ext cx="3246120" cy="1691640"/>
          </a:xfrm>
          <a:prstGeom prst="rect">
            <a:avLst/>
          </a:prstGeom>
          <a:noFill/>
        </p:spPr>
        <p:txBody>
          <a:bodyPr wrap="square" anchor="t" lIns="45720" rIns="45720">
            <a:spAutoFit/>
          </a:bodyPr>
          <a:lstStyle/>
          <a:p>
            <a:pPr algn="l">
              <a:spcAft>
                <a:spcPts val="675"/>
              </a:spcAft>
            </a:pPr>
            <a:r>
              <a:rPr sz="1500" b="0">
                <a:solidFill>
                  <a:srgbClr val="1F2937"/>
                </a:solidFill>
                <a:latin typeface="Calibri"/>
              </a:rPr>
              <a:t>About 69% of these households escaped poverty. Our best model, XGBoost, scores a ROC-AUC of 0.72, where 0.50 would be guessing.</a:t>
            </a:r>
          </a:p>
        </p:txBody>
      </p:sp>
      <p:sp>
        <p:nvSpPr>
          <p:cNvPr id="17" name="Rounded Rectangle 16"/>
          <p:cNvSpPr/>
          <p:nvPr/>
        </p:nvSpPr>
        <p:spPr>
          <a:xfrm>
            <a:off x="4297679" y="3931920"/>
            <a:ext cx="3611880" cy="2286000"/>
          </a:xfrm>
          <a:prstGeom prst="roundRect">
            <a:avLst>
              <a:gd name="adj" fmla="val 6000"/>
            </a:avLst>
          </a:prstGeom>
          <a:solidFill>
            <a:srgbClr val="FFFFFF"/>
          </a:solidFill>
          <a:ln>
            <a:solidFill>
              <a:srgbClr val="E3DE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480559" y="4041648"/>
            <a:ext cx="3246120" cy="411480"/>
          </a:xfrm>
          <a:prstGeom prst="rect">
            <a:avLst/>
          </a:prstGeom>
          <a:noFill/>
        </p:spPr>
        <p:txBody>
          <a:bodyPr wrap="square" anchor="t" lIns="45720" rIns="45720">
            <a:spAutoFit/>
          </a:bodyPr>
          <a:lstStyle/>
          <a:p>
            <a:pPr algn="l">
              <a:spcAft>
                <a:spcPts val="765"/>
              </a:spcAft>
            </a:pPr>
            <a:r>
              <a:rPr sz="1700" b="1">
                <a:solidFill>
                  <a:srgbClr val="0F6E6A"/>
                </a:solidFill>
                <a:latin typeface="Calibri"/>
              </a:rPr>
              <a:t>What it means</a:t>
            </a:r>
          </a:p>
        </p:txBody>
      </p:sp>
      <p:sp>
        <p:nvSpPr>
          <p:cNvPr id="19" name="TextBox 18"/>
          <p:cNvSpPr txBox="1"/>
          <p:nvPr/>
        </p:nvSpPr>
        <p:spPr>
          <a:xfrm>
            <a:off x="4480559" y="4462272"/>
            <a:ext cx="3246120" cy="1691640"/>
          </a:xfrm>
          <a:prstGeom prst="rect">
            <a:avLst/>
          </a:prstGeom>
          <a:noFill/>
        </p:spPr>
        <p:txBody>
          <a:bodyPr wrap="square" anchor="t" lIns="45720" rIns="45720">
            <a:spAutoFit/>
          </a:bodyPr>
          <a:lstStyle/>
          <a:p>
            <a:pPr algn="l">
              <a:spcAft>
                <a:spcPts val="675"/>
              </a:spcAft>
            </a:pPr>
            <a:r>
              <a:rPr sz="1500" b="0">
                <a:solidFill>
                  <a:srgbClr val="1F2937"/>
                </a:solidFill>
                <a:latin typeface="Calibri"/>
              </a:rPr>
              <a:t>The 20% of households that the model rates riskiest stayed poor 57% of the time. The average was 31%, so the model is useful for ranking.</a:t>
            </a:r>
          </a:p>
        </p:txBody>
      </p:sp>
      <p:sp>
        <p:nvSpPr>
          <p:cNvPr id="20" name="Rounded Rectangle 19"/>
          <p:cNvSpPr/>
          <p:nvPr/>
        </p:nvSpPr>
        <p:spPr>
          <a:xfrm>
            <a:off x="8046718" y="3931920"/>
            <a:ext cx="3611880" cy="2286000"/>
          </a:xfrm>
          <a:prstGeom prst="roundRect">
            <a:avLst>
              <a:gd name="adj" fmla="val 6000"/>
            </a:avLst>
          </a:prstGeom>
          <a:solidFill>
            <a:srgbClr val="FFFFFF"/>
          </a:solidFill>
          <a:ln>
            <a:solidFill>
              <a:srgbClr val="E3DE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29598" y="4041648"/>
            <a:ext cx="3246120" cy="411480"/>
          </a:xfrm>
          <a:prstGeom prst="rect">
            <a:avLst/>
          </a:prstGeom>
          <a:noFill/>
        </p:spPr>
        <p:txBody>
          <a:bodyPr wrap="square" anchor="t" lIns="45720" rIns="45720">
            <a:spAutoFit/>
          </a:bodyPr>
          <a:lstStyle/>
          <a:p>
            <a:pPr algn="l">
              <a:spcAft>
                <a:spcPts val="765"/>
              </a:spcAft>
            </a:pPr>
            <a:r>
              <a:rPr sz="1700" b="1">
                <a:solidFill>
                  <a:srgbClr val="C2410C"/>
                </a:solidFill>
                <a:latin typeface="Calibri"/>
              </a:rPr>
              <a:t>Limits</a:t>
            </a:r>
          </a:p>
        </p:txBody>
      </p:sp>
      <p:sp>
        <p:nvSpPr>
          <p:cNvPr id="22" name="TextBox 21"/>
          <p:cNvSpPr txBox="1"/>
          <p:nvPr/>
        </p:nvSpPr>
        <p:spPr>
          <a:xfrm>
            <a:off x="8229598" y="4462272"/>
            <a:ext cx="3246120" cy="1691640"/>
          </a:xfrm>
          <a:prstGeom prst="rect">
            <a:avLst/>
          </a:prstGeom>
          <a:noFill/>
        </p:spPr>
        <p:txBody>
          <a:bodyPr wrap="square" anchor="t" lIns="45720" rIns="45720">
            <a:spAutoFit/>
          </a:bodyPr>
          <a:lstStyle/>
          <a:p>
            <a:pPr algn="l">
              <a:spcAft>
                <a:spcPts val="675"/>
              </a:spcAft>
            </a:pPr>
            <a:r>
              <a:rPr sz="1500" b="0">
                <a:solidFill>
                  <a:srgbClr val="1F2937"/>
                </a:solidFill>
                <a:latin typeface="Calibri"/>
              </a:rPr>
              <a:t>The accuracy is modest and the data are old. The model shows patterns, and it should be used to screen groups of households, not to judge one family.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7F0"/>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F6E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8229600" cy="365760"/>
          </a:xfrm>
          <a:prstGeom prst="rect">
            <a:avLst/>
          </a:prstGeom>
          <a:noFill/>
        </p:spPr>
        <p:txBody>
          <a:bodyPr wrap="square" anchor="t" lIns="45720" rIns="45720">
            <a:spAutoFit/>
          </a:bodyPr>
          <a:lstStyle/>
          <a:p>
            <a:pPr algn="l">
              <a:spcAft>
                <a:spcPts val="540"/>
              </a:spcAft>
            </a:pPr>
            <a:r>
              <a:rPr sz="1200" b="1">
                <a:solidFill>
                  <a:srgbClr val="0F6E6A"/>
                </a:solidFill>
                <a:latin typeface="Calibri"/>
              </a:rPr>
              <a:t>1. PROBLEM AND USE CASE</a:t>
            </a:r>
          </a:p>
        </p:txBody>
      </p:sp>
      <p:sp>
        <p:nvSpPr>
          <p:cNvPr id="4" name="Rounded Rectangle 3"/>
          <p:cNvSpPr/>
          <p:nvPr/>
        </p:nvSpPr>
        <p:spPr>
          <a:xfrm>
            <a:off x="9966960" y="292608"/>
            <a:ext cx="1920240" cy="384048"/>
          </a:xfrm>
          <a:prstGeom prst="roundRect">
            <a:avLst>
              <a:gd name="adj" fmla="val 50000"/>
            </a:avLst>
          </a:prstGeom>
          <a:solidFill>
            <a:srgbClr val="E6F2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0F6E6A"/>
                </a:solidFill>
                <a:latin typeface="Calibri"/>
              </a:rPr>
              <a:t>Presenter: Anhad</a:t>
            </a:r>
          </a:p>
        </p:txBody>
      </p:sp>
      <p:sp>
        <p:nvSpPr>
          <p:cNvPr id="5" name="TextBox 4"/>
          <p:cNvSpPr txBox="1"/>
          <p:nvPr/>
        </p:nvSpPr>
        <p:spPr>
          <a:xfrm>
            <a:off x="548640" y="594360"/>
            <a:ext cx="11155680" cy="731520"/>
          </a:xfrm>
          <a:prstGeom prst="rect">
            <a:avLst/>
          </a:prstGeom>
          <a:noFill/>
        </p:spPr>
        <p:txBody>
          <a:bodyPr wrap="square" anchor="t" lIns="45720" rIns="45720">
            <a:spAutoFit/>
          </a:bodyPr>
          <a:lstStyle/>
          <a:p>
            <a:pPr algn="l">
              <a:spcAft>
                <a:spcPts val="1170"/>
              </a:spcAft>
            </a:pPr>
            <a:r>
              <a:rPr sz="2600" b="1">
                <a:solidFill>
                  <a:srgbClr val="1F2937"/>
                </a:solidFill>
                <a:latin typeface="Calibri"/>
              </a:rPr>
              <a:t>Problem statement and objectives</a:t>
            </a:r>
          </a:p>
        </p:txBody>
      </p:sp>
      <p:sp>
        <p:nvSpPr>
          <p:cNvPr id="6" name="TextBox 5"/>
          <p:cNvSpPr txBox="1"/>
          <p:nvPr/>
        </p:nvSpPr>
        <p:spPr>
          <a:xfrm>
            <a:off x="11247120" y="6400800"/>
            <a:ext cx="731520" cy="320040"/>
          </a:xfrm>
          <a:prstGeom prst="rect">
            <a:avLst/>
          </a:prstGeom>
          <a:noFill/>
        </p:spPr>
        <p:txBody>
          <a:bodyPr wrap="square" anchor="t" lIns="45720" rIns="45720">
            <a:spAutoFit/>
          </a:bodyPr>
          <a:lstStyle/>
          <a:p>
            <a:pPr algn="r">
              <a:spcAft>
                <a:spcPts val="495"/>
              </a:spcAft>
            </a:pPr>
            <a:r>
              <a:rPr sz="1100" b="0">
                <a:solidFill>
                  <a:srgbClr val="5B6470"/>
                </a:solidFill>
                <a:latin typeface="Calibri"/>
              </a:rPr>
              <a:t>4</a:t>
            </a:r>
          </a:p>
        </p:txBody>
      </p:sp>
      <p:sp>
        <p:nvSpPr>
          <p:cNvPr id="7" name="Rounded Rectangle 6"/>
          <p:cNvSpPr/>
          <p:nvPr/>
        </p:nvSpPr>
        <p:spPr>
          <a:xfrm>
            <a:off x="548640" y="1463040"/>
            <a:ext cx="5394960" cy="2194560"/>
          </a:xfrm>
          <a:prstGeom prst="roundRect">
            <a:avLst>
              <a:gd name="adj" fmla="val 6000"/>
            </a:avLst>
          </a:prstGeom>
          <a:solidFill>
            <a:srgbClr val="FFFFFF"/>
          </a:solidFill>
          <a:ln>
            <a:solidFill>
              <a:srgbClr val="E3DE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572768"/>
            <a:ext cx="5029200" cy="411480"/>
          </a:xfrm>
          <a:prstGeom prst="rect">
            <a:avLst/>
          </a:prstGeom>
          <a:noFill/>
        </p:spPr>
        <p:txBody>
          <a:bodyPr wrap="square" anchor="t" lIns="45720" rIns="45720">
            <a:spAutoFit/>
          </a:bodyPr>
          <a:lstStyle/>
          <a:p>
            <a:pPr algn="l">
              <a:spcAft>
                <a:spcPts val="810"/>
              </a:spcAft>
            </a:pPr>
            <a:r>
              <a:rPr sz="1800" b="1">
                <a:solidFill>
                  <a:srgbClr val="0F6E6A"/>
                </a:solidFill>
                <a:latin typeface="Calibri"/>
              </a:rPr>
              <a:t>Problem</a:t>
            </a:r>
          </a:p>
        </p:txBody>
      </p:sp>
      <p:sp>
        <p:nvSpPr>
          <p:cNvPr id="9" name="TextBox 8"/>
          <p:cNvSpPr txBox="1"/>
          <p:nvPr/>
        </p:nvSpPr>
        <p:spPr>
          <a:xfrm>
            <a:off x="731520" y="1993392"/>
            <a:ext cx="5029200" cy="1600200"/>
          </a:xfrm>
          <a:prstGeom prst="rect">
            <a:avLst/>
          </a:prstGeom>
          <a:noFill/>
        </p:spPr>
        <p:txBody>
          <a:bodyPr wrap="square" anchor="t" lIns="45720" rIns="45720">
            <a:spAutoFit/>
          </a:bodyPr>
          <a:lstStyle/>
          <a:p>
            <a:pPr algn="l">
              <a:spcAft>
                <a:spcPts val="720"/>
              </a:spcAft>
            </a:pPr>
            <a:r>
              <a:rPr sz="1600" b="0">
                <a:solidFill>
                  <a:srgbClr val="1F2937"/>
                </a:solidFill>
                <a:latin typeface="Calibri"/>
              </a:rPr>
              <a:t>Welfare budgets are limited. We want to tell in advance which poor households are least likely to leave poverty on their own, so that help can reach them first.</a:t>
            </a:r>
          </a:p>
        </p:txBody>
      </p:sp>
      <p:sp>
        <p:nvSpPr>
          <p:cNvPr id="10" name="Rounded Rectangle 9"/>
          <p:cNvSpPr/>
          <p:nvPr/>
        </p:nvSpPr>
        <p:spPr>
          <a:xfrm>
            <a:off x="548640" y="3840480"/>
            <a:ext cx="5394960" cy="2377440"/>
          </a:xfrm>
          <a:prstGeom prst="roundRect">
            <a:avLst>
              <a:gd name="adj" fmla="val 6000"/>
            </a:avLst>
          </a:prstGeom>
          <a:solidFill>
            <a:srgbClr val="FFFFFF"/>
          </a:solidFill>
          <a:ln>
            <a:solidFill>
              <a:srgbClr val="E3DE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3950208"/>
            <a:ext cx="5029200" cy="411480"/>
          </a:xfrm>
          <a:prstGeom prst="rect">
            <a:avLst/>
          </a:prstGeom>
          <a:noFill/>
        </p:spPr>
        <p:txBody>
          <a:bodyPr wrap="square" anchor="t" lIns="45720" rIns="45720">
            <a:spAutoFit/>
          </a:bodyPr>
          <a:lstStyle/>
          <a:p>
            <a:pPr algn="l">
              <a:spcAft>
                <a:spcPts val="810"/>
              </a:spcAft>
            </a:pPr>
            <a:r>
              <a:rPr sz="1800" b="1">
                <a:solidFill>
                  <a:srgbClr val="0F6E6A"/>
                </a:solidFill>
                <a:latin typeface="Calibri"/>
              </a:rPr>
              <a:t>Question</a:t>
            </a:r>
          </a:p>
        </p:txBody>
      </p:sp>
      <p:sp>
        <p:nvSpPr>
          <p:cNvPr id="12" name="TextBox 11"/>
          <p:cNvSpPr txBox="1"/>
          <p:nvPr/>
        </p:nvSpPr>
        <p:spPr>
          <a:xfrm>
            <a:off x="731520" y="4370832"/>
            <a:ext cx="5029200" cy="1783080"/>
          </a:xfrm>
          <a:prstGeom prst="rect">
            <a:avLst/>
          </a:prstGeom>
          <a:noFill/>
        </p:spPr>
        <p:txBody>
          <a:bodyPr wrap="square" anchor="t" lIns="45720" rIns="45720">
            <a:spAutoFit/>
          </a:bodyPr>
          <a:lstStyle/>
          <a:p>
            <a:pPr algn="l">
              <a:spcAft>
                <a:spcPts val="720"/>
              </a:spcAft>
            </a:pPr>
            <a:r>
              <a:rPr sz="1600" b="0">
                <a:solidFill>
                  <a:srgbClr val="1F2937"/>
                </a:solidFill>
                <a:latin typeface="Calibri"/>
              </a:rPr>
              <a:t>Using only what is known when a household is poor, can we predict whether it is still poor seven years later? And which household conditions go together with escaping?</a:t>
            </a:r>
          </a:p>
        </p:txBody>
      </p:sp>
      <p:sp>
        <p:nvSpPr>
          <p:cNvPr id="13" name="Rounded Rectangle 12"/>
          <p:cNvSpPr/>
          <p:nvPr/>
        </p:nvSpPr>
        <p:spPr>
          <a:xfrm>
            <a:off x="6217920" y="1463040"/>
            <a:ext cx="5486400" cy="4754880"/>
          </a:xfrm>
          <a:prstGeom prst="roundRect">
            <a:avLst>
              <a:gd name="adj" fmla="val 6000"/>
            </a:avLst>
          </a:prstGeom>
          <a:solidFill>
            <a:srgbClr val="FFFFFF"/>
          </a:solidFill>
          <a:ln>
            <a:solidFill>
              <a:srgbClr val="E3DE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0" y="1572768"/>
            <a:ext cx="5120640" cy="411480"/>
          </a:xfrm>
          <a:prstGeom prst="rect">
            <a:avLst/>
          </a:prstGeom>
          <a:noFill/>
        </p:spPr>
        <p:txBody>
          <a:bodyPr wrap="square" anchor="t" lIns="45720" rIns="45720">
            <a:spAutoFit/>
          </a:bodyPr>
          <a:lstStyle/>
          <a:p>
            <a:pPr algn="l">
              <a:spcAft>
                <a:spcPts val="810"/>
              </a:spcAft>
            </a:pPr>
            <a:r>
              <a:rPr sz="1800" b="1">
                <a:solidFill>
                  <a:srgbClr val="0F6E6A"/>
                </a:solidFill>
                <a:latin typeface="Calibri"/>
              </a:rPr>
              <a:t>Objectives</a:t>
            </a:r>
          </a:p>
        </p:txBody>
      </p:sp>
      <p:sp>
        <p:nvSpPr>
          <p:cNvPr id="15" name="TextBox 14"/>
          <p:cNvSpPr txBox="1"/>
          <p:nvPr/>
        </p:nvSpPr>
        <p:spPr>
          <a:xfrm>
            <a:off x="6400800" y="1993392"/>
            <a:ext cx="5120640" cy="4160520"/>
          </a:xfrm>
          <a:prstGeom prst="rect">
            <a:avLst/>
          </a:prstGeom>
          <a:noFill/>
        </p:spPr>
        <p:txBody>
          <a:bodyPr wrap="square" anchor="t" lIns="45720" rIns="45720">
            <a:spAutoFit/>
          </a:bodyPr>
          <a:lstStyle/>
          <a:p>
            <a:pPr algn="l">
              <a:spcAft>
                <a:spcPts val="960"/>
              </a:spcAft>
            </a:pPr>
            <a:r>
              <a:rPr sz="1600" b="0">
                <a:solidFill>
                  <a:srgbClr val="1F2937"/>
                </a:solidFill>
                <a:latin typeface="Calibri"/>
              </a:rPr>
              <a:t>1. Predict escape from poverty using 2004-05 information only.</a:t>
            </a:r>
          </a:p>
          <a:p>
            <a:pPr algn="l">
              <a:spcAft>
                <a:spcPts val="960"/>
              </a:spcAft>
            </a:pPr>
            <a:r>
              <a:rPr sz="1600" b="0">
                <a:solidFill>
                  <a:srgbClr val="1F2937"/>
                </a:solidFill>
                <a:latin typeface="Calibri"/>
              </a:rPr>
              <a:t>2. Compare four models on villages never used for training.</a:t>
            </a:r>
          </a:p>
          <a:p>
            <a:pPr algn="l">
              <a:spcAft>
                <a:spcPts val="960"/>
              </a:spcAft>
            </a:pPr>
            <a:r>
              <a:rPr sz="1600" b="0">
                <a:solidFill>
                  <a:srgbClr val="1F2937"/>
                </a:solidFill>
                <a:latin typeface="Calibri"/>
              </a:rPr>
              <a:t>3. Find the factors the models rely on, using SHAP.</a:t>
            </a:r>
          </a:p>
          <a:p>
            <a:pPr algn="l">
              <a:spcAft>
                <a:spcPts val="960"/>
              </a:spcAft>
            </a:pPr>
            <a:r>
              <a:rPr sz="1600" b="0">
                <a:solidFill>
                  <a:srgbClr val="1F2937"/>
                </a:solidFill>
                <a:latin typeface="Calibri"/>
              </a:rPr>
              <a:t>4. Check whether education goes together with escape.</a:t>
            </a:r>
          </a:p>
          <a:p>
            <a:pPr algn="l">
              <a:spcAft>
                <a:spcPts val="960"/>
              </a:spcAft>
            </a:pPr>
            <a:r>
              <a:rPr sz="1600" b="0">
                <a:solidFill>
                  <a:srgbClr val="1F2937"/>
                </a:solidFill>
                <a:latin typeface="Calibri"/>
              </a:rPr>
              <a:t>5. Build a small demo app.</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7F0"/>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F6E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8229600" cy="365760"/>
          </a:xfrm>
          <a:prstGeom prst="rect">
            <a:avLst/>
          </a:prstGeom>
          <a:noFill/>
        </p:spPr>
        <p:txBody>
          <a:bodyPr wrap="square" anchor="t" lIns="45720" rIns="45720">
            <a:spAutoFit/>
          </a:bodyPr>
          <a:lstStyle/>
          <a:p>
            <a:pPr algn="l">
              <a:spcAft>
                <a:spcPts val="540"/>
              </a:spcAft>
            </a:pPr>
            <a:r>
              <a:rPr sz="1200" b="1">
                <a:solidFill>
                  <a:srgbClr val="0F6E6A"/>
                </a:solidFill>
                <a:latin typeface="Calibri"/>
              </a:rPr>
              <a:t>1. PROBLEM AND USE CASE</a:t>
            </a:r>
          </a:p>
        </p:txBody>
      </p:sp>
      <p:sp>
        <p:nvSpPr>
          <p:cNvPr id="4" name="Rounded Rectangle 3"/>
          <p:cNvSpPr/>
          <p:nvPr/>
        </p:nvSpPr>
        <p:spPr>
          <a:xfrm>
            <a:off x="9966960" y="292608"/>
            <a:ext cx="1920240" cy="384048"/>
          </a:xfrm>
          <a:prstGeom prst="roundRect">
            <a:avLst>
              <a:gd name="adj" fmla="val 50000"/>
            </a:avLst>
          </a:prstGeom>
          <a:solidFill>
            <a:srgbClr val="E6F2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0F6E6A"/>
                </a:solidFill>
                <a:latin typeface="Calibri"/>
              </a:rPr>
              <a:t>Presenter: Anhad</a:t>
            </a:r>
          </a:p>
        </p:txBody>
      </p:sp>
      <p:sp>
        <p:nvSpPr>
          <p:cNvPr id="5" name="TextBox 4"/>
          <p:cNvSpPr txBox="1"/>
          <p:nvPr/>
        </p:nvSpPr>
        <p:spPr>
          <a:xfrm>
            <a:off x="548640" y="594360"/>
            <a:ext cx="11155680" cy="731520"/>
          </a:xfrm>
          <a:prstGeom prst="rect">
            <a:avLst/>
          </a:prstGeom>
          <a:noFill/>
        </p:spPr>
        <p:txBody>
          <a:bodyPr wrap="square" anchor="t" lIns="45720" rIns="45720">
            <a:spAutoFit/>
          </a:bodyPr>
          <a:lstStyle/>
          <a:p>
            <a:pPr algn="l">
              <a:spcAft>
                <a:spcPts val="1170"/>
              </a:spcAft>
            </a:pPr>
            <a:r>
              <a:rPr sz="2600" b="1">
                <a:solidFill>
                  <a:srgbClr val="1F2937"/>
                </a:solidFill>
                <a:latin typeface="Calibri"/>
              </a:rPr>
              <a:t>Application domain, users and real-world relevance</a:t>
            </a:r>
          </a:p>
        </p:txBody>
      </p:sp>
      <p:sp>
        <p:nvSpPr>
          <p:cNvPr id="6" name="TextBox 5"/>
          <p:cNvSpPr txBox="1"/>
          <p:nvPr/>
        </p:nvSpPr>
        <p:spPr>
          <a:xfrm>
            <a:off x="11247120" y="6400800"/>
            <a:ext cx="731520" cy="320040"/>
          </a:xfrm>
          <a:prstGeom prst="rect">
            <a:avLst/>
          </a:prstGeom>
          <a:noFill/>
        </p:spPr>
        <p:txBody>
          <a:bodyPr wrap="square" anchor="t" lIns="45720" rIns="45720">
            <a:spAutoFit/>
          </a:bodyPr>
          <a:lstStyle/>
          <a:p>
            <a:pPr algn="r">
              <a:spcAft>
                <a:spcPts val="495"/>
              </a:spcAft>
            </a:pPr>
            <a:r>
              <a:rPr sz="1100" b="0">
                <a:solidFill>
                  <a:srgbClr val="5B6470"/>
                </a:solidFill>
                <a:latin typeface="Calibri"/>
              </a:rPr>
              <a:t>5</a:t>
            </a:r>
          </a:p>
        </p:txBody>
      </p:sp>
      <p:sp>
        <p:nvSpPr>
          <p:cNvPr id="7" name="Rounded Rectangle 6"/>
          <p:cNvSpPr/>
          <p:nvPr/>
        </p:nvSpPr>
        <p:spPr>
          <a:xfrm>
            <a:off x="548640" y="1463040"/>
            <a:ext cx="3657600" cy="2377440"/>
          </a:xfrm>
          <a:prstGeom prst="roundRect">
            <a:avLst>
              <a:gd name="adj" fmla="val 6000"/>
            </a:avLst>
          </a:prstGeom>
          <a:solidFill>
            <a:srgbClr val="FFFFFF"/>
          </a:solidFill>
          <a:ln>
            <a:solidFill>
              <a:srgbClr val="E3DE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572768"/>
            <a:ext cx="3291840" cy="411480"/>
          </a:xfrm>
          <a:prstGeom prst="rect">
            <a:avLst/>
          </a:prstGeom>
          <a:noFill/>
        </p:spPr>
        <p:txBody>
          <a:bodyPr wrap="square" anchor="t" lIns="45720" rIns="45720">
            <a:spAutoFit/>
          </a:bodyPr>
          <a:lstStyle/>
          <a:p>
            <a:pPr algn="l">
              <a:spcAft>
                <a:spcPts val="720"/>
              </a:spcAft>
            </a:pPr>
            <a:r>
              <a:rPr sz="1600" b="1">
                <a:solidFill>
                  <a:srgbClr val="0F6E6A"/>
                </a:solidFill>
                <a:latin typeface="Calibri"/>
              </a:rPr>
              <a:t>Application domain</a:t>
            </a:r>
          </a:p>
        </p:txBody>
      </p:sp>
      <p:sp>
        <p:nvSpPr>
          <p:cNvPr id="9" name="TextBox 8"/>
          <p:cNvSpPr txBox="1"/>
          <p:nvPr/>
        </p:nvSpPr>
        <p:spPr>
          <a:xfrm>
            <a:off x="731520" y="1993392"/>
            <a:ext cx="3291840" cy="1783080"/>
          </a:xfrm>
          <a:prstGeom prst="rect">
            <a:avLst/>
          </a:prstGeom>
          <a:noFill/>
        </p:spPr>
        <p:txBody>
          <a:bodyPr wrap="square" anchor="t" lIns="45720" rIns="45720">
            <a:spAutoFit/>
          </a:bodyPr>
          <a:lstStyle/>
          <a:p>
            <a:pPr algn="l">
              <a:spcAft>
                <a:spcPts val="630"/>
              </a:spcAft>
            </a:pPr>
            <a:r>
              <a:rPr sz="1400" b="0">
                <a:solidFill>
                  <a:srgbClr val="1F2937"/>
                </a:solidFill>
                <a:latin typeface="Calibri"/>
              </a:rPr>
              <a:t>Our domain is social welfare and poverty targeting, which is part of public policy.</a:t>
            </a:r>
          </a:p>
          <a:p>
            <a:pPr algn="l">
              <a:spcAft>
                <a:spcPts val="630"/>
              </a:spcAft>
            </a:pPr>
            <a:r>
              <a:rPr sz="1400" b="0">
                <a:solidFill>
                  <a:srgbClr val="1F2937"/>
                </a:solidFill>
                <a:latin typeface="Calibri"/>
              </a:rPr>
              <a:t>The machine learning task is classification: did the household escape or stay poor?</a:t>
            </a:r>
          </a:p>
        </p:txBody>
      </p:sp>
      <p:sp>
        <p:nvSpPr>
          <p:cNvPr id="10" name="Rounded Rectangle 9"/>
          <p:cNvSpPr/>
          <p:nvPr/>
        </p:nvSpPr>
        <p:spPr>
          <a:xfrm>
            <a:off x="4389120" y="1463040"/>
            <a:ext cx="3657600" cy="2377440"/>
          </a:xfrm>
          <a:prstGeom prst="roundRect">
            <a:avLst>
              <a:gd name="adj" fmla="val 6000"/>
            </a:avLst>
          </a:prstGeom>
          <a:solidFill>
            <a:srgbClr val="FFFFFF"/>
          </a:solidFill>
          <a:ln>
            <a:solidFill>
              <a:srgbClr val="E3DE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0" y="1572768"/>
            <a:ext cx="3291840" cy="411480"/>
          </a:xfrm>
          <a:prstGeom prst="rect">
            <a:avLst/>
          </a:prstGeom>
          <a:noFill/>
        </p:spPr>
        <p:txBody>
          <a:bodyPr wrap="square" anchor="t" lIns="45720" rIns="45720">
            <a:spAutoFit/>
          </a:bodyPr>
          <a:lstStyle/>
          <a:p>
            <a:pPr algn="l">
              <a:spcAft>
                <a:spcPts val="720"/>
              </a:spcAft>
            </a:pPr>
            <a:r>
              <a:rPr sz="1600" b="1">
                <a:solidFill>
                  <a:srgbClr val="0F6E6A"/>
                </a:solidFill>
                <a:latin typeface="Calibri"/>
              </a:rPr>
              <a:t>Intended users</a:t>
            </a:r>
          </a:p>
        </p:txBody>
      </p:sp>
      <p:sp>
        <p:nvSpPr>
          <p:cNvPr id="12" name="TextBox 11"/>
          <p:cNvSpPr txBox="1"/>
          <p:nvPr/>
        </p:nvSpPr>
        <p:spPr>
          <a:xfrm>
            <a:off x="4572000" y="1993392"/>
            <a:ext cx="3291840" cy="1783080"/>
          </a:xfrm>
          <a:prstGeom prst="rect">
            <a:avLst/>
          </a:prstGeom>
          <a:noFill/>
        </p:spPr>
        <p:txBody>
          <a:bodyPr wrap="square" anchor="t" lIns="45720" rIns="45720">
            <a:spAutoFit/>
          </a:bodyPr>
          <a:lstStyle/>
          <a:p>
            <a:pPr algn="l">
              <a:spcAft>
                <a:spcPts val="630"/>
              </a:spcAft>
            </a:pPr>
            <a:r>
              <a:rPr sz="1400" b="0">
                <a:solidFill>
                  <a:srgbClr val="1F2937"/>
                </a:solidFill>
                <a:latin typeface="Calibri"/>
              </a:rPr>
              <a:t>Government welfare departments can rank poor households by risk.</a:t>
            </a:r>
          </a:p>
          <a:p>
            <a:pPr algn="l">
              <a:spcAft>
                <a:spcPts val="630"/>
              </a:spcAft>
            </a:pPr>
            <a:r>
              <a:rPr sz="1400" b="0">
                <a:solidFill>
                  <a:srgbClr val="1F2937"/>
                </a:solidFill>
                <a:latin typeface="Calibri"/>
              </a:rPr>
              <a:t>NGOs and microfinance institutions can choose villages and families.</a:t>
            </a:r>
          </a:p>
          <a:p>
            <a:pPr algn="l">
              <a:spcAft>
                <a:spcPts val="630"/>
              </a:spcAft>
            </a:pPr>
            <a:r>
              <a:rPr sz="1400" b="0">
                <a:solidFill>
                  <a:srgbClr val="1F2937"/>
                </a:solidFill>
                <a:latin typeface="Calibri"/>
              </a:rPr>
              <a:t>Researchers can study what goes together with leaving poverty.</a:t>
            </a:r>
          </a:p>
        </p:txBody>
      </p:sp>
      <p:sp>
        <p:nvSpPr>
          <p:cNvPr id="13" name="Rounded Rectangle 12"/>
          <p:cNvSpPr/>
          <p:nvPr/>
        </p:nvSpPr>
        <p:spPr>
          <a:xfrm>
            <a:off x="8229600" y="1463040"/>
            <a:ext cx="3474720" cy="2377440"/>
          </a:xfrm>
          <a:prstGeom prst="roundRect">
            <a:avLst>
              <a:gd name="adj" fmla="val 6000"/>
            </a:avLst>
          </a:prstGeom>
          <a:solidFill>
            <a:srgbClr val="FFFFFF"/>
          </a:solidFill>
          <a:ln>
            <a:solidFill>
              <a:srgbClr val="E3DE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412480" y="1572768"/>
            <a:ext cx="3108960" cy="411480"/>
          </a:xfrm>
          <a:prstGeom prst="rect">
            <a:avLst/>
          </a:prstGeom>
          <a:noFill/>
        </p:spPr>
        <p:txBody>
          <a:bodyPr wrap="square" anchor="t" lIns="45720" rIns="45720">
            <a:spAutoFit/>
          </a:bodyPr>
          <a:lstStyle/>
          <a:p>
            <a:pPr algn="l">
              <a:spcAft>
                <a:spcPts val="720"/>
              </a:spcAft>
            </a:pPr>
            <a:r>
              <a:rPr sz="1600" b="1">
                <a:solidFill>
                  <a:srgbClr val="0F6E6A"/>
                </a:solidFill>
                <a:latin typeface="Calibri"/>
              </a:rPr>
              <a:t>Why it matters</a:t>
            </a:r>
          </a:p>
        </p:txBody>
      </p:sp>
      <p:sp>
        <p:nvSpPr>
          <p:cNvPr id="15" name="TextBox 14"/>
          <p:cNvSpPr txBox="1"/>
          <p:nvPr/>
        </p:nvSpPr>
        <p:spPr>
          <a:xfrm>
            <a:off x="8412480" y="1993392"/>
            <a:ext cx="3108960" cy="1783080"/>
          </a:xfrm>
          <a:prstGeom prst="rect">
            <a:avLst/>
          </a:prstGeom>
          <a:noFill/>
        </p:spPr>
        <p:txBody>
          <a:bodyPr wrap="square" anchor="t" lIns="45720" rIns="45720">
            <a:spAutoFit/>
          </a:bodyPr>
          <a:lstStyle/>
          <a:p>
            <a:pPr algn="l">
              <a:spcAft>
                <a:spcPts val="630"/>
              </a:spcAft>
            </a:pPr>
            <a:r>
              <a:rPr sz="1400" b="0">
                <a:solidFill>
                  <a:srgbClr val="1F2937"/>
                </a:solidFill>
                <a:latin typeface="Calibri"/>
              </a:rPr>
              <a:t>Budgets are limited, so programmes must choose whom to help first.</a:t>
            </a:r>
          </a:p>
          <a:p>
            <a:pPr algn="l">
              <a:spcAft>
                <a:spcPts val="630"/>
              </a:spcAft>
            </a:pPr>
            <a:r>
              <a:rPr sz="1400" b="0">
                <a:solidFill>
                  <a:srgbClr val="1F2937"/>
                </a:solidFill>
                <a:latin typeface="Calibri"/>
              </a:rPr>
              <a:t>Machine learning is already used for this. In Togo it reduced the number of poor people left out by 4 to 21% compared with targeting by geography (Aiken et al., 2022).</a:t>
            </a:r>
          </a:p>
        </p:txBody>
      </p:sp>
      <p:sp>
        <p:nvSpPr>
          <p:cNvPr id="16" name="Rounded Rectangle 15"/>
          <p:cNvSpPr/>
          <p:nvPr/>
        </p:nvSpPr>
        <p:spPr>
          <a:xfrm>
            <a:off x="548640" y="4023360"/>
            <a:ext cx="11155680" cy="2194560"/>
          </a:xfrm>
          <a:prstGeom prst="roundRect">
            <a:avLst>
              <a:gd name="adj" fmla="val 6000"/>
            </a:avLst>
          </a:prstGeom>
          <a:solidFill>
            <a:srgbClr val="FFFFFF"/>
          </a:solidFill>
          <a:ln>
            <a:solidFill>
              <a:srgbClr val="E3DE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133088"/>
            <a:ext cx="10789920" cy="411480"/>
          </a:xfrm>
          <a:prstGeom prst="rect">
            <a:avLst/>
          </a:prstGeom>
          <a:noFill/>
        </p:spPr>
        <p:txBody>
          <a:bodyPr wrap="square" anchor="t" lIns="45720" rIns="45720">
            <a:spAutoFit/>
          </a:bodyPr>
          <a:lstStyle/>
          <a:p>
            <a:pPr algn="l">
              <a:spcAft>
                <a:spcPts val="765"/>
              </a:spcAft>
            </a:pPr>
            <a:r>
              <a:rPr sz="1700" b="1">
                <a:solidFill>
                  <a:srgbClr val="0F6E6A"/>
                </a:solidFill>
                <a:latin typeface="Calibri"/>
              </a:rPr>
              <a:t>Sustainable development goals</a:t>
            </a:r>
          </a:p>
        </p:txBody>
      </p:sp>
      <p:sp>
        <p:nvSpPr>
          <p:cNvPr id="18" name="TextBox 17"/>
          <p:cNvSpPr txBox="1"/>
          <p:nvPr/>
        </p:nvSpPr>
        <p:spPr>
          <a:xfrm>
            <a:off x="731520" y="4553712"/>
            <a:ext cx="10789920" cy="1600200"/>
          </a:xfrm>
          <a:prstGeom prst="rect">
            <a:avLst/>
          </a:prstGeom>
          <a:noFill/>
        </p:spPr>
        <p:txBody>
          <a:bodyPr wrap="square" anchor="t" lIns="45720" rIns="45720">
            <a:spAutoFit/>
          </a:bodyPr>
          <a:lstStyle/>
          <a:p>
            <a:pPr algn="l">
              <a:spcAft>
                <a:spcPts val="675"/>
              </a:spcAft>
            </a:pPr>
            <a:r>
              <a:rPr sz="1500" b="0">
                <a:solidFill>
                  <a:srgbClr val="1F2937"/>
                </a:solidFill>
                <a:latin typeface="Calibri"/>
              </a:rPr>
              <a:t>Our work supports SDG 1 (No Poverty), whose target 1.2 is to reduce poverty according to national definitions. We measure the money side of poverty, through household spending.</a:t>
            </a:r>
          </a:p>
          <a:p>
            <a:pPr algn="l">
              <a:spcAft>
                <a:spcPts val="675"/>
              </a:spcAft>
            </a:pPr>
            <a:r>
              <a:rPr sz="1500" b="0">
                <a:solidFill>
                  <a:srgbClr val="1F2937"/>
                </a:solidFill>
                <a:latin typeface="Calibri"/>
              </a:rPr>
              <a:t>It also supports SDG 10 (Reduced Inequalities), whose target 10.2 is to include all people, whatever their sex, origin, religion or other status. We use caste, religion and state as inputs so that differences between groups can be seen.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7F0"/>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F6E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8229600" cy="365760"/>
          </a:xfrm>
          <a:prstGeom prst="rect">
            <a:avLst/>
          </a:prstGeom>
          <a:noFill/>
        </p:spPr>
        <p:txBody>
          <a:bodyPr wrap="square" anchor="t" lIns="45720" rIns="45720">
            <a:spAutoFit/>
          </a:bodyPr>
          <a:lstStyle/>
          <a:p>
            <a:pPr algn="l">
              <a:spcAft>
                <a:spcPts val="540"/>
              </a:spcAft>
            </a:pPr>
            <a:r>
              <a:rPr sz="1200" b="1">
                <a:solidFill>
                  <a:srgbClr val="0F6E6A"/>
                </a:solidFill>
                <a:latin typeface="Calibri"/>
              </a:rPr>
              <a:t>1. PROBLEM AND USE CASE</a:t>
            </a:r>
          </a:p>
        </p:txBody>
      </p:sp>
      <p:sp>
        <p:nvSpPr>
          <p:cNvPr id="4" name="Rounded Rectangle 3"/>
          <p:cNvSpPr/>
          <p:nvPr/>
        </p:nvSpPr>
        <p:spPr>
          <a:xfrm>
            <a:off x="9966960" y="292608"/>
            <a:ext cx="1920240" cy="384048"/>
          </a:xfrm>
          <a:prstGeom prst="roundRect">
            <a:avLst>
              <a:gd name="adj" fmla="val 50000"/>
            </a:avLst>
          </a:prstGeom>
          <a:solidFill>
            <a:srgbClr val="E6F2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0F6E6A"/>
                </a:solidFill>
                <a:latin typeface="Calibri"/>
              </a:rPr>
              <a:t>Presenter: Anhad</a:t>
            </a:r>
          </a:p>
        </p:txBody>
      </p:sp>
      <p:sp>
        <p:nvSpPr>
          <p:cNvPr id="5" name="TextBox 4"/>
          <p:cNvSpPr txBox="1"/>
          <p:nvPr/>
        </p:nvSpPr>
        <p:spPr>
          <a:xfrm>
            <a:off x="548640" y="594360"/>
            <a:ext cx="11155680" cy="731520"/>
          </a:xfrm>
          <a:prstGeom prst="rect">
            <a:avLst/>
          </a:prstGeom>
          <a:noFill/>
        </p:spPr>
        <p:txBody>
          <a:bodyPr wrap="square" anchor="t" lIns="45720" rIns="45720">
            <a:spAutoFit/>
          </a:bodyPr>
          <a:lstStyle/>
          <a:p>
            <a:pPr algn="l">
              <a:spcAft>
                <a:spcPts val="1170"/>
              </a:spcAft>
            </a:pPr>
            <a:r>
              <a:rPr sz="2600" b="1">
                <a:solidFill>
                  <a:srgbClr val="1F2937"/>
                </a:solidFill>
                <a:latin typeface="Calibri"/>
              </a:rPr>
              <a:t>From the registered idea to this project</a:t>
            </a:r>
          </a:p>
        </p:txBody>
      </p:sp>
      <p:sp>
        <p:nvSpPr>
          <p:cNvPr id="6" name="TextBox 5"/>
          <p:cNvSpPr txBox="1"/>
          <p:nvPr/>
        </p:nvSpPr>
        <p:spPr>
          <a:xfrm>
            <a:off x="11247120" y="6400800"/>
            <a:ext cx="731520" cy="320040"/>
          </a:xfrm>
          <a:prstGeom prst="rect">
            <a:avLst/>
          </a:prstGeom>
          <a:noFill/>
        </p:spPr>
        <p:txBody>
          <a:bodyPr wrap="square" anchor="t" lIns="45720" rIns="45720">
            <a:spAutoFit/>
          </a:bodyPr>
          <a:lstStyle/>
          <a:p>
            <a:pPr algn="r">
              <a:spcAft>
                <a:spcPts val="495"/>
              </a:spcAft>
            </a:pPr>
            <a:r>
              <a:rPr sz="1100" b="0">
                <a:solidFill>
                  <a:srgbClr val="5B6470"/>
                </a:solidFill>
                <a:latin typeface="Calibri"/>
              </a:rPr>
              <a:t>6</a:t>
            </a:r>
          </a:p>
        </p:txBody>
      </p:sp>
      <p:sp>
        <p:nvSpPr>
          <p:cNvPr id="7" name="Rounded Rectangle 6"/>
          <p:cNvSpPr/>
          <p:nvPr/>
        </p:nvSpPr>
        <p:spPr>
          <a:xfrm>
            <a:off x="548640" y="1463040"/>
            <a:ext cx="5394960" cy="3017520"/>
          </a:xfrm>
          <a:prstGeom prst="roundRect">
            <a:avLst>
              <a:gd name="adj" fmla="val 6000"/>
            </a:avLst>
          </a:prstGeom>
          <a:solidFill>
            <a:srgbClr val="FFFFFF"/>
          </a:solidFill>
          <a:ln>
            <a:solidFill>
              <a:srgbClr val="E3DE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572768"/>
            <a:ext cx="5029200" cy="411480"/>
          </a:xfrm>
          <a:prstGeom prst="rect">
            <a:avLst/>
          </a:prstGeom>
          <a:noFill/>
        </p:spPr>
        <p:txBody>
          <a:bodyPr wrap="square" anchor="t" lIns="45720" rIns="45720">
            <a:spAutoFit/>
          </a:bodyPr>
          <a:lstStyle/>
          <a:p>
            <a:pPr algn="l">
              <a:spcAft>
                <a:spcPts val="765"/>
              </a:spcAft>
            </a:pPr>
            <a:r>
              <a:rPr sz="1700" b="1">
                <a:solidFill>
                  <a:srgbClr val="0F6E6A"/>
                </a:solidFill>
                <a:latin typeface="Calibri"/>
              </a:rPr>
              <a:t>What we registered</a:t>
            </a:r>
          </a:p>
        </p:txBody>
      </p:sp>
      <p:sp>
        <p:nvSpPr>
          <p:cNvPr id="9" name="TextBox 8"/>
          <p:cNvSpPr txBox="1"/>
          <p:nvPr/>
        </p:nvSpPr>
        <p:spPr>
          <a:xfrm>
            <a:off x="731520" y="1993392"/>
            <a:ext cx="5029200" cy="2423160"/>
          </a:xfrm>
          <a:prstGeom prst="rect">
            <a:avLst/>
          </a:prstGeom>
          <a:noFill/>
        </p:spPr>
        <p:txBody>
          <a:bodyPr wrap="square" anchor="t" lIns="45720" rIns="45720">
            <a:spAutoFit/>
          </a:bodyPr>
          <a:lstStyle/>
          <a:p>
            <a:pPr algn="l">
              <a:spcAft>
                <a:spcPts val="750"/>
              </a:spcAft>
            </a:pPr>
            <a:r>
              <a:rPr sz="1500" b="0">
                <a:solidFill>
                  <a:srgbClr val="1F2937"/>
                </a:solidFill>
                <a:latin typeface="Calibri"/>
              </a:rPr>
              <a:t>Take households that were poor in the first survey round and predict whether they had crossed the poverty line by the second round.</a:t>
            </a:r>
          </a:p>
          <a:p>
            <a:pPr algn="l">
              <a:spcAft>
                <a:spcPts val="750"/>
              </a:spcAft>
            </a:pPr>
            <a:r>
              <a:rPr sz="1500" b="0">
                <a:solidFill>
                  <a:srgbClr val="1F2937"/>
                </a:solidFill>
                <a:latin typeface="Calibri"/>
              </a:rPr>
              <a:t>Compare Logistic Regression, Random Forest and XGBoost.</a:t>
            </a:r>
          </a:p>
          <a:p>
            <a:pPr algn="l">
              <a:spcAft>
                <a:spcPts val="750"/>
              </a:spcAft>
            </a:pPr>
            <a:r>
              <a:rPr sz="1500" b="0">
                <a:solidFill>
                  <a:srgbClr val="1F2937"/>
                </a:solidFill>
                <a:latin typeface="Calibri"/>
              </a:rPr>
              <a:t>Rank the factors with SHAP, and optionally add a small propensity-score analysis.</a:t>
            </a:r>
          </a:p>
        </p:txBody>
      </p:sp>
      <p:sp>
        <p:nvSpPr>
          <p:cNvPr id="10" name="Rounded Rectangle 9"/>
          <p:cNvSpPr/>
          <p:nvPr/>
        </p:nvSpPr>
        <p:spPr>
          <a:xfrm>
            <a:off x="6217920" y="1463040"/>
            <a:ext cx="5486400" cy="3017520"/>
          </a:xfrm>
          <a:prstGeom prst="roundRect">
            <a:avLst>
              <a:gd name="adj" fmla="val 6000"/>
            </a:avLst>
          </a:prstGeom>
          <a:solidFill>
            <a:srgbClr val="FFFFFF"/>
          </a:solidFill>
          <a:ln>
            <a:solidFill>
              <a:srgbClr val="E3DE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1572768"/>
            <a:ext cx="5120640" cy="411480"/>
          </a:xfrm>
          <a:prstGeom prst="rect">
            <a:avLst/>
          </a:prstGeom>
          <a:noFill/>
        </p:spPr>
        <p:txBody>
          <a:bodyPr wrap="square" anchor="t" lIns="45720" rIns="45720">
            <a:spAutoFit/>
          </a:bodyPr>
          <a:lstStyle/>
          <a:p>
            <a:pPr algn="l">
              <a:spcAft>
                <a:spcPts val="765"/>
              </a:spcAft>
            </a:pPr>
            <a:r>
              <a:rPr sz="1700" b="1">
                <a:solidFill>
                  <a:srgbClr val="0F6E6A"/>
                </a:solidFill>
                <a:latin typeface="Calibri"/>
              </a:rPr>
              <a:t>What we delivered and improved</a:t>
            </a:r>
          </a:p>
        </p:txBody>
      </p:sp>
      <p:sp>
        <p:nvSpPr>
          <p:cNvPr id="12" name="TextBox 11"/>
          <p:cNvSpPr txBox="1"/>
          <p:nvPr/>
        </p:nvSpPr>
        <p:spPr>
          <a:xfrm>
            <a:off x="6400800" y="1993392"/>
            <a:ext cx="5120640" cy="2423160"/>
          </a:xfrm>
          <a:prstGeom prst="rect">
            <a:avLst/>
          </a:prstGeom>
          <a:noFill/>
        </p:spPr>
        <p:txBody>
          <a:bodyPr wrap="square" anchor="t" lIns="45720" rIns="45720">
            <a:spAutoFit/>
          </a:bodyPr>
          <a:lstStyle/>
          <a:p>
            <a:pPr algn="l">
              <a:spcAft>
                <a:spcPts val="750"/>
              </a:spcAft>
            </a:pPr>
            <a:r>
              <a:rPr sz="1500" b="0">
                <a:solidFill>
                  <a:srgbClr val="1F2937"/>
                </a:solidFill>
                <a:latin typeface="Calibri"/>
              </a:rPr>
              <a:t>We did all of this and added an ensemble model.</a:t>
            </a:r>
          </a:p>
          <a:p>
            <a:pPr algn="l">
              <a:spcAft>
                <a:spcPts val="750"/>
              </a:spcAft>
            </a:pPr>
            <a:r>
              <a:rPr sz="1500" b="0">
                <a:solidFill>
                  <a:srgbClr val="1F2937"/>
                </a:solidFill>
                <a:latin typeface="Calibri"/>
              </a:rPr>
              <a:t>We used one poverty line, the Tendulkar line, in both rounds.</a:t>
            </a:r>
          </a:p>
          <a:p>
            <a:pPr algn="l">
              <a:spcAft>
                <a:spcPts val="750"/>
              </a:spcAft>
            </a:pPr>
            <a:r>
              <a:rPr sz="1500" b="0">
                <a:solidFill>
                  <a:srgbClr val="1F2937"/>
                </a:solidFill>
                <a:latin typeface="Calibri"/>
              </a:rPr>
              <a:t>We tested on whole villages that the models had never seen.</a:t>
            </a:r>
          </a:p>
          <a:p>
            <a:pPr algn="l">
              <a:spcAft>
                <a:spcPts val="750"/>
              </a:spcAft>
            </a:pPr>
            <a:r>
              <a:rPr sz="1500" b="0">
                <a:solidFill>
                  <a:srgbClr val="1F2937"/>
                </a:solidFill>
                <a:latin typeface="Calibri"/>
              </a:rPr>
              <a:t>We checked that fewer features work almost as well, and we built a working demo app.</a:t>
            </a:r>
          </a:p>
        </p:txBody>
      </p:sp>
      <p:sp>
        <p:nvSpPr>
          <p:cNvPr id="13" name="Rounded Rectangle 12"/>
          <p:cNvSpPr/>
          <p:nvPr/>
        </p:nvSpPr>
        <p:spPr>
          <a:xfrm>
            <a:off x="548640" y="4754880"/>
            <a:ext cx="11155680" cy="1371600"/>
          </a:xfrm>
          <a:prstGeom prst="roundRect">
            <a:avLst>
              <a:gd name="adj" fmla="val 6000"/>
            </a:avLst>
          </a:prstGeom>
          <a:solidFill>
            <a:srgbClr val="E6F2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4754880"/>
            <a:ext cx="10789920" cy="1371600"/>
          </a:xfrm>
          <a:prstGeom prst="rect">
            <a:avLst/>
          </a:prstGeom>
          <a:noFill/>
        </p:spPr>
        <p:txBody>
          <a:bodyPr wrap="square" anchor="ctr" lIns="45720" rIns="45720">
            <a:spAutoFit/>
          </a:bodyPr>
          <a:lstStyle/>
          <a:p>
            <a:pPr algn="l">
              <a:spcAft>
                <a:spcPts val="320"/>
              </a:spcAft>
            </a:pPr>
            <a:r>
              <a:rPr sz="1600" b="1">
                <a:solidFill>
                  <a:srgbClr val="0F6E6A"/>
                </a:solidFill>
                <a:latin typeface="Calibri"/>
              </a:rPr>
              <a:t>The project covers poor households in 2004-05 that we could follow up to 2011-12. It predicts risk and shows patterns. It does not prove what causes a household to escape.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7F0"/>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F6E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8229600" cy="365760"/>
          </a:xfrm>
          <a:prstGeom prst="rect">
            <a:avLst/>
          </a:prstGeom>
          <a:noFill/>
        </p:spPr>
        <p:txBody>
          <a:bodyPr wrap="square" anchor="t" lIns="45720" rIns="45720">
            <a:spAutoFit/>
          </a:bodyPr>
          <a:lstStyle/>
          <a:p>
            <a:pPr algn="l">
              <a:spcAft>
                <a:spcPts val="540"/>
              </a:spcAft>
            </a:pPr>
            <a:r>
              <a:rPr sz="1200" b="1">
                <a:solidFill>
                  <a:srgbClr val="0F6E6A"/>
                </a:solidFill>
                <a:latin typeface="Calibri"/>
              </a:rPr>
              <a:t>2. LITERATURE REVIEW</a:t>
            </a:r>
          </a:p>
        </p:txBody>
      </p:sp>
      <p:sp>
        <p:nvSpPr>
          <p:cNvPr id="4" name="Rounded Rectangle 3"/>
          <p:cNvSpPr/>
          <p:nvPr/>
        </p:nvSpPr>
        <p:spPr>
          <a:xfrm>
            <a:off x="9966960" y="292608"/>
            <a:ext cx="1920240" cy="384048"/>
          </a:xfrm>
          <a:prstGeom prst="roundRect">
            <a:avLst>
              <a:gd name="adj" fmla="val 50000"/>
            </a:avLst>
          </a:prstGeom>
          <a:solidFill>
            <a:srgbClr val="E6F2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0F6E6A"/>
                </a:solidFill>
                <a:latin typeface="Calibri"/>
              </a:rPr>
              <a:t>Presenter: Anhad</a:t>
            </a:r>
          </a:p>
        </p:txBody>
      </p:sp>
      <p:sp>
        <p:nvSpPr>
          <p:cNvPr id="5" name="TextBox 4"/>
          <p:cNvSpPr txBox="1"/>
          <p:nvPr/>
        </p:nvSpPr>
        <p:spPr>
          <a:xfrm>
            <a:off x="548640" y="594360"/>
            <a:ext cx="11155680" cy="731520"/>
          </a:xfrm>
          <a:prstGeom prst="rect">
            <a:avLst/>
          </a:prstGeom>
          <a:noFill/>
        </p:spPr>
        <p:txBody>
          <a:bodyPr wrap="square" anchor="t" lIns="45720" rIns="45720">
            <a:spAutoFit/>
          </a:bodyPr>
          <a:lstStyle/>
          <a:p>
            <a:pPr algn="l">
              <a:spcAft>
                <a:spcPts val="1170"/>
              </a:spcAft>
            </a:pPr>
            <a:r>
              <a:rPr sz="2600" b="1">
                <a:solidFill>
                  <a:srgbClr val="1F2937"/>
                </a:solidFill>
                <a:latin typeface="Calibri"/>
              </a:rPr>
              <a:t>What earlier studies found</a:t>
            </a:r>
          </a:p>
        </p:txBody>
      </p:sp>
      <p:sp>
        <p:nvSpPr>
          <p:cNvPr id="6" name="TextBox 5"/>
          <p:cNvSpPr txBox="1"/>
          <p:nvPr/>
        </p:nvSpPr>
        <p:spPr>
          <a:xfrm>
            <a:off x="11247120" y="6400800"/>
            <a:ext cx="731520" cy="320040"/>
          </a:xfrm>
          <a:prstGeom prst="rect">
            <a:avLst/>
          </a:prstGeom>
          <a:noFill/>
        </p:spPr>
        <p:txBody>
          <a:bodyPr wrap="square" anchor="t" lIns="45720" rIns="45720">
            <a:spAutoFit/>
          </a:bodyPr>
          <a:lstStyle/>
          <a:p>
            <a:pPr algn="r">
              <a:spcAft>
                <a:spcPts val="495"/>
              </a:spcAft>
            </a:pPr>
            <a:r>
              <a:rPr sz="1100" b="0">
                <a:solidFill>
                  <a:srgbClr val="5B6470"/>
                </a:solidFill>
                <a:latin typeface="Calibri"/>
              </a:rPr>
              <a:t>7</a:t>
            </a:r>
          </a:p>
        </p:txBody>
      </p:sp>
      <p:graphicFrame>
        <p:nvGraphicFramePr>
          <p:cNvPr id="7" name="Table 6"/>
          <p:cNvGraphicFramePr>
            <a:graphicFrameLocks noGrp="1"/>
          </p:cNvGraphicFramePr>
          <p:nvPr/>
        </p:nvGraphicFramePr>
        <p:xfrm>
          <a:off x="548640" y="1371600"/>
          <a:ext cx="11155680" cy="4389120"/>
        </p:xfrm>
        <a:graphic>
          <a:graphicData uri="http://schemas.openxmlformats.org/drawingml/2006/table">
            <a:tbl>
              <a:tblPr firstRow="1" bandRow="1">
                <a:tableStyleId>{5C22544A-7EE6-4342-B048-85BDC9FD1C3A}</a:tableStyleId>
              </a:tblPr>
              <a:tblGrid>
                <a:gridCol w="2468880"/>
                <a:gridCol w="5669280"/>
                <a:gridCol w="3017520"/>
              </a:tblGrid>
              <a:tr h="731520">
                <a:tc>
                  <a:txBody>
                    <a:bodyPr/>
                    <a:lstStyle/>
                    <a:p>
                      <a:pPr algn="l"/>
                      <a:r>
                        <a:rPr sz="1400" b="1">
                          <a:solidFill>
                            <a:srgbClr val="FFFFFF"/>
                          </a:solidFill>
                          <a:latin typeface="Calibri"/>
                        </a:rPr>
                        <a:t>Study</a:t>
                      </a:r>
                    </a:p>
                  </a:txBody>
                  <a:tcPr marT="45720" marB="45720" anchor="ctr">
                    <a:solidFill>
                      <a:srgbClr val="0F6E6A"/>
                    </a:solidFill>
                  </a:tcPr>
                </a:tc>
                <a:tc>
                  <a:txBody>
                    <a:bodyPr/>
                    <a:lstStyle/>
                    <a:p>
                      <a:pPr algn="l"/>
                      <a:r>
                        <a:rPr sz="1400" b="1">
                          <a:solidFill>
                            <a:srgbClr val="FFFFFF"/>
                          </a:solidFill>
                          <a:latin typeface="Calibri"/>
                        </a:rPr>
                        <a:t>Main finding</a:t>
                      </a:r>
                    </a:p>
                  </a:txBody>
                  <a:tcPr marT="45720" marB="45720" anchor="ctr">
                    <a:solidFill>
                      <a:srgbClr val="0F6E6A"/>
                    </a:solidFill>
                  </a:tcPr>
                </a:tc>
                <a:tc>
                  <a:txBody>
                    <a:bodyPr/>
                    <a:lstStyle/>
                    <a:p>
                      <a:pPr algn="l"/>
                      <a:r>
                        <a:rPr sz="1400" b="1">
                          <a:solidFill>
                            <a:srgbClr val="FFFFFF"/>
                          </a:solidFill>
                          <a:latin typeface="Calibri"/>
                        </a:rPr>
                        <a:t>How it connects to our project</a:t>
                      </a:r>
                    </a:p>
                  </a:txBody>
                  <a:tcPr marT="45720" marB="45720" anchor="ctr">
                    <a:solidFill>
                      <a:srgbClr val="0F6E6A"/>
                    </a:solidFill>
                  </a:tcPr>
                </a:tc>
              </a:tr>
              <a:tr h="731520">
                <a:tc>
                  <a:txBody>
                    <a:bodyPr/>
                    <a:lstStyle/>
                    <a:p>
                      <a:pPr algn="l"/>
                      <a:r>
                        <a:rPr sz="1400" b="1">
                          <a:solidFill>
                            <a:srgbClr val="1F2937"/>
                          </a:solidFill>
                          <a:latin typeface="Calibri"/>
                        </a:rPr>
                        <a:t>Krishna (2004)</a:t>
                      </a:r>
                    </a:p>
                  </a:txBody>
                  <a:tcPr marT="45720" marB="45720" anchor="ctr">
                    <a:solidFill>
                      <a:srgbClr val="FFFFFF"/>
                    </a:solidFill>
                  </a:tcPr>
                </a:tc>
                <a:tc>
                  <a:txBody>
                    <a:bodyPr/>
                    <a:lstStyle/>
                    <a:p>
                      <a:pPr algn="l"/>
                      <a:r>
                        <a:rPr sz="1400" b="0">
                          <a:solidFill>
                            <a:srgbClr val="1F2937"/>
                          </a:solidFill>
                          <a:latin typeface="Calibri"/>
                        </a:rPr>
                        <a:t>A study of 35 Rajasthan villages: 11.1% of households escaped poverty and 7.9% fell into it.</a:t>
                      </a:r>
                    </a:p>
                  </a:txBody>
                  <a:tcPr marT="45720" marB="45720" anchor="ctr">
                    <a:solidFill>
                      <a:srgbClr val="FFFFFF"/>
                    </a:solidFill>
                  </a:tcPr>
                </a:tc>
                <a:tc>
                  <a:txBody>
                    <a:bodyPr/>
                    <a:lstStyle/>
                    <a:p>
                      <a:pPr algn="l"/>
                      <a:r>
                        <a:rPr sz="1400" b="0">
                          <a:solidFill>
                            <a:srgbClr val="1F2937"/>
                          </a:solidFill>
                          <a:latin typeface="Calibri"/>
                        </a:rPr>
                        <a:t>It shows why escape is worth studying by itself.</a:t>
                      </a:r>
                    </a:p>
                  </a:txBody>
                  <a:tcPr marT="45720" marB="45720" anchor="ctr">
                    <a:solidFill>
                      <a:srgbClr val="FFFFFF"/>
                    </a:solidFill>
                  </a:tcPr>
                </a:tc>
              </a:tr>
              <a:tr h="731520">
                <a:tc>
                  <a:txBody>
                    <a:bodyPr/>
                    <a:lstStyle/>
                    <a:p>
                      <a:pPr algn="l"/>
                      <a:r>
                        <a:rPr sz="1400" b="1">
                          <a:solidFill>
                            <a:srgbClr val="1F2937"/>
                          </a:solidFill>
                          <a:latin typeface="Calibri"/>
                        </a:rPr>
                        <a:t>Thorat et al. (2017)</a:t>
                      </a:r>
                    </a:p>
                  </a:txBody>
                  <a:tcPr marT="45720" marB="45720" anchor="ctr">
                    <a:solidFill>
                      <a:srgbClr val="FFFFFF"/>
                    </a:solidFill>
                  </a:tcPr>
                </a:tc>
                <a:tc>
                  <a:txBody>
                    <a:bodyPr/>
                    <a:lstStyle/>
                    <a:p>
                      <a:pPr algn="l"/>
                      <a:r>
                        <a:rPr sz="1400" b="0">
                          <a:solidFill>
                            <a:srgbClr val="1F2937"/>
                          </a:solidFill>
                          <a:latin typeface="Calibri"/>
                        </a:rPr>
                        <a:t>Same survey as ours: about 65% of poor households in 2005 had escaped by 2012. Adivasi households escaped least.</a:t>
                      </a:r>
                    </a:p>
                  </a:txBody>
                  <a:tcPr marT="45720" marB="45720" anchor="ctr">
                    <a:solidFill>
                      <a:srgbClr val="FFFFFF"/>
                    </a:solidFill>
                  </a:tcPr>
                </a:tc>
                <a:tc>
                  <a:txBody>
                    <a:bodyPr/>
                    <a:lstStyle/>
                    <a:p>
                      <a:pPr algn="l"/>
                      <a:r>
                        <a:rPr sz="1400" b="0">
                          <a:solidFill>
                            <a:srgbClr val="1F2937"/>
                          </a:solidFill>
                          <a:latin typeface="Calibri"/>
                        </a:rPr>
                        <a:t>A good benchmark. Our escape rate is 69%.</a:t>
                      </a:r>
                    </a:p>
                  </a:txBody>
                  <a:tcPr marT="45720" marB="45720" anchor="ctr">
                    <a:solidFill>
                      <a:srgbClr val="FFFFFF"/>
                    </a:solidFill>
                  </a:tcPr>
                </a:tc>
              </a:tr>
              <a:tr h="731520">
                <a:tc>
                  <a:txBody>
                    <a:bodyPr/>
                    <a:lstStyle/>
                    <a:p>
                      <a:pPr algn="l"/>
                      <a:r>
                        <a:rPr sz="1400" b="1">
                          <a:solidFill>
                            <a:srgbClr val="1F2937"/>
                          </a:solidFill>
                          <a:latin typeface="Calibri"/>
                        </a:rPr>
                        <a:t>Narendranath et al. (2018)</a:t>
                      </a:r>
                    </a:p>
                  </a:txBody>
                  <a:tcPr marT="45720" marB="45720" anchor="ctr">
                    <a:solidFill>
                      <a:srgbClr val="FFFFFF"/>
                    </a:solidFill>
                  </a:tcPr>
                </a:tc>
                <a:tc>
                  <a:txBody>
                    <a:bodyPr/>
                    <a:lstStyle/>
                    <a:p>
                      <a:pPr algn="l"/>
                      <a:r>
                        <a:rPr sz="1400" b="0">
                          <a:solidFill>
                            <a:srgbClr val="1F2937"/>
                          </a:solidFill>
                          <a:latin typeface="Calibri"/>
                        </a:rPr>
                        <a:t>Used machine learning on the same survey.</a:t>
                      </a:r>
                    </a:p>
                  </a:txBody>
                  <a:tcPr marT="45720" marB="45720" anchor="ctr">
                    <a:solidFill>
                      <a:srgbClr val="FFFFFF"/>
                    </a:solidFill>
                  </a:tcPr>
                </a:tc>
                <a:tc>
                  <a:txBody>
                    <a:bodyPr/>
                    <a:lstStyle/>
                    <a:p>
                      <a:pPr algn="l"/>
                      <a:r>
                        <a:rPr sz="1400" b="0">
                          <a:solidFill>
                            <a:srgbClr val="1F2937"/>
                          </a:solidFill>
                          <a:latin typeface="Calibri"/>
                        </a:rPr>
                        <a:t>The closest earlier work.</a:t>
                      </a:r>
                    </a:p>
                  </a:txBody>
                  <a:tcPr marT="45720" marB="45720" anchor="ctr">
                    <a:solidFill>
                      <a:srgbClr val="FFFFFF"/>
                    </a:solidFill>
                  </a:tcPr>
                </a:tc>
              </a:tr>
              <a:tr h="731520">
                <a:tc>
                  <a:txBody>
                    <a:bodyPr/>
                    <a:lstStyle/>
                    <a:p>
                      <a:pPr algn="l"/>
                      <a:r>
                        <a:rPr sz="1400" b="1">
                          <a:solidFill>
                            <a:srgbClr val="1F2937"/>
                          </a:solidFill>
                          <a:latin typeface="Calibri"/>
                        </a:rPr>
                        <a:t>McBride and Nichols (2018)</a:t>
                      </a:r>
                    </a:p>
                  </a:txBody>
                  <a:tcPr marT="45720" marB="45720" anchor="ctr">
                    <a:solidFill>
                      <a:srgbClr val="FFFFFF"/>
                    </a:solidFill>
                  </a:tcPr>
                </a:tc>
                <a:tc>
                  <a:txBody>
                    <a:bodyPr/>
                    <a:lstStyle/>
                    <a:p>
                      <a:pPr algn="l"/>
                      <a:r>
                        <a:rPr sz="1400" b="0">
                          <a:solidFill>
                            <a:srgbClr val="1F2937"/>
                          </a:solidFill>
                          <a:latin typeface="Calibri"/>
                        </a:rPr>
                        <a:t>Testing on data the model has not seen, and combining models, improve poverty targeting tools.</a:t>
                      </a:r>
                    </a:p>
                  </a:txBody>
                  <a:tcPr marT="45720" marB="45720" anchor="ctr">
                    <a:solidFill>
                      <a:srgbClr val="FFFFFF"/>
                    </a:solidFill>
                  </a:tcPr>
                </a:tc>
                <a:tc>
                  <a:txBody>
                    <a:bodyPr/>
                    <a:lstStyle/>
                    <a:p>
                      <a:pPr algn="l"/>
                      <a:r>
                        <a:rPr sz="1400" b="0">
                          <a:solidFill>
                            <a:srgbClr val="1F2937"/>
                          </a:solidFill>
                          <a:latin typeface="Calibri"/>
                        </a:rPr>
                        <a:t>This is why we test on villages the model has not seen.</a:t>
                      </a:r>
                    </a:p>
                  </a:txBody>
                  <a:tcPr marT="45720" marB="45720" anchor="ctr">
                    <a:solidFill>
                      <a:srgbClr val="FFFFFF"/>
                    </a:solidFill>
                  </a:tcPr>
                </a:tc>
              </a:tr>
              <a:tr h="731520">
                <a:tc>
                  <a:txBody>
                    <a:bodyPr/>
                    <a:lstStyle/>
                    <a:p>
                      <a:pPr algn="l"/>
                      <a:r>
                        <a:rPr sz="1400" b="1">
                          <a:solidFill>
                            <a:srgbClr val="1F2937"/>
                          </a:solidFill>
                          <a:latin typeface="Calibri"/>
                        </a:rPr>
                        <a:t>Aiken et al. (2022)</a:t>
                      </a:r>
                    </a:p>
                  </a:txBody>
                  <a:tcPr marT="45720" marB="45720" anchor="ctr">
                    <a:solidFill>
                      <a:srgbClr val="FFFFFF"/>
                    </a:solidFill>
                  </a:tcPr>
                </a:tc>
                <a:tc>
                  <a:txBody>
                    <a:bodyPr/>
                    <a:lstStyle/>
                    <a:p>
                      <a:pPr algn="l"/>
                      <a:r>
                        <a:rPr sz="1400" b="0">
                          <a:solidFill>
                            <a:srgbClr val="1F2937"/>
                          </a:solidFill>
                          <a:latin typeface="Calibri"/>
                        </a:rPr>
                        <a:t>Machine learning targeted cash aid in Togo and left out fewer poor people.</a:t>
                      </a:r>
                    </a:p>
                  </a:txBody>
                  <a:tcPr marT="45720" marB="45720" anchor="ctr">
                    <a:solidFill>
                      <a:srgbClr val="FFFFFF"/>
                    </a:solidFill>
                  </a:tcPr>
                </a:tc>
                <a:tc>
                  <a:txBody>
                    <a:bodyPr/>
                    <a:lstStyle/>
                    <a:p>
                      <a:pPr algn="l"/>
                      <a:r>
                        <a:rPr sz="1400" b="0">
                          <a:solidFill>
                            <a:srgbClr val="1F2937"/>
                          </a:solidFill>
                          <a:latin typeface="Calibri"/>
                        </a:rPr>
                        <a:t>It shows a real use of this kind of model.</a:t>
                      </a:r>
                    </a:p>
                  </a:txBody>
                  <a:tcPr marT="45720" marB="45720" anchor="ctr">
                    <a:solidFill>
                      <a:srgbClr val="FFFFFF"/>
                    </a:solidFill>
                  </a:tcPr>
                </a:tc>
              </a:tr>
            </a:tbl>
          </a:graphicData>
        </a:graphic>
      </p:graphicFrame>
      <p:sp>
        <p:nvSpPr>
          <p:cNvPr id="8" name="Rounded Rectangle 7"/>
          <p:cNvSpPr/>
          <p:nvPr/>
        </p:nvSpPr>
        <p:spPr>
          <a:xfrm>
            <a:off x="548640" y="5760720"/>
            <a:ext cx="11155680" cy="640080"/>
          </a:xfrm>
          <a:prstGeom prst="roundRect">
            <a:avLst>
              <a:gd name="adj" fmla="val 6000"/>
            </a:avLst>
          </a:prstGeom>
          <a:solidFill>
            <a:srgbClr val="E6F2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5760720"/>
            <a:ext cx="10789920" cy="640080"/>
          </a:xfrm>
          <a:prstGeom prst="rect">
            <a:avLst/>
          </a:prstGeom>
          <a:noFill/>
        </p:spPr>
        <p:txBody>
          <a:bodyPr wrap="square" anchor="ctr" lIns="45720" rIns="45720">
            <a:spAutoFit/>
          </a:bodyPr>
          <a:lstStyle/>
          <a:p>
            <a:pPr algn="l">
              <a:spcAft>
                <a:spcPts val="280"/>
              </a:spcAft>
            </a:pPr>
            <a:r>
              <a:rPr sz="1400" b="1">
                <a:solidFill>
                  <a:srgbClr val="0F6E6A"/>
                </a:solidFill>
                <a:latin typeface="Calibri"/>
              </a:rPr>
              <a:t>We found no accessible study that predicts poverty transitions of households in India and explains its predictions. That is the gap our project fills.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7F0"/>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F6E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8229600" cy="365760"/>
          </a:xfrm>
          <a:prstGeom prst="rect">
            <a:avLst/>
          </a:prstGeom>
          <a:noFill/>
        </p:spPr>
        <p:txBody>
          <a:bodyPr wrap="square" anchor="t" lIns="45720" rIns="45720">
            <a:spAutoFit/>
          </a:bodyPr>
          <a:lstStyle/>
          <a:p>
            <a:pPr algn="l">
              <a:spcAft>
                <a:spcPts val="540"/>
              </a:spcAft>
            </a:pPr>
            <a:r>
              <a:rPr sz="1200" b="1">
                <a:solidFill>
                  <a:srgbClr val="0F6E6A"/>
                </a:solidFill>
                <a:latin typeface="Calibri"/>
              </a:rPr>
              <a:t>3. DATASET AND PREPROCESSING</a:t>
            </a:r>
          </a:p>
        </p:txBody>
      </p:sp>
      <p:sp>
        <p:nvSpPr>
          <p:cNvPr id="4" name="Rounded Rectangle 3"/>
          <p:cNvSpPr/>
          <p:nvPr/>
        </p:nvSpPr>
        <p:spPr>
          <a:xfrm>
            <a:off x="9966960" y="292608"/>
            <a:ext cx="1920240" cy="384048"/>
          </a:xfrm>
          <a:prstGeom prst="roundRect">
            <a:avLst>
              <a:gd name="adj" fmla="val 50000"/>
            </a:avLst>
          </a:prstGeom>
          <a:solidFill>
            <a:srgbClr val="E6F2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0F6E6A"/>
                </a:solidFill>
                <a:latin typeface="Calibri"/>
              </a:rPr>
              <a:t>Presenter: Aman</a:t>
            </a:r>
          </a:p>
        </p:txBody>
      </p:sp>
      <p:sp>
        <p:nvSpPr>
          <p:cNvPr id="5" name="TextBox 4"/>
          <p:cNvSpPr txBox="1"/>
          <p:nvPr/>
        </p:nvSpPr>
        <p:spPr>
          <a:xfrm>
            <a:off x="548640" y="594360"/>
            <a:ext cx="11155680" cy="731520"/>
          </a:xfrm>
          <a:prstGeom prst="rect">
            <a:avLst/>
          </a:prstGeom>
          <a:noFill/>
        </p:spPr>
        <p:txBody>
          <a:bodyPr wrap="square" anchor="t" lIns="45720" rIns="45720">
            <a:spAutoFit/>
          </a:bodyPr>
          <a:lstStyle/>
          <a:p>
            <a:pPr algn="l">
              <a:spcAft>
                <a:spcPts val="1170"/>
              </a:spcAft>
            </a:pPr>
            <a:r>
              <a:rPr sz="2600" b="1">
                <a:solidFill>
                  <a:srgbClr val="1F2937"/>
                </a:solidFill>
                <a:latin typeface="Calibri"/>
              </a:rPr>
              <a:t>We use a survey that visited the same households twice</a:t>
            </a:r>
          </a:p>
        </p:txBody>
      </p:sp>
      <p:sp>
        <p:nvSpPr>
          <p:cNvPr id="6" name="TextBox 5"/>
          <p:cNvSpPr txBox="1"/>
          <p:nvPr/>
        </p:nvSpPr>
        <p:spPr>
          <a:xfrm>
            <a:off x="11247120" y="6400800"/>
            <a:ext cx="731520" cy="320040"/>
          </a:xfrm>
          <a:prstGeom prst="rect">
            <a:avLst/>
          </a:prstGeom>
          <a:noFill/>
        </p:spPr>
        <p:txBody>
          <a:bodyPr wrap="square" anchor="t" lIns="45720" rIns="45720">
            <a:spAutoFit/>
          </a:bodyPr>
          <a:lstStyle/>
          <a:p>
            <a:pPr algn="r">
              <a:spcAft>
                <a:spcPts val="495"/>
              </a:spcAft>
            </a:pPr>
            <a:r>
              <a:rPr sz="1100" b="0">
                <a:solidFill>
                  <a:srgbClr val="5B6470"/>
                </a:solidFill>
                <a:latin typeface="Calibri"/>
              </a:rPr>
              <a:t>8</a:t>
            </a:r>
          </a:p>
        </p:txBody>
      </p:sp>
      <p:sp>
        <p:nvSpPr>
          <p:cNvPr id="7" name="TextBox 6"/>
          <p:cNvSpPr txBox="1"/>
          <p:nvPr/>
        </p:nvSpPr>
        <p:spPr>
          <a:xfrm>
            <a:off x="548640" y="1463040"/>
            <a:ext cx="6035040" cy="4754880"/>
          </a:xfrm>
          <a:prstGeom prst="rect">
            <a:avLst/>
          </a:prstGeom>
          <a:noFill/>
        </p:spPr>
        <p:txBody>
          <a:bodyPr wrap="square" anchor="t" lIns="45720" rIns="45720">
            <a:spAutoFit/>
          </a:bodyPr>
          <a:lstStyle/>
          <a:p>
            <a:pPr algn="l">
              <a:spcAft>
                <a:spcPts val="480"/>
              </a:spcAft>
            </a:pPr>
            <a:r>
              <a:rPr sz="1600" b="1">
                <a:solidFill>
                  <a:srgbClr val="0F6E6A"/>
                </a:solidFill>
                <a:latin typeface="Calibri"/>
              </a:rPr>
              <a:t>About the survey</a:t>
            </a:r>
          </a:p>
          <a:p>
            <a:pPr algn="l">
              <a:spcAft>
                <a:spcPts val="480"/>
              </a:spcAft>
            </a:pPr>
            <a:r>
              <a:rPr sz="1600" b="0">
                <a:solidFill>
                  <a:srgbClr val="1F2937"/>
                </a:solidFill>
                <a:latin typeface="Calibri"/>
              </a:rPr>
              <a:t>The India Human Development Survey (IHDS) was run by the University of Maryland and NCAER. We downloaded it from ICPSR.</a:t>
            </a:r>
          </a:p>
          <a:p>
            <a:pPr algn="l">
              <a:spcAft>
                <a:spcPts val="480"/>
              </a:spcAft>
            </a:pPr>
            <a:r>
              <a:rPr sz="1600" b="1">
                <a:solidFill>
                  <a:srgbClr val="0F6E6A"/>
                </a:solidFill>
                <a:latin typeface="Calibri"/>
              </a:rPr>
              <a:t>What kind of data</a:t>
            </a:r>
          </a:p>
          <a:p>
            <a:pPr algn="l">
              <a:spcAft>
                <a:spcPts val="480"/>
              </a:spcAft>
            </a:pPr>
            <a:r>
              <a:rPr sz="1600" b="0">
                <a:solidFill>
                  <a:srgbClr val="1F2937"/>
                </a:solidFill>
                <a:latin typeface="Calibri"/>
              </a:rPr>
              <a:t>It is panel data: the same households were interviewed in 2004-05 and again in 2011-12. In our data one row is one household, and person records are summarised for each household.</a:t>
            </a:r>
          </a:p>
          <a:p>
            <a:pPr algn="l">
              <a:spcAft>
                <a:spcPts val="480"/>
              </a:spcAft>
            </a:pPr>
            <a:r>
              <a:rPr sz="1600" b="1">
                <a:solidFill>
                  <a:srgbClr val="0F6E6A"/>
                </a:solidFill>
                <a:latin typeface="Calibri"/>
              </a:rPr>
              <a:t>Linking the two rounds</a:t>
            </a:r>
          </a:p>
          <a:p>
            <a:pPr algn="l">
              <a:spcAft>
                <a:spcPts val="480"/>
              </a:spcAft>
            </a:pPr>
            <a:r>
              <a:rPr sz="1600" b="0">
                <a:solidFill>
                  <a:srgbClr val="1F2937"/>
                </a:solidFill>
                <a:latin typeface="Calibri"/>
              </a:rPr>
              <a:t>The second round does not store the old household number, so we rebuilt it. We found 34,643 of the 41,554 households (83.4%) again.</a:t>
            </a:r>
          </a:p>
        </p:txBody>
      </p:sp>
      <p:sp>
        <p:nvSpPr>
          <p:cNvPr id="8" name="Rounded Rectangle 7"/>
          <p:cNvSpPr/>
          <p:nvPr/>
        </p:nvSpPr>
        <p:spPr>
          <a:xfrm>
            <a:off x="6858000" y="1463040"/>
            <a:ext cx="2377440" cy="1234440"/>
          </a:xfrm>
          <a:prstGeom prst="roundRect">
            <a:avLst>
              <a:gd name="adj" fmla="val 6000"/>
            </a:avLst>
          </a:prstGeom>
          <a:solidFill>
            <a:srgbClr val="FFFFFF"/>
          </a:solidFill>
          <a:ln>
            <a:solidFill>
              <a:srgbClr val="E3DE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0" y="1554480"/>
            <a:ext cx="2377440" cy="594360"/>
          </a:xfrm>
          <a:prstGeom prst="rect">
            <a:avLst/>
          </a:prstGeom>
          <a:noFill/>
        </p:spPr>
        <p:txBody>
          <a:bodyPr wrap="square" anchor="t" lIns="45720" rIns="45720">
            <a:spAutoFit/>
          </a:bodyPr>
          <a:lstStyle/>
          <a:p>
            <a:pPr algn="ctr">
              <a:spcAft>
                <a:spcPts val="1350"/>
              </a:spcAft>
            </a:pPr>
            <a:r>
              <a:rPr sz="3000" b="1">
                <a:solidFill>
                  <a:srgbClr val="0F6E6A"/>
                </a:solidFill>
                <a:latin typeface="Calibri"/>
              </a:rPr>
              <a:t>41,554</a:t>
            </a:r>
          </a:p>
        </p:txBody>
      </p:sp>
      <p:sp>
        <p:nvSpPr>
          <p:cNvPr id="10" name="TextBox 9"/>
          <p:cNvSpPr txBox="1"/>
          <p:nvPr/>
        </p:nvSpPr>
        <p:spPr>
          <a:xfrm>
            <a:off x="6949440" y="2148840"/>
            <a:ext cx="2194560" cy="502920"/>
          </a:xfrm>
          <a:prstGeom prst="rect">
            <a:avLst/>
          </a:prstGeom>
          <a:noFill/>
        </p:spPr>
        <p:txBody>
          <a:bodyPr wrap="square" anchor="t" lIns="45720" rIns="45720">
            <a:spAutoFit/>
          </a:bodyPr>
          <a:lstStyle/>
          <a:p>
            <a:pPr algn="ctr">
              <a:spcAft>
                <a:spcPts val="585"/>
              </a:spcAft>
            </a:pPr>
            <a:r>
              <a:rPr sz="1300" b="0">
                <a:solidFill>
                  <a:srgbClr val="5B6470"/>
                </a:solidFill>
                <a:latin typeface="Calibri"/>
              </a:rPr>
              <a:t>households in 2004-05</a:t>
            </a:r>
          </a:p>
        </p:txBody>
      </p:sp>
      <p:sp>
        <p:nvSpPr>
          <p:cNvPr id="11" name="Rounded Rectangle 10"/>
          <p:cNvSpPr/>
          <p:nvPr/>
        </p:nvSpPr>
        <p:spPr>
          <a:xfrm>
            <a:off x="9326880" y="1463040"/>
            <a:ext cx="2377440" cy="1234440"/>
          </a:xfrm>
          <a:prstGeom prst="roundRect">
            <a:avLst>
              <a:gd name="adj" fmla="val 6000"/>
            </a:avLst>
          </a:prstGeom>
          <a:solidFill>
            <a:srgbClr val="FFFFFF"/>
          </a:solidFill>
          <a:ln>
            <a:solidFill>
              <a:srgbClr val="E3DE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326880" y="1554480"/>
            <a:ext cx="2377440" cy="594360"/>
          </a:xfrm>
          <a:prstGeom prst="rect">
            <a:avLst/>
          </a:prstGeom>
          <a:noFill/>
        </p:spPr>
        <p:txBody>
          <a:bodyPr wrap="square" anchor="t" lIns="45720" rIns="45720">
            <a:spAutoFit/>
          </a:bodyPr>
          <a:lstStyle/>
          <a:p>
            <a:pPr algn="ctr">
              <a:spcAft>
                <a:spcPts val="1350"/>
              </a:spcAft>
            </a:pPr>
            <a:r>
              <a:rPr sz="3000" b="1">
                <a:solidFill>
                  <a:srgbClr val="0F6E6A"/>
                </a:solidFill>
                <a:latin typeface="Calibri"/>
              </a:rPr>
              <a:t>42,152</a:t>
            </a:r>
          </a:p>
        </p:txBody>
      </p:sp>
      <p:sp>
        <p:nvSpPr>
          <p:cNvPr id="13" name="TextBox 12"/>
          <p:cNvSpPr txBox="1"/>
          <p:nvPr/>
        </p:nvSpPr>
        <p:spPr>
          <a:xfrm>
            <a:off x="9418320" y="2148840"/>
            <a:ext cx="2194560" cy="502920"/>
          </a:xfrm>
          <a:prstGeom prst="rect">
            <a:avLst/>
          </a:prstGeom>
          <a:noFill/>
        </p:spPr>
        <p:txBody>
          <a:bodyPr wrap="square" anchor="t" lIns="45720" rIns="45720">
            <a:spAutoFit/>
          </a:bodyPr>
          <a:lstStyle/>
          <a:p>
            <a:pPr algn="ctr">
              <a:spcAft>
                <a:spcPts val="585"/>
              </a:spcAft>
            </a:pPr>
            <a:r>
              <a:rPr sz="1300" b="0">
                <a:solidFill>
                  <a:srgbClr val="5B6470"/>
                </a:solidFill>
                <a:latin typeface="Calibri"/>
              </a:rPr>
              <a:t>households in 2011-12</a:t>
            </a:r>
          </a:p>
        </p:txBody>
      </p:sp>
      <p:sp>
        <p:nvSpPr>
          <p:cNvPr id="14" name="Rounded Rectangle 13"/>
          <p:cNvSpPr/>
          <p:nvPr/>
        </p:nvSpPr>
        <p:spPr>
          <a:xfrm>
            <a:off x="6858000" y="2880360"/>
            <a:ext cx="2377440" cy="1234440"/>
          </a:xfrm>
          <a:prstGeom prst="roundRect">
            <a:avLst>
              <a:gd name="adj" fmla="val 6000"/>
            </a:avLst>
          </a:prstGeom>
          <a:solidFill>
            <a:srgbClr val="FFFFFF"/>
          </a:solidFill>
          <a:ln>
            <a:solidFill>
              <a:srgbClr val="E3DE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0" y="2971800"/>
            <a:ext cx="2377440" cy="594360"/>
          </a:xfrm>
          <a:prstGeom prst="rect">
            <a:avLst/>
          </a:prstGeom>
          <a:noFill/>
        </p:spPr>
        <p:txBody>
          <a:bodyPr wrap="square" anchor="t" lIns="45720" rIns="45720">
            <a:spAutoFit/>
          </a:bodyPr>
          <a:lstStyle/>
          <a:p>
            <a:pPr algn="ctr">
              <a:spcAft>
                <a:spcPts val="1350"/>
              </a:spcAft>
            </a:pPr>
            <a:r>
              <a:rPr sz="3000" b="1">
                <a:solidFill>
                  <a:srgbClr val="0F6E6A"/>
                </a:solidFill>
                <a:latin typeface="Calibri"/>
              </a:rPr>
              <a:t>215,754</a:t>
            </a:r>
          </a:p>
        </p:txBody>
      </p:sp>
      <p:sp>
        <p:nvSpPr>
          <p:cNvPr id="16" name="TextBox 15"/>
          <p:cNvSpPr txBox="1"/>
          <p:nvPr/>
        </p:nvSpPr>
        <p:spPr>
          <a:xfrm>
            <a:off x="6949440" y="3566160"/>
            <a:ext cx="2194560" cy="502920"/>
          </a:xfrm>
          <a:prstGeom prst="rect">
            <a:avLst/>
          </a:prstGeom>
          <a:noFill/>
        </p:spPr>
        <p:txBody>
          <a:bodyPr wrap="square" anchor="t" lIns="45720" rIns="45720">
            <a:spAutoFit/>
          </a:bodyPr>
          <a:lstStyle/>
          <a:p>
            <a:pPr algn="ctr">
              <a:spcAft>
                <a:spcPts val="585"/>
              </a:spcAft>
            </a:pPr>
            <a:r>
              <a:rPr sz="1300" b="0">
                <a:solidFill>
                  <a:srgbClr val="5B6470"/>
                </a:solidFill>
                <a:latin typeface="Calibri"/>
              </a:rPr>
              <a:t>people in 2004-05</a:t>
            </a:r>
          </a:p>
        </p:txBody>
      </p:sp>
      <p:sp>
        <p:nvSpPr>
          <p:cNvPr id="17" name="Rounded Rectangle 16"/>
          <p:cNvSpPr/>
          <p:nvPr/>
        </p:nvSpPr>
        <p:spPr>
          <a:xfrm>
            <a:off x="9326880" y="2880360"/>
            <a:ext cx="2377440" cy="1234440"/>
          </a:xfrm>
          <a:prstGeom prst="roundRect">
            <a:avLst>
              <a:gd name="adj" fmla="val 6000"/>
            </a:avLst>
          </a:prstGeom>
          <a:solidFill>
            <a:srgbClr val="FFFFFF"/>
          </a:solidFill>
          <a:ln>
            <a:solidFill>
              <a:srgbClr val="E3DE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326880" y="2971800"/>
            <a:ext cx="2377440" cy="594360"/>
          </a:xfrm>
          <a:prstGeom prst="rect">
            <a:avLst/>
          </a:prstGeom>
          <a:noFill/>
        </p:spPr>
        <p:txBody>
          <a:bodyPr wrap="square" anchor="t" lIns="45720" rIns="45720">
            <a:spAutoFit/>
          </a:bodyPr>
          <a:lstStyle/>
          <a:p>
            <a:pPr algn="ctr">
              <a:spcAft>
                <a:spcPts val="1350"/>
              </a:spcAft>
            </a:pPr>
            <a:r>
              <a:rPr sz="3000" b="1">
                <a:solidFill>
                  <a:srgbClr val="C2410C"/>
                </a:solidFill>
                <a:latin typeface="Calibri"/>
              </a:rPr>
              <a:t>11,146</a:t>
            </a:r>
          </a:p>
        </p:txBody>
      </p:sp>
      <p:sp>
        <p:nvSpPr>
          <p:cNvPr id="19" name="TextBox 18"/>
          <p:cNvSpPr txBox="1"/>
          <p:nvPr/>
        </p:nvSpPr>
        <p:spPr>
          <a:xfrm>
            <a:off x="9418320" y="3566160"/>
            <a:ext cx="2194560" cy="502920"/>
          </a:xfrm>
          <a:prstGeom prst="rect">
            <a:avLst/>
          </a:prstGeom>
          <a:noFill/>
        </p:spPr>
        <p:txBody>
          <a:bodyPr wrap="square" anchor="t" lIns="45720" rIns="45720">
            <a:spAutoFit/>
          </a:bodyPr>
          <a:lstStyle/>
          <a:p>
            <a:pPr algn="ctr">
              <a:spcAft>
                <a:spcPts val="585"/>
              </a:spcAft>
            </a:pPr>
            <a:r>
              <a:rPr sz="1300" b="0">
                <a:solidFill>
                  <a:srgbClr val="5B6470"/>
                </a:solidFill>
                <a:latin typeface="Calibri"/>
              </a:rPr>
              <a:t>poor households modelled</a:t>
            </a:r>
          </a:p>
        </p:txBody>
      </p:sp>
      <p:sp>
        <p:nvSpPr>
          <p:cNvPr id="20" name="Rounded Rectangle 19"/>
          <p:cNvSpPr/>
          <p:nvPr/>
        </p:nvSpPr>
        <p:spPr>
          <a:xfrm>
            <a:off x="6858000" y="4343400"/>
            <a:ext cx="4846320" cy="1371600"/>
          </a:xfrm>
          <a:prstGeom prst="roundRect">
            <a:avLst>
              <a:gd name="adj" fmla="val 6000"/>
            </a:avLst>
          </a:prstGeom>
          <a:solidFill>
            <a:srgbClr val="E6F2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040880" y="4343400"/>
            <a:ext cx="4480560" cy="1371600"/>
          </a:xfrm>
          <a:prstGeom prst="rect">
            <a:avLst/>
          </a:prstGeom>
          <a:noFill/>
        </p:spPr>
        <p:txBody>
          <a:bodyPr wrap="square" anchor="ctr" lIns="45720" rIns="45720">
            <a:spAutoFit/>
          </a:bodyPr>
          <a:lstStyle/>
          <a:p>
            <a:pPr algn="l">
              <a:spcAft>
                <a:spcPts val="280"/>
              </a:spcAft>
            </a:pPr>
            <a:r>
              <a:rPr sz="1400" b="1">
                <a:solidFill>
                  <a:srgbClr val="0F6E6A"/>
                </a:solidFill>
                <a:latin typeface="Calibri"/>
              </a:rPr>
              <a:t>The data come under the ICPSR terms of use, so we keep them inside the team.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AF7F0"/>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F6E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8229600" cy="365760"/>
          </a:xfrm>
          <a:prstGeom prst="rect">
            <a:avLst/>
          </a:prstGeom>
          <a:noFill/>
        </p:spPr>
        <p:txBody>
          <a:bodyPr wrap="square" anchor="t" lIns="45720" rIns="45720">
            <a:spAutoFit/>
          </a:bodyPr>
          <a:lstStyle/>
          <a:p>
            <a:pPr algn="l">
              <a:spcAft>
                <a:spcPts val="540"/>
              </a:spcAft>
            </a:pPr>
            <a:r>
              <a:rPr sz="1200" b="1">
                <a:solidFill>
                  <a:srgbClr val="0F6E6A"/>
                </a:solidFill>
                <a:latin typeface="Calibri"/>
              </a:rPr>
              <a:t>3. DATASET AND PREPROCESSING</a:t>
            </a:r>
          </a:p>
        </p:txBody>
      </p:sp>
      <p:sp>
        <p:nvSpPr>
          <p:cNvPr id="4" name="Rounded Rectangle 3"/>
          <p:cNvSpPr/>
          <p:nvPr/>
        </p:nvSpPr>
        <p:spPr>
          <a:xfrm>
            <a:off x="9966960" y="292608"/>
            <a:ext cx="1920240" cy="384048"/>
          </a:xfrm>
          <a:prstGeom prst="roundRect">
            <a:avLst>
              <a:gd name="adj" fmla="val 50000"/>
            </a:avLst>
          </a:prstGeom>
          <a:solidFill>
            <a:srgbClr val="E6F2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0F6E6A"/>
                </a:solidFill>
                <a:latin typeface="Calibri"/>
              </a:rPr>
              <a:t>Presenter: Aman</a:t>
            </a:r>
          </a:p>
        </p:txBody>
      </p:sp>
      <p:sp>
        <p:nvSpPr>
          <p:cNvPr id="5" name="TextBox 4"/>
          <p:cNvSpPr txBox="1"/>
          <p:nvPr/>
        </p:nvSpPr>
        <p:spPr>
          <a:xfrm>
            <a:off x="548640" y="594360"/>
            <a:ext cx="11155680" cy="731520"/>
          </a:xfrm>
          <a:prstGeom prst="rect">
            <a:avLst/>
          </a:prstGeom>
          <a:noFill/>
        </p:spPr>
        <p:txBody>
          <a:bodyPr wrap="square" anchor="t" lIns="45720" rIns="45720">
            <a:spAutoFit/>
          </a:bodyPr>
          <a:lstStyle/>
          <a:p>
            <a:pPr algn="l">
              <a:spcAft>
                <a:spcPts val="1170"/>
              </a:spcAft>
            </a:pPr>
            <a:r>
              <a:rPr sz="2600" b="1">
                <a:solidFill>
                  <a:srgbClr val="1F2937"/>
                </a:solidFill>
                <a:latin typeface="Calibri"/>
              </a:rPr>
              <a:t>One poverty line for both rounds defines who escaped</a:t>
            </a:r>
          </a:p>
        </p:txBody>
      </p:sp>
      <p:sp>
        <p:nvSpPr>
          <p:cNvPr id="6" name="TextBox 5"/>
          <p:cNvSpPr txBox="1"/>
          <p:nvPr/>
        </p:nvSpPr>
        <p:spPr>
          <a:xfrm>
            <a:off x="11247120" y="6400800"/>
            <a:ext cx="731520" cy="320040"/>
          </a:xfrm>
          <a:prstGeom prst="rect">
            <a:avLst/>
          </a:prstGeom>
          <a:noFill/>
        </p:spPr>
        <p:txBody>
          <a:bodyPr wrap="square" anchor="t" lIns="45720" rIns="45720">
            <a:spAutoFit/>
          </a:bodyPr>
          <a:lstStyle/>
          <a:p>
            <a:pPr algn="r">
              <a:spcAft>
                <a:spcPts val="495"/>
              </a:spcAft>
            </a:pPr>
            <a:r>
              <a:rPr sz="1100" b="0">
                <a:solidFill>
                  <a:srgbClr val="5B6470"/>
                </a:solidFill>
                <a:latin typeface="Calibri"/>
              </a:rPr>
              <a:t>9</a:t>
            </a:r>
          </a:p>
        </p:txBody>
      </p:sp>
      <p:pic>
        <p:nvPicPr>
          <p:cNvPr id="7" name="Picture 6" descr="c13_poverty_line.png"/>
          <p:cNvPicPr>
            <a:picLocks noChangeAspect="1"/>
          </p:cNvPicPr>
          <p:nvPr/>
        </p:nvPicPr>
        <p:blipFill>
          <a:blip r:embed="rId2"/>
          <a:stretch>
            <a:fillRect/>
          </a:stretch>
        </p:blipFill>
        <p:spPr>
          <a:xfrm>
            <a:off x="365760" y="1371600"/>
            <a:ext cx="5760720" cy="3577096"/>
          </a:xfrm>
          <a:prstGeom prst="rect">
            <a:avLst/>
          </a:prstGeom>
        </p:spPr>
      </p:pic>
      <p:sp>
        <p:nvSpPr>
          <p:cNvPr id="8" name="TextBox 7"/>
          <p:cNvSpPr txBox="1"/>
          <p:nvPr/>
        </p:nvSpPr>
        <p:spPr>
          <a:xfrm>
            <a:off x="6309360" y="1371600"/>
            <a:ext cx="5394960" cy="4937760"/>
          </a:xfrm>
          <a:prstGeom prst="rect">
            <a:avLst/>
          </a:prstGeom>
          <a:noFill/>
        </p:spPr>
        <p:txBody>
          <a:bodyPr wrap="square" anchor="t" lIns="45720" rIns="45720">
            <a:spAutoFit/>
          </a:bodyPr>
          <a:lstStyle/>
          <a:p>
            <a:pPr algn="l">
              <a:spcAft>
                <a:spcPts val="450"/>
              </a:spcAft>
            </a:pPr>
            <a:r>
              <a:rPr sz="1500" b="1">
                <a:solidFill>
                  <a:srgbClr val="0F6E6A"/>
                </a:solidFill>
                <a:latin typeface="Calibri"/>
              </a:rPr>
              <a:t>The poverty line</a:t>
            </a:r>
          </a:p>
          <a:p>
            <a:pPr algn="l">
              <a:spcAft>
                <a:spcPts val="450"/>
              </a:spcAft>
            </a:pPr>
            <a:r>
              <a:rPr sz="1500" b="0">
                <a:solidFill>
                  <a:srgbClr val="1F2937"/>
                </a:solidFill>
                <a:latin typeface="Calibri"/>
              </a:rPr>
              <a:t>A household is poor when its monthly spending per person is below a line. The 2004-05 file uses an older line than the 2011-12 file, so we recomputed 2004-05 with the Tendulkar line used in 2011-12. It shows 37% of people as poor in 2004-05, close to the published figure of about 37%.</a:t>
            </a:r>
          </a:p>
          <a:p>
            <a:pPr algn="l">
              <a:spcAft>
                <a:spcPts val="450"/>
              </a:spcAft>
            </a:pPr>
            <a:r>
              <a:rPr sz="1500" b="1">
                <a:solidFill>
                  <a:srgbClr val="0F6E6A"/>
                </a:solidFill>
                <a:latin typeface="Calibri"/>
              </a:rPr>
              <a:t>The target</a:t>
            </a:r>
          </a:p>
          <a:p>
            <a:pPr algn="l">
              <a:spcAft>
                <a:spcPts val="450"/>
              </a:spcAft>
            </a:pPr>
            <a:r>
              <a:rPr sz="1500" b="0">
                <a:solidFill>
                  <a:srgbClr val="1F2937"/>
                </a:solidFill>
                <a:latin typeface="Calibri"/>
              </a:rPr>
              <a:t>ESCAPED is 1 if a household was poor in 2004-05 and not poor in 2011-12. It is 0 if the household was poor in both rounds.</a:t>
            </a:r>
          </a:p>
          <a:p>
            <a:pPr algn="l">
              <a:spcAft>
                <a:spcPts val="450"/>
              </a:spcAft>
            </a:pPr>
            <a:r>
              <a:rPr sz="1500" b="1">
                <a:solidFill>
                  <a:srgbClr val="0F6E6A"/>
                </a:solidFill>
                <a:latin typeface="Calibri"/>
              </a:rPr>
              <a:t>What we found</a:t>
            </a:r>
          </a:p>
          <a:p>
            <a:pPr algn="l">
              <a:spcAft>
                <a:spcPts val="450"/>
              </a:spcAft>
            </a:pPr>
            <a:r>
              <a:rPr sz="1500" b="0">
                <a:solidFill>
                  <a:srgbClr val="1F2937"/>
                </a:solidFill>
                <a:latin typeface="Calibri"/>
              </a:rPr>
              <a:t>Of the 11,146 poor households we followed, 7,731 escaped (69.4%) and 3,415 stayed poor.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AF7F0"/>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F6E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8229600" cy="365760"/>
          </a:xfrm>
          <a:prstGeom prst="rect">
            <a:avLst/>
          </a:prstGeom>
          <a:noFill/>
        </p:spPr>
        <p:txBody>
          <a:bodyPr wrap="square" anchor="t" lIns="45720" rIns="45720">
            <a:spAutoFit/>
          </a:bodyPr>
          <a:lstStyle/>
          <a:p>
            <a:pPr algn="l">
              <a:spcAft>
                <a:spcPts val="540"/>
              </a:spcAft>
            </a:pPr>
            <a:r>
              <a:rPr sz="1200" b="1">
                <a:solidFill>
                  <a:srgbClr val="0F6E6A"/>
                </a:solidFill>
                <a:latin typeface="Calibri"/>
              </a:rPr>
              <a:t>3. DATASET AND PREPROCESSING</a:t>
            </a:r>
          </a:p>
        </p:txBody>
      </p:sp>
      <p:sp>
        <p:nvSpPr>
          <p:cNvPr id="4" name="Rounded Rectangle 3"/>
          <p:cNvSpPr/>
          <p:nvPr/>
        </p:nvSpPr>
        <p:spPr>
          <a:xfrm>
            <a:off x="9966960" y="292608"/>
            <a:ext cx="1920240" cy="384048"/>
          </a:xfrm>
          <a:prstGeom prst="roundRect">
            <a:avLst>
              <a:gd name="adj" fmla="val 50000"/>
            </a:avLst>
          </a:prstGeom>
          <a:solidFill>
            <a:srgbClr val="E6F2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0F6E6A"/>
                </a:solidFill>
                <a:latin typeface="Calibri"/>
              </a:rPr>
              <a:t>Presenter: Aman</a:t>
            </a:r>
          </a:p>
        </p:txBody>
      </p:sp>
      <p:sp>
        <p:nvSpPr>
          <p:cNvPr id="5" name="TextBox 4"/>
          <p:cNvSpPr txBox="1"/>
          <p:nvPr/>
        </p:nvSpPr>
        <p:spPr>
          <a:xfrm>
            <a:off x="548640" y="594360"/>
            <a:ext cx="11155680" cy="731520"/>
          </a:xfrm>
          <a:prstGeom prst="rect">
            <a:avLst/>
          </a:prstGeom>
          <a:noFill/>
        </p:spPr>
        <p:txBody>
          <a:bodyPr wrap="square" anchor="t" lIns="45720" rIns="45720">
            <a:spAutoFit/>
          </a:bodyPr>
          <a:lstStyle/>
          <a:p>
            <a:pPr algn="l">
              <a:spcAft>
                <a:spcPts val="1170"/>
              </a:spcAft>
            </a:pPr>
            <a:r>
              <a:rPr sz="2600" b="1">
                <a:solidFill>
                  <a:srgbClr val="1F2937"/>
                </a:solidFill>
                <a:latin typeface="Calibri"/>
              </a:rPr>
              <a:t>137 features describe each household in 2004-05</a:t>
            </a:r>
          </a:p>
        </p:txBody>
      </p:sp>
      <p:sp>
        <p:nvSpPr>
          <p:cNvPr id="6" name="TextBox 5"/>
          <p:cNvSpPr txBox="1"/>
          <p:nvPr/>
        </p:nvSpPr>
        <p:spPr>
          <a:xfrm>
            <a:off x="11247120" y="6400800"/>
            <a:ext cx="731520" cy="320040"/>
          </a:xfrm>
          <a:prstGeom prst="rect">
            <a:avLst/>
          </a:prstGeom>
          <a:noFill/>
        </p:spPr>
        <p:txBody>
          <a:bodyPr wrap="square" anchor="t" lIns="45720" rIns="45720">
            <a:spAutoFit/>
          </a:bodyPr>
          <a:lstStyle/>
          <a:p>
            <a:pPr algn="r">
              <a:spcAft>
                <a:spcPts val="495"/>
              </a:spcAft>
            </a:pPr>
            <a:r>
              <a:rPr sz="1100" b="0">
                <a:solidFill>
                  <a:srgbClr val="5B6470"/>
                </a:solidFill>
                <a:latin typeface="Calibri"/>
              </a:rPr>
              <a:t>10</a:t>
            </a:r>
          </a:p>
        </p:txBody>
      </p:sp>
      <p:pic>
        <p:nvPicPr>
          <p:cNvPr id="7" name="Picture 6" descr="c02_feature_groups.png"/>
          <p:cNvPicPr>
            <a:picLocks noChangeAspect="1"/>
          </p:cNvPicPr>
          <p:nvPr/>
        </p:nvPicPr>
        <p:blipFill>
          <a:blip r:embed="rId2"/>
          <a:stretch>
            <a:fillRect/>
          </a:stretch>
        </p:blipFill>
        <p:spPr>
          <a:xfrm>
            <a:off x="365760" y="1371600"/>
            <a:ext cx="5852160" cy="4057498"/>
          </a:xfrm>
          <a:prstGeom prst="rect">
            <a:avLst/>
          </a:prstGeom>
        </p:spPr>
      </p:pic>
      <p:sp>
        <p:nvSpPr>
          <p:cNvPr id="8" name="TextBox 7"/>
          <p:cNvSpPr txBox="1"/>
          <p:nvPr/>
        </p:nvSpPr>
        <p:spPr>
          <a:xfrm>
            <a:off x="6400800" y="1371600"/>
            <a:ext cx="5303520" cy="4937760"/>
          </a:xfrm>
          <a:prstGeom prst="rect">
            <a:avLst/>
          </a:prstGeom>
          <a:noFill/>
        </p:spPr>
        <p:txBody>
          <a:bodyPr wrap="square" anchor="t" lIns="45720" rIns="45720">
            <a:spAutoFit/>
          </a:bodyPr>
          <a:lstStyle/>
          <a:p>
            <a:pPr algn="l">
              <a:spcAft>
                <a:spcPts val="450"/>
              </a:spcAft>
            </a:pPr>
            <a:r>
              <a:rPr sz="1500" b="1">
                <a:solidFill>
                  <a:srgbClr val="0F6E6A"/>
                </a:solidFill>
                <a:latin typeface="Calibri"/>
              </a:rPr>
              <a:t>Where the features come from</a:t>
            </a:r>
          </a:p>
          <a:p>
            <a:pPr algn="l">
              <a:spcAft>
                <a:spcPts val="450"/>
              </a:spcAft>
            </a:pPr>
            <a:r>
              <a:rPr sz="1500" b="0">
                <a:solidFill>
                  <a:srgbClr val="1F2937"/>
                </a:solidFill>
                <a:latin typeface="Calibri"/>
              </a:rPr>
              <a:t>The survey has 945 columns. We chose 137 of them using our knowledge of the topic and sorted them into ten groups, such as assets, education, jobs and services. 118 are numbers and 19 are categories.</a:t>
            </a:r>
          </a:p>
          <a:p>
            <a:pPr algn="l">
              <a:spcAft>
                <a:spcPts val="450"/>
              </a:spcAft>
            </a:pPr>
            <a:r>
              <a:rPr sz="1500" b="1">
                <a:solidFill>
                  <a:srgbClr val="0F6E6A"/>
                </a:solidFill>
                <a:latin typeface="Calibri"/>
              </a:rPr>
              <a:t>Features we built</a:t>
            </a:r>
          </a:p>
          <a:p>
            <a:pPr algn="l">
              <a:spcAft>
                <a:spcPts val="450"/>
              </a:spcAft>
            </a:pPr>
            <a:r>
              <a:rPr sz="1500" b="0">
                <a:solidFill>
                  <a:srgbClr val="1F2937"/>
                </a:solidFill>
                <a:latin typeface="Calibri"/>
              </a:rPr>
              <a:t>We turned person records into household counts and shares, for example the share of dependants and the number of children under 6.</a:t>
            </a:r>
          </a:p>
          <a:p>
            <a:pPr algn="l">
              <a:spcAft>
                <a:spcPts val="450"/>
              </a:spcAft>
            </a:pPr>
            <a:r>
              <a:rPr sz="1500" b="1">
                <a:solidFill>
                  <a:srgbClr val="0F6E6A"/>
                </a:solidFill>
                <a:latin typeface="Calibri"/>
              </a:rPr>
              <a:t>What we left out</a:t>
            </a:r>
          </a:p>
          <a:p>
            <a:pPr algn="l">
              <a:spcAft>
                <a:spcPts val="450"/>
              </a:spcAft>
            </a:pPr>
            <a:r>
              <a:rPr sz="1500" b="0">
                <a:solidFill>
                  <a:srgbClr val="1F2937"/>
                </a:solidFill>
                <a:latin typeface="Calibri"/>
              </a:rPr>
              <a:t>We left out spending and income, because poverty is defined from spending and they would hand the model the answer. We also left out ID numbers, survey weights and interviewer codes.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AF7F0"/>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F6E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8229600" cy="365760"/>
          </a:xfrm>
          <a:prstGeom prst="rect">
            <a:avLst/>
          </a:prstGeom>
          <a:noFill/>
        </p:spPr>
        <p:txBody>
          <a:bodyPr wrap="square" anchor="t" lIns="45720" rIns="45720">
            <a:spAutoFit/>
          </a:bodyPr>
          <a:lstStyle/>
          <a:p>
            <a:pPr algn="l">
              <a:spcAft>
                <a:spcPts val="540"/>
              </a:spcAft>
            </a:pPr>
            <a:r>
              <a:rPr sz="1200" b="1">
                <a:solidFill>
                  <a:srgbClr val="0F6E6A"/>
                </a:solidFill>
                <a:latin typeface="Calibri"/>
              </a:rPr>
              <a:t>3. DATASET AND PREPROCESSING</a:t>
            </a:r>
          </a:p>
        </p:txBody>
      </p:sp>
      <p:sp>
        <p:nvSpPr>
          <p:cNvPr id="4" name="Rounded Rectangle 3"/>
          <p:cNvSpPr/>
          <p:nvPr/>
        </p:nvSpPr>
        <p:spPr>
          <a:xfrm>
            <a:off x="9966960" y="292608"/>
            <a:ext cx="1920240" cy="384048"/>
          </a:xfrm>
          <a:prstGeom prst="roundRect">
            <a:avLst>
              <a:gd name="adj" fmla="val 50000"/>
            </a:avLst>
          </a:prstGeom>
          <a:solidFill>
            <a:srgbClr val="E6F2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0F6E6A"/>
                </a:solidFill>
                <a:latin typeface="Calibri"/>
              </a:rPr>
              <a:t>Presenter: Aman</a:t>
            </a:r>
          </a:p>
        </p:txBody>
      </p:sp>
      <p:sp>
        <p:nvSpPr>
          <p:cNvPr id="5" name="TextBox 4"/>
          <p:cNvSpPr txBox="1"/>
          <p:nvPr/>
        </p:nvSpPr>
        <p:spPr>
          <a:xfrm>
            <a:off x="548640" y="594360"/>
            <a:ext cx="11155680" cy="731520"/>
          </a:xfrm>
          <a:prstGeom prst="rect">
            <a:avLst/>
          </a:prstGeom>
          <a:noFill/>
        </p:spPr>
        <p:txBody>
          <a:bodyPr wrap="square" anchor="t" lIns="45720" rIns="45720">
            <a:spAutoFit/>
          </a:bodyPr>
          <a:lstStyle/>
          <a:p>
            <a:pPr algn="l">
              <a:spcAft>
                <a:spcPts val="1170"/>
              </a:spcAft>
            </a:pPr>
            <a:r>
              <a:rPr sz="2600" b="1">
                <a:solidFill>
                  <a:srgbClr val="1F2937"/>
                </a:solidFill>
                <a:latin typeface="Calibri"/>
              </a:rPr>
              <a:t>40 features work almost as well as all 137</a:t>
            </a:r>
          </a:p>
        </p:txBody>
      </p:sp>
      <p:sp>
        <p:nvSpPr>
          <p:cNvPr id="6" name="TextBox 5"/>
          <p:cNvSpPr txBox="1"/>
          <p:nvPr/>
        </p:nvSpPr>
        <p:spPr>
          <a:xfrm>
            <a:off x="11247120" y="6400800"/>
            <a:ext cx="731520" cy="320040"/>
          </a:xfrm>
          <a:prstGeom prst="rect">
            <a:avLst/>
          </a:prstGeom>
          <a:noFill/>
        </p:spPr>
        <p:txBody>
          <a:bodyPr wrap="square" anchor="t" lIns="45720" rIns="45720">
            <a:spAutoFit/>
          </a:bodyPr>
          <a:lstStyle/>
          <a:p>
            <a:pPr algn="r">
              <a:spcAft>
                <a:spcPts val="495"/>
              </a:spcAft>
            </a:pPr>
            <a:r>
              <a:rPr sz="1100" b="0">
                <a:solidFill>
                  <a:srgbClr val="5B6470"/>
                </a:solidFill>
                <a:latin typeface="Calibri"/>
              </a:rPr>
              <a:t>11</a:t>
            </a:r>
          </a:p>
        </p:txBody>
      </p:sp>
      <p:pic>
        <p:nvPicPr>
          <p:cNvPr id="7" name="Picture 6" descr="c16_feature_selection.png"/>
          <p:cNvPicPr>
            <a:picLocks noChangeAspect="1"/>
          </p:cNvPicPr>
          <p:nvPr/>
        </p:nvPicPr>
        <p:blipFill>
          <a:blip r:embed="rId2"/>
          <a:stretch>
            <a:fillRect/>
          </a:stretch>
        </p:blipFill>
        <p:spPr>
          <a:xfrm>
            <a:off x="365760" y="1371600"/>
            <a:ext cx="6035040" cy="3747434"/>
          </a:xfrm>
          <a:prstGeom prst="rect">
            <a:avLst/>
          </a:prstGeom>
        </p:spPr>
      </p:pic>
      <p:sp>
        <p:nvSpPr>
          <p:cNvPr id="8" name="TextBox 7"/>
          <p:cNvSpPr txBox="1"/>
          <p:nvPr/>
        </p:nvSpPr>
        <p:spPr>
          <a:xfrm>
            <a:off x="6583680" y="1371600"/>
            <a:ext cx="5120640" cy="4937760"/>
          </a:xfrm>
          <a:prstGeom prst="rect">
            <a:avLst/>
          </a:prstGeom>
          <a:noFill/>
        </p:spPr>
        <p:txBody>
          <a:bodyPr wrap="square" anchor="t" lIns="45720" rIns="45720">
            <a:spAutoFit/>
          </a:bodyPr>
          <a:lstStyle/>
          <a:p>
            <a:pPr algn="l">
              <a:spcAft>
                <a:spcPts val="450"/>
              </a:spcAft>
            </a:pPr>
            <a:r>
              <a:rPr sz="1500" b="1">
                <a:solidFill>
                  <a:srgbClr val="0F6E6A"/>
                </a:solidFill>
                <a:latin typeface="Calibri"/>
              </a:rPr>
              <a:t>What we did</a:t>
            </a:r>
          </a:p>
          <a:p>
            <a:pPr algn="l">
              <a:spcAft>
                <a:spcPts val="450"/>
              </a:spcAft>
            </a:pPr>
            <a:r>
              <a:rPr sz="1500" b="0">
                <a:solidFill>
                  <a:srgbClr val="1F2937"/>
                </a:solidFill>
                <a:latin typeface="Calibri"/>
              </a:rPr>
              <a:t>We ranked the features by how much an XGBoost model used them, looking at the training villages only. Then we kept the top 10, 20, 40 or 80 and trained XGBoost again.</a:t>
            </a:r>
          </a:p>
          <a:p>
            <a:pPr algn="l">
              <a:spcAft>
                <a:spcPts val="450"/>
              </a:spcAft>
            </a:pPr>
            <a:r>
              <a:rPr sz="1500" b="1">
                <a:solidFill>
                  <a:srgbClr val="0F6E6A"/>
                </a:solidFill>
                <a:latin typeface="Calibri"/>
              </a:rPr>
              <a:t>What we found</a:t>
            </a:r>
          </a:p>
          <a:p>
            <a:pPr algn="l">
              <a:spcAft>
                <a:spcPts val="450"/>
              </a:spcAft>
            </a:pPr>
            <a:r>
              <a:rPr sz="1500" b="0">
                <a:solidFill>
                  <a:srgbClr val="1F2937"/>
                </a:solidFill>
                <a:latin typeface="Calibri"/>
              </a:rPr>
              <a:t>With only the top 40 features the test ROC-AUC is 0.717, close to 0.722 with all 137. A much smaller set works almost as well.</a:t>
            </a:r>
          </a:p>
          <a:p>
            <a:pPr algn="l">
              <a:spcAft>
                <a:spcPts val="450"/>
              </a:spcAft>
            </a:pPr>
            <a:r>
              <a:rPr sz="1500" b="1">
                <a:solidFill>
                  <a:srgbClr val="0F6E6A"/>
                </a:solidFill>
                <a:latin typeface="Calibri"/>
              </a:rPr>
              <a:t>What we decided</a:t>
            </a:r>
          </a:p>
          <a:p>
            <a:pPr algn="l">
              <a:spcAft>
                <a:spcPts val="450"/>
              </a:spcAft>
            </a:pPr>
            <a:r>
              <a:rPr sz="1500" b="0">
                <a:solidFill>
                  <a:srgbClr val="1F2937"/>
                </a:solidFill>
                <a:latin typeface="Calibri"/>
              </a:rPr>
              <a:t>We keep all 137 features in the main model, because nothing is lost and the explanations then cover every group of factors. The smaller set shows that the model does not depend on a long list of weak features.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AF7F0"/>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F6E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8229600" cy="365760"/>
          </a:xfrm>
          <a:prstGeom prst="rect">
            <a:avLst/>
          </a:prstGeom>
          <a:noFill/>
        </p:spPr>
        <p:txBody>
          <a:bodyPr wrap="square" anchor="t" lIns="45720" rIns="45720">
            <a:spAutoFit/>
          </a:bodyPr>
          <a:lstStyle/>
          <a:p>
            <a:pPr algn="l">
              <a:spcAft>
                <a:spcPts val="540"/>
              </a:spcAft>
            </a:pPr>
            <a:r>
              <a:rPr sz="1200" b="1">
                <a:solidFill>
                  <a:srgbClr val="0F6E6A"/>
                </a:solidFill>
                <a:latin typeface="Calibri"/>
              </a:rPr>
              <a:t>3. DATASET AND PREPROCESSING</a:t>
            </a:r>
          </a:p>
        </p:txBody>
      </p:sp>
      <p:sp>
        <p:nvSpPr>
          <p:cNvPr id="4" name="Rounded Rectangle 3"/>
          <p:cNvSpPr/>
          <p:nvPr/>
        </p:nvSpPr>
        <p:spPr>
          <a:xfrm>
            <a:off x="9966960" y="292608"/>
            <a:ext cx="1920240" cy="384048"/>
          </a:xfrm>
          <a:prstGeom prst="roundRect">
            <a:avLst>
              <a:gd name="adj" fmla="val 50000"/>
            </a:avLst>
          </a:prstGeom>
          <a:solidFill>
            <a:srgbClr val="E6F2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0F6E6A"/>
                </a:solidFill>
                <a:latin typeface="Calibri"/>
              </a:rPr>
              <a:t>Presenter: Aman</a:t>
            </a:r>
          </a:p>
        </p:txBody>
      </p:sp>
      <p:sp>
        <p:nvSpPr>
          <p:cNvPr id="5" name="TextBox 4"/>
          <p:cNvSpPr txBox="1"/>
          <p:nvPr/>
        </p:nvSpPr>
        <p:spPr>
          <a:xfrm>
            <a:off x="548640" y="594360"/>
            <a:ext cx="11155680" cy="731520"/>
          </a:xfrm>
          <a:prstGeom prst="rect">
            <a:avLst/>
          </a:prstGeom>
          <a:noFill/>
        </p:spPr>
        <p:txBody>
          <a:bodyPr wrap="square" anchor="t" lIns="45720" rIns="45720">
            <a:spAutoFit/>
          </a:bodyPr>
          <a:lstStyle/>
          <a:p>
            <a:pPr algn="l">
              <a:spcAft>
                <a:spcPts val="1170"/>
              </a:spcAft>
            </a:pPr>
            <a:r>
              <a:rPr sz="2600" b="1">
                <a:solidFill>
                  <a:srgbClr val="1F2937"/>
                </a:solidFill>
                <a:latin typeface="Calibri"/>
              </a:rPr>
              <a:t>Missing values and preprocessing</a:t>
            </a:r>
          </a:p>
        </p:txBody>
      </p:sp>
      <p:sp>
        <p:nvSpPr>
          <p:cNvPr id="6" name="TextBox 5"/>
          <p:cNvSpPr txBox="1"/>
          <p:nvPr/>
        </p:nvSpPr>
        <p:spPr>
          <a:xfrm>
            <a:off x="11247120" y="6400800"/>
            <a:ext cx="731520" cy="320040"/>
          </a:xfrm>
          <a:prstGeom prst="rect">
            <a:avLst/>
          </a:prstGeom>
          <a:noFill/>
        </p:spPr>
        <p:txBody>
          <a:bodyPr wrap="square" anchor="t" lIns="45720" rIns="45720">
            <a:spAutoFit/>
          </a:bodyPr>
          <a:lstStyle/>
          <a:p>
            <a:pPr algn="r">
              <a:spcAft>
                <a:spcPts val="495"/>
              </a:spcAft>
            </a:pPr>
            <a:r>
              <a:rPr sz="1100" b="0">
                <a:solidFill>
                  <a:srgbClr val="5B6470"/>
                </a:solidFill>
                <a:latin typeface="Calibri"/>
              </a:rPr>
              <a:t>12</a:t>
            </a:r>
          </a:p>
        </p:txBody>
      </p:sp>
      <p:graphicFrame>
        <p:nvGraphicFramePr>
          <p:cNvPr id="7" name="Table 6"/>
          <p:cNvGraphicFramePr>
            <a:graphicFrameLocks noGrp="1"/>
          </p:cNvGraphicFramePr>
          <p:nvPr/>
        </p:nvGraphicFramePr>
        <p:xfrm>
          <a:off x="548640" y="1371600"/>
          <a:ext cx="5669280" cy="2743200"/>
        </p:xfrm>
        <a:graphic>
          <a:graphicData uri="http://schemas.openxmlformats.org/drawingml/2006/table">
            <a:tbl>
              <a:tblPr firstRow="1" bandRow="1">
                <a:tableStyleId>{5C22544A-7EE6-4342-B048-85BDC9FD1C3A}</a:tableStyleId>
              </a:tblPr>
              <a:tblGrid>
                <a:gridCol w="4206240"/>
                <a:gridCol w="1463040"/>
              </a:tblGrid>
              <a:tr h="457200">
                <a:tc>
                  <a:txBody>
                    <a:bodyPr/>
                    <a:lstStyle/>
                    <a:p>
                      <a:pPr algn="l"/>
                      <a:r>
                        <a:rPr sz="1400" b="1">
                          <a:solidFill>
                            <a:srgbClr val="FFFFFF"/>
                          </a:solidFill>
                          <a:latin typeface="Calibri"/>
                        </a:rPr>
                        <a:t>Feature with most gaps</a:t>
                      </a:r>
                    </a:p>
                  </a:txBody>
                  <a:tcPr marT="45720" marB="45720" anchor="ctr">
                    <a:solidFill>
                      <a:srgbClr val="0F6E6A"/>
                    </a:solidFill>
                  </a:tcPr>
                </a:tc>
                <a:tc>
                  <a:txBody>
                    <a:bodyPr/>
                    <a:lstStyle/>
                    <a:p>
                      <a:pPr algn="l"/>
                      <a:r>
                        <a:rPr sz="1400" b="1">
                          <a:solidFill>
                            <a:srgbClr val="FFFFFF"/>
                          </a:solidFill>
                          <a:latin typeface="Calibri"/>
                        </a:rPr>
                        <a:t>Share missing</a:t>
                      </a:r>
                    </a:p>
                  </a:txBody>
                  <a:tcPr marT="45720" marB="45720" anchor="ctr">
                    <a:solidFill>
                      <a:srgbClr val="0F6E6A"/>
                    </a:solidFill>
                  </a:tcPr>
                </a:tc>
              </a:tr>
              <a:tr h="457200">
                <a:tc>
                  <a:txBody>
                    <a:bodyPr/>
                    <a:lstStyle/>
                    <a:p>
                      <a:pPr algn="l"/>
                      <a:r>
                        <a:rPr sz="1400" b="1">
                          <a:solidFill>
                            <a:srgbClr val="1F2937"/>
                          </a:solidFill>
                          <a:latin typeface="Calibri"/>
                        </a:rPr>
                        <a:t>School enrolment rate, children 6-14</a:t>
                      </a:r>
                    </a:p>
                  </a:txBody>
                  <a:tcPr marT="45720" marB="45720" anchor="ctr">
                    <a:solidFill>
                      <a:srgbClr val="FFFFFF"/>
                    </a:solidFill>
                  </a:tcPr>
                </a:tc>
                <a:tc>
                  <a:txBody>
                    <a:bodyPr/>
                    <a:lstStyle/>
                    <a:p>
                      <a:pPr algn="l"/>
                      <a:r>
                        <a:rPr sz="1400" b="0">
                          <a:solidFill>
                            <a:srgbClr val="1F2937"/>
                          </a:solidFill>
                          <a:latin typeface="Calibri"/>
                        </a:rPr>
                        <a:t>35%</a:t>
                      </a:r>
                    </a:p>
                  </a:txBody>
                  <a:tcPr marT="45720" marB="45720" anchor="ctr">
                    <a:solidFill>
                      <a:srgbClr val="FFFFFF"/>
                    </a:solidFill>
                  </a:tcPr>
                </a:tc>
              </a:tr>
              <a:tr h="457200">
                <a:tc>
                  <a:txBody>
                    <a:bodyPr/>
                    <a:lstStyle/>
                    <a:p>
                      <a:pPr algn="l"/>
                      <a:r>
                        <a:rPr sz="1400" b="1">
                          <a:solidFill>
                            <a:srgbClr val="1F2937"/>
                          </a:solidFill>
                          <a:latin typeface="Calibri"/>
                        </a:rPr>
                        <a:t>Woman can visit local shop alone</a:t>
                      </a:r>
                    </a:p>
                  </a:txBody>
                  <a:tcPr marT="45720" marB="45720" anchor="ctr">
                    <a:solidFill>
                      <a:srgbClr val="FFFFFF"/>
                    </a:solidFill>
                  </a:tcPr>
                </a:tc>
                <a:tc>
                  <a:txBody>
                    <a:bodyPr/>
                    <a:lstStyle/>
                    <a:p>
                      <a:pPr algn="l"/>
                      <a:r>
                        <a:rPr sz="1400" b="0">
                          <a:solidFill>
                            <a:srgbClr val="1F2937"/>
                          </a:solidFill>
                          <a:latin typeface="Calibri"/>
                        </a:rPr>
                        <a:t>28%</a:t>
                      </a:r>
                    </a:p>
                  </a:txBody>
                  <a:tcPr marT="45720" marB="45720" anchor="ctr">
                    <a:solidFill>
                      <a:srgbClr val="FFFFFF"/>
                    </a:solidFill>
                  </a:tcPr>
                </a:tc>
              </a:tr>
              <a:tr h="457200">
                <a:tc>
                  <a:txBody>
                    <a:bodyPr/>
                    <a:lstStyle/>
                    <a:p>
                      <a:pPr algn="l"/>
                      <a:r>
                        <a:rPr sz="1400" b="1">
                          <a:solidFill>
                            <a:srgbClr val="1F2937"/>
                          </a:solidFill>
                          <a:latin typeface="Calibri"/>
                        </a:rPr>
                        <a:t>Woman's name on a bank account</a:t>
                      </a:r>
                    </a:p>
                  </a:txBody>
                  <a:tcPr marT="45720" marB="45720" anchor="ctr">
                    <a:solidFill>
                      <a:srgbClr val="FFFFFF"/>
                    </a:solidFill>
                  </a:tcPr>
                </a:tc>
                <a:tc>
                  <a:txBody>
                    <a:bodyPr/>
                    <a:lstStyle/>
                    <a:p>
                      <a:pPr algn="l"/>
                      <a:r>
                        <a:rPr sz="1400" b="0">
                          <a:solidFill>
                            <a:srgbClr val="1F2937"/>
                          </a:solidFill>
                          <a:latin typeface="Calibri"/>
                        </a:rPr>
                        <a:t>26%</a:t>
                      </a:r>
                    </a:p>
                  </a:txBody>
                  <a:tcPr marT="45720" marB="45720" anchor="ctr">
                    <a:solidFill>
                      <a:srgbClr val="FFFFFF"/>
                    </a:solidFill>
                  </a:tcPr>
                </a:tc>
              </a:tr>
              <a:tr h="457200">
                <a:tc>
                  <a:txBody>
                    <a:bodyPr/>
                    <a:lstStyle/>
                    <a:p>
                      <a:pPr algn="l"/>
                      <a:r>
                        <a:rPr sz="1400" b="1">
                          <a:solidFill>
                            <a:srgbClr val="1F2937"/>
                          </a:solidFill>
                          <a:latin typeface="Calibri"/>
                        </a:rPr>
                        <a:t>Woman can visit health centre alone</a:t>
                      </a:r>
                    </a:p>
                  </a:txBody>
                  <a:tcPr marT="45720" marB="45720" anchor="ctr">
                    <a:solidFill>
                      <a:srgbClr val="FFFFFF"/>
                    </a:solidFill>
                  </a:tcPr>
                </a:tc>
                <a:tc>
                  <a:txBody>
                    <a:bodyPr/>
                    <a:lstStyle/>
                    <a:p>
                      <a:pPr algn="l"/>
                      <a:r>
                        <a:rPr sz="1400" b="0">
                          <a:solidFill>
                            <a:srgbClr val="1F2937"/>
                          </a:solidFill>
                          <a:latin typeface="Calibri"/>
                        </a:rPr>
                        <a:t>18%</a:t>
                      </a:r>
                    </a:p>
                  </a:txBody>
                  <a:tcPr marT="45720" marB="45720" anchor="ctr">
                    <a:solidFill>
                      <a:srgbClr val="FFFFFF"/>
                    </a:solidFill>
                  </a:tcPr>
                </a:tc>
              </a:tr>
              <a:tr h="457200">
                <a:tc>
                  <a:txBody>
                    <a:bodyPr/>
                    <a:lstStyle/>
                    <a:p>
                      <a:pPr algn="l"/>
                      <a:r>
                        <a:rPr sz="1400" b="1">
                          <a:solidFill>
                            <a:srgbClr val="1F2937"/>
                          </a:solidFill>
                          <a:latin typeface="Calibri"/>
                        </a:rPr>
                        <a:t>Education of interviewed woman (years)</a:t>
                      </a:r>
                    </a:p>
                  </a:txBody>
                  <a:tcPr marT="45720" marB="45720" anchor="ctr">
                    <a:solidFill>
                      <a:srgbClr val="FFFFFF"/>
                    </a:solidFill>
                  </a:tcPr>
                </a:tc>
                <a:tc>
                  <a:txBody>
                    <a:bodyPr/>
                    <a:lstStyle/>
                    <a:p>
                      <a:pPr algn="l"/>
                      <a:r>
                        <a:rPr sz="1400" b="0">
                          <a:solidFill>
                            <a:srgbClr val="1F2937"/>
                          </a:solidFill>
                          <a:latin typeface="Calibri"/>
                        </a:rPr>
                        <a:t>17%</a:t>
                      </a:r>
                    </a:p>
                  </a:txBody>
                  <a:tcPr marT="45720" marB="45720" anchor="ctr">
                    <a:solidFill>
                      <a:srgbClr val="FFFFFF"/>
                    </a:solidFill>
                  </a:tcPr>
                </a:tc>
              </a:tr>
            </a:tbl>
          </a:graphicData>
        </a:graphic>
      </p:graphicFrame>
      <p:sp>
        <p:nvSpPr>
          <p:cNvPr id="8" name="TextBox 7"/>
          <p:cNvSpPr txBox="1"/>
          <p:nvPr/>
        </p:nvSpPr>
        <p:spPr>
          <a:xfrm>
            <a:off x="548640" y="4754880"/>
            <a:ext cx="5669280" cy="1463040"/>
          </a:xfrm>
          <a:prstGeom prst="rect">
            <a:avLst/>
          </a:prstGeom>
          <a:noFill/>
        </p:spPr>
        <p:txBody>
          <a:bodyPr wrap="square" anchor="t" lIns="45720" rIns="45720">
            <a:spAutoFit/>
          </a:bodyPr>
          <a:lstStyle/>
          <a:p>
            <a:pPr algn="l">
              <a:spcAft>
                <a:spcPts val="630"/>
              </a:spcAft>
            </a:pPr>
            <a:r>
              <a:rPr sz="1400" b="0">
                <a:solidFill>
                  <a:srgbClr val="1F2937"/>
                </a:solidFill>
                <a:latin typeface="Calibri"/>
              </a:rPr>
              <a:t>The survey writes unanswered questions as codes from -1 to -9. We turned these into blanks. One feature with more than 40% blanks was dropped.</a:t>
            </a:r>
          </a:p>
        </p:txBody>
      </p:sp>
      <p:sp>
        <p:nvSpPr>
          <p:cNvPr id="9" name="TextBox 8"/>
          <p:cNvSpPr txBox="1"/>
          <p:nvPr/>
        </p:nvSpPr>
        <p:spPr>
          <a:xfrm>
            <a:off x="6492240" y="1371600"/>
            <a:ext cx="5212080" cy="4937760"/>
          </a:xfrm>
          <a:prstGeom prst="rect">
            <a:avLst/>
          </a:prstGeom>
          <a:noFill/>
        </p:spPr>
        <p:txBody>
          <a:bodyPr wrap="square" anchor="t" lIns="45720" rIns="45720">
            <a:spAutoFit/>
          </a:bodyPr>
          <a:lstStyle/>
          <a:p>
            <a:pPr algn="l">
              <a:spcAft>
                <a:spcPts val="420"/>
              </a:spcAft>
            </a:pPr>
            <a:r>
              <a:rPr sz="1500" b="1">
                <a:solidFill>
                  <a:srgbClr val="0F6E6A"/>
                </a:solidFill>
                <a:latin typeface="Calibri"/>
              </a:rPr>
              <a:t>Four steps, all learned from the training villages only</a:t>
            </a:r>
          </a:p>
          <a:p>
            <a:pPr algn="l">
              <a:spcAft>
                <a:spcPts val="420"/>
              </a:spcAft>
            </a:pPr>
            <a:r>
              <a:rPr sz="1500" b="0">
                <a:solidFill>
                  <a:srgbClr val="1F2937"/>
                </a:solidFill>
                <a:latin typeface="Calibri"/>
              </a:rPr>
              <a:t>1. Blank numbers get the middle value (the median), and blank categories get their own 'missing' category.</a:t>
            </a:r>
          </a:p>
          <a:p>
            <a:pPr algn="l">
              <a:spcAft>
                <a:spcPts val="420"/>
              </a:spcAft>
            </a:pPr>
            <a:r>
              <a:rPr sz="1500" b="0">
                <a:solidFill>
                  <a:srgbClr val="1F2937"/>
                </a:solidFill>
                <a:latin typeface="Calibri"/>
              </a:rPr>
              <a:t>2. Extreme values are pulled in to the 0.5th and 99.5th percentile, so a typing error cannot distort the model.</a:t>
            </a:r>
          </a:p>
          <a:p>
            <a:pPr algn="l">
              <a:spcAft>
                <a:spcPts val="420"/>
              </a:spcAft>
            </a:pPr>
            <a:r>
              <a:rPr sz="1500" b="0">
                <a:solidFill>
                  <a:srgbClr val="1F2937"/>
                </a:solidFill>
                <a:latin typeface="Calibri"/>
              </a:rPr>
              <a:t>3. Categories such as state become yes/no columns (one-hot encoding).</a:t>
            </a:r>
          </a:p>
          <a:p>
            <a:pPr algn="l">
              <a:spcAft>
                <a:spcPts val="420"/>
              </a:spcAft>
            </a:pPr>
            <a:r>
              <a:rPr sz="1500" b="0">
                <a:solidFill>
                  <a:srgbClr val="1F2937"/>
                </a:solidFill>
                <a:latin typeface="Calibri"/>
              </a:rPr>
              <a:t>4. Numbers are scaled for Logistic Regression only.</a:t>
            </a:r>
          </a:p>
          <a:p>
            <a:pPr algn="l">
              <a:spcAft>
                <a:spcPts val="420"/>
              </a:spcAft>
            </a:pPr>
            <a:r>
              <a:rPr sz="1500" b="1">
                <a:solidFill>
                  <a:srgbClr val="0F6E6A"/>
                </a:solidFill>
                <a:latin typeface="Calibri"/>
              </a:rPr>
              <a:t>One feature we treat with care</a:t>
            </a:r>
          </a:p>
          <a:p>
            <a:pPr algn="l">
              <a:spcAft>
                <a:spcPts val="420"/>
              </a:spcAft>
            </a:pPr>
            <a:r>
              <a:rPr sz="1500" b="0">
                <a:solidFill>
                  <a:srgbClr val="1F2937"/>
                </a:solidFill>
                <a:latin typeface="Calibri"/>
              </a:rPr>
              <a:t>The ration card type is a label that the government gives to poor households, so we do not read it as a risk factor.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AF7F0"/>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F6E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8229600" cy="365760"/>
          </a:xfrm>
          <a:prstGeom prst="rect">
            <a:avLst/>
          </a:prstGeom>
          <a:noFill/>
        </p:spPr>
        <p:txBody>
          <a:bodyPr wrap="square" anchor="t" lIns="45720" rIns="45720">
            <a:spAutoFit/>
          </a:bodyPr>
          <a:lstStyle/>
          <a:p>
            <a:pPr algn="l">
              <a:spcAft>
                <a:spcPts val="540"/>
              </a:spcAft>
            </a:pPr>
            <a:r>
              <a:rPr sz="1200" b="1">
                <a:solidFill>
                  <a:srgbClr val="0F6E6A"/>
                </a:solidFill>
                <a:latin typeface="Calibri"/>
              </a:rPr>
              <a:t>3. DATASET AND PREPROCESSING</a:t>
            </a:r>
          </a:p>
        </p:txBody>
      </p:sp>
      <p:sp>
        <p:nvSpPr>
          <p:cNvPr id="4" name="Rounded Rectangle 3"/>
          <p:cNvSpPr/>
          <p:nvPr/>
        </p:nvSpPr>
        <p:spPr>
          <a:xfrm>
            <a:off x="9966960" y="292608"/>
            <a:ext cx="1920240" cy="384048"/>
          </a:xfrm>
          <a:prstGeom prst="roundRect">
            <a:avLst>
              <a:gd name="adj" fmla="val 50000"/>
            </a:avLst>
          </a:prstGeom>
          <a:solidFill>
            <a:srgbClr val="E6F2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0F6E6A"/>
                </a:solidFill>
                <a:latin typeface="Calibri"/>
              </a:rPr>
              <a:t>Presenter: Aman</a:t>
            </a:r>
          </a:p>
        </p:txBody>
      </p:sp>
      <p:sp>
        <p:nvSpPr>
          <p:cNvPr id="5" name="TextBox 4"/>
          <p:cNvSpPr txBox="1"/>
          <p:nvPr/>
        </p:nvSpPr>
        <p:spPr>
          <a:xfrm>
            <a:off x="548640" y="594360"/>
            <a:ext cx="11155680" cy="731520"/>
          </a:xfrm>
          <a:prstGeom prst="rect">
            <a:avLst/>
          </a:prstGeom>
          <a:noFill/>
        </p:spPr>
        <p:txBody>
          <a:bodyPr wrap="square" anchor="t" lIns="45720" rIns="45720">
            <a:spAutoFit/>
          </a:bodyPr>
          <a:lstStyle/>
          <a:p>
            <a:pPr algn="l">
              <a:spcAft>
                <a:spcPts val="1170"/>
              </a:spcAft>
            </a:pPr>
            <a:r>
              <a:rPr sz="2600" b="1">
                <a:solidFill>
                  <a:srgbClr val="1F2937"/>
                </a:solidFill>
                <a:latin typeface="Calibri"/>
              </a:rPr>
              <a:t>Escape rates differ by social group and by education</a:t>
            </a:r>
          </a:p>
        </p:txBody>
      </p:sp>
      <p:sp>
        <p:nvSpPr>
          <p:cNvPr id="6" name="TextBox 5"/>
          <p:cNvSpPr txBox="1"/>
          <p:nvPr/>
        </p:nvSpPr>
        <p:spPr>
          <a:xfrm>
            <a:off x="11247120" y="6400800"/>
            <a:ext cx="731520" cy="320040"/>
          </a:xfrm>
          <a:prstGeom prst="rect">
            <a:avLst/>
          </a:prstGeom>
          <a:noFill/>
        </p:spPr>
        <p:txBody>
          <a:bodyPr wrap="square" anchor="t" lIns="45720" rIns="45720">
            <a:spAutoFit/>
          </a:bodyPr>
          <a:lstStyle/>
          <a:p>
            <a:pPr algn="r">
              <a:spcAft>
                <a:spcPts val="495"/>
              </a:spcAft>
            </a:pPr>
            <a:r>
              <a:rPr sz="1100" b="0">
                <a:solidFill>
                  <a:srgbClr val="5B6470"/>
                </a:solidFill>
                <a:latin typeface="Calibri"/>
              </a:rPr>
              <a:t>13</a:t>
            </a:r>
          </a:p>
        </p:txBody>
      </p:sp>
      <p:pic>
        <p:nvPicPr>
          <p:cNvPr id="7" name="Picture 6" descr="c03_escape_by_caste.png"/>
          <p:cNvPicPr>
            <a:picLocks noChangeAspect="1"/>
          </p:cNvPicPr>
          <p:nvPr/>
        </p:nvPicPr>
        <p:blipFill>
          <a:blip r:embed="rId2"/>
          <a:stretch>
            <a:fillRect/>
          </a:stretch>
        </p:blipFill>
        <p:spPr>
          <a:xfrm>
            <a:off x="274320" y="1371600"/>
            <a:ext cx="5852160" cy="3304749"/>
          </a:xfrm>
          <a:prstGeom prst="rect">
            <a:avLst/>
          </a:prstGeom>
        </p:spPr>
      </p:pic>
      <p:pic>
        <p:nvPicPr>
          <p:cNvPr id="8" name="Picture 7" descr="c04_escape_by_education.png"/>
          <p:cNvPicPr>
            <a:picLocks noChangeAspect="1"/>
          </p:cNvPicPr>
          <p:nvPr/>
        </p:nvPicPr>
        <p:blipFill>
          <a:blip r:embed="rId3"/>
          <a:stretch>
            <a:fillRect/>
          </a:stretch>
        </p:blipFill>
        <p:spPr>
          <a:xfrm>
            <a:off x="6126480" y="1371600"/>
            <a:ext cx="5852160" cy="3304749"/>
          </a:xfrm>
          <a:prstGeom prst="rect">
            <a:avLst/>
          </a:prstGeom>
        </p:spPr>
      </p:pic>
      <p:sp>
        <p:nvSpPr>
          <p:cNvPr id="9" name="TextBox 8"/>
          <p:cNvSpPr txBox="1"/>
          <p:nvPr/>
        </p:nvSpPr>
        <p:spPr>
          <a:xfrm>
            <a:off x="548640" y="5074920"/>
            <a:ext cx="5486400" cy="1280160"/>
          </a:xfrm>
          <a:prstGeom prst="rect">
            <a:avLst/>
          </a:prstGeom>
          <a:noFill/>
        </p:spPr>
        <p:txBody>
          <a:bodyPr wrap="square" anchor="t" lIns="45720" rIns="45720">
            <a:spAutoFit/>
          </a:bodyPr>
          <a:lstStyle/>
          <a:p>
            <a:pPr algn="l">
              <a:spcAft>
                <a:spcPts val="675"/>
              </a:spcAft>
            </a:pPr>
            <a:r>
              <a:rPr sz="1500" b="0">
                <a:solidFill>
                  <a:srgbClr val="1F2937"/>
                </a:solidFill>
                <a:latin typeface="Calibri"/>
              </a:rPr>
              <a:t>Adivasi households escaped least often (53%). Dalit households (68%) were close to the overall average of 69%.</a:t>
            </a:r>
          </a:p>
        </p:txBody>
      </p:sp>
      <p:sp>
        <p:nvSpPr>
          <p:cNvPr id="10" name="TextBox 9"/>
          <p:cNvSpPr txBox="1"/>
          <p:nvPr/>
        </p:nvSpPr>
        <p:spPr>
          <a:xfrm>
            <a:off x="6400800" y="5074920"/>
            <a:ext cx="5303520" cy="1280160"/>
          </a:xfrm>
          <a:prstGeom prst="rect">
            <a:avLst/>
          </a:prstGeom>
          <a:noFill/>
        </p:spPr>
        <p:txBody>
          <a:bodyPr wrap="square" anchor="t" lIns="45720" rIns="45720">
            <a:spAutoFit/>
          </a:bodyPr>
          <a:lstStyle/>
          <a:p>
            <a:pPr algn="l">
              <a:spcAft>
                <a:spcPts val="675"/>
              </a:spcAft>
            </a:pPr>
            <a:r>
              <a:rPr sz="1500" b="0">
                <a:solidFill>
                  <a:srgbClr val="1F2937"/>
                </a:solidFill>
                <a:latin typeface="Calibri"/>
              </a:rPr>
              <a:t>The escape rate rises with schooling: 63% when no adult had any schooling and 83% when an adult had 13 or more years. These are raw differences.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AF7F0"/>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F6E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8229600" cy="365760"/>
          </a:xfrm>
          <a:prstGeom prst="rect">
            <a:avLst/>
          </a:prstGeom>
          <a:noFill/>
        </p:spPr>
        <p:txBody>
          <a:bodyPr wrap="square" anchor="t" lIns="45720" rIns="45720">
            <a:spAutoFit/>
          </a:bodyPr>
          <a:lstStyle/>
          <a:p>
            <a:pPr algn="l">
              <a:spcAft>
                <a:spcPts val="540"/>
              </a:spcAft>
            </a:pPr>
            <a:r>
              <a:rPr sz="1200" b="1">
                <a:solidFill>
                  <a:srgbClr val="0F6E6A"/>
                </a:solidFill>
                <a:latin typeface="Calibri"/>
              </a:rPr>
              <a:t>4. METHODOLOGY AND ML PIPELINE</a:t>
            </a:r>
          </a:p>
        </p:txBody>
      </p:sp>
      <p:sp>
        <p:nvSpPr>
          <p:cNvPr id="4" name="Rounded Rectangle 3"/>
          <p:cNvSpPr/>
          <p:nvPr/>
        </p:nvSpPr>
        <p:spPr>
          <a:xfrm>
            <a:off x="9966960" y="292608"/>
            <a:ext cx="1920240" cy="384048"/>
          </a:xfrm>
          <a:prstGeom prst="roundRect">
            <a:avLst>
              <a:gd name="adj" fmla="val 50000"/>
            </a:avLst>
          </a:prstGeom>
          <a:solidFill>
            <a:srgbClr val="E6F2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0F6E6A"/>
                </a:solidFill>
                <a:latin typeface="Calibri"/>
              </a:rPr>
              <a:t>Presenter: Eshaan</a:t>
            </a:r>
          </a:p>
        </p:txBody>
      </p:sp>
      <p:sp>
        <p:nvSpPr>
          <p:cNvPr id="5" name="TextBox 4"/>
          <p:cNvSpPr txBox="1"/>
          <p:nvPr/>
        </p:nvSpPr>
        <p:spPr>
          <a:xfrm>
            <a:off x="548640" y="594360"/>
            <a:ext cx="11155680" cy="731520"/>
          </a:xfrm>
          <a:prstGeom prst="rect">
            <a:avLst/>
          </a:prstGeom>
          <a:noFill/>
        </p:spPr>
        <p:txBody>
          <a:bodyPr wrap="square" anchor="t" lIns="45720" rIns="45720">
            <a:spAutoFit/>
          </a:bodyPr>
          <a:lstStyle/>
          <a:p>
            <a:pPr algn="l">
              <a:spcAft>
                <a:spcPts val="1170"/>
              </a:spcAft>
            </a:pPr>
            <a:r>
              <a:rPr sz="2600" b="1">
                <a:solidFill>
                  <a:srgbClr val="1F2937"/>
                </a:solidFill>
                <a:latin typeface="Calibri"/>
              </a:rPr>
              <a:t>We test on whole villages that the models have never seen</a:t>
            </a:r>
          </a:p>
        </p:txBody>
      </p:sp>
      <p:sp>
        <p:nvSpPr>
          <p:cNvPr id="6" name="TextBox 5"/>
          <p:cNvSpPr txBox="1"/>
          <p:nvPr/>
        </p:nvSpPr>
        <p:spPr>
          <a:xfrm>
            <a:off x="11247120" y="6400800"/>
            <a:ext cx="731520" cy="320040"/>
          </a:xfrm>
          <a:prstGeom prst="rect">
            <a:avLst/>
          </a:prstGeom>
          <a:noFill/>
        </p:spPr>
        <p:txBody>
          <a:bodyPr wrap="square" anchor="t" lIns="45720" rIns="45720">
            <a:spAutoFit/>
          </a:bodyPr>
          <a:lstStyle/>
          <a:p>
            <a:pPr algn="r">
              <a:spcAft>
                <a:spcPts val="495"/>
              </a:spcAft>
            </a:pPr>
            <a:r>
              <a:rPr sz="1100" b="0">
                <a:solidFill>
                  <a:srgbClr val="5B6470"/>
                </a:solidFill>
                <a:latin typeface="Calibri"/>
              </a:rPr>
              <a:t>14</a:t>
            </a:r>
          </a:p>
        </p:txBody>
      </p:sp>
      <p:sp>
        <p:nvSpPr>
          <p:cNvPr id="7" name="Rounded Rectangle 6"/>
          <p:cNvSpPr/>
          <p:nvPr/>
        </p:nvSpPr>
        <p:spPr>
          <a:xfrm>
            <a:off x="548640" y="1463040"/>
            <a:ext cx="2651760" cy="1234440"/>
          </a:xfrm>
          <a:prstGeom prst="roundRect">
            <a:avLst>
              <a:gd name="adj" fmla="val 6000"/>
            </a:avLst>
          </a:prstGeom>
          <a:solidFill>
            <a:srgbClr val="FFFFFF"/>
          </a:solidFill>
          <a:ln>
            <a:solidFill>
              <a:srgbClr val="E3DE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554480"/>
            <a:ext cx="2651760" cy="594360"/>
          </a:xfrm>
          <a:prstGeom prst="rect">
            <a:avLst/>
          </a:prstGeom>
          <a:noFill/>
        </p:spPr>
        <p:txBody>
          <a:bodyPr wrap="square" anchor="t" lIns="45720" rIns="45720">
            <a:spAutoFit/>
          </a:bodyPr>
          <a:lstStyle/>
          <a:p>
            <a:pPr algn="ctr">
              <a:spcAft>
                <a:spcPts val="1350"/>
              </a:spcAft>
            </a:pPr>
            <a:r>
              <a:rPr sz="3000" b="1">
                <a:solidFill>
                  <a:srgbClr val="0F6E6A"/>
                </a:solidFill>
                <a:latin typeface="Calibri"/>
              </a:rPr>
              <a:t>8,894</a:t>
            </a:r>
          </a:p>
        </p:txBody>
      </p:sp>
      <p:sp>
        <p:nvSpPr>
          <p:cNvPr id="9" name="TextBox 8"/>
          <p:cNvSpPr txBox="1"/>
          <p:nvPr/>
        </p:nvSpPr>
        <p:spPr>
          <a:xfrm>
            <a:off x="640080" y="2148840"/>
            <a:ext cx="2468880" cy="502920"/>
          </a:xfrm>
          <a:prstGeom prst="rect">
            <a:avLst/>
          </a:prstGeom>
          <a:noFill/>
        </p:spPr>
        <p:txBody>
          <a:bodyPr wrap="square" anchor="t" lIns="45720" rIns="45720">
            <a:spAutoFit/>
          </a:bodyPr>
          <a:lstStyle/>
          <a:p>
            <a:pPr algn="ctr">
              <a:spcAft>
                <a:spcPts val="585"/>
              </a:spcAft>
            </a:pPr>
            <a:r>
              <a:rPr sz="1300" b="0">
                <a:solidFill>
                  <a:srgbClr val="5B6470"/>
                </a:solidFill>
                <a:latin typeface="Calibri"/>
              </a:rPr>
              <a:t>training households</a:t>
            </a:r>
          </a:p>
        </p:txBody>
      </p:sp>
      <p:sp>
        <p:nvSpPr>
          <p:cNvPr id="10" name="Rounded Rectangle 9"/>
          <p:cNvSpPr/>
          <p:nvPr/>
        </p:nvSpPr>
        <p:spPr>
          <a:xfrm>
            <a:off x="3383280" y="1463040"/>
            <a:ext cx="2651760" cy="1234440"/>
          </a:xfrm>
          <a:prstGeom prst="roundRect">
            <a:avLst>
              <a:gd name="adj" fmla="val 6000"/>
            </a:avLst>
          </a:prstGeom>
          <a:solidFill>
            <a:srgbClr val="FFFFFF"/>
          </a:solidFill>
          <a:ln>
            <a:solidFill>
              <a:srgbClr val="E3DE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383280" y="1554480"/>
            <a:ext cx="2651760" cy="594360"/>
          </a:xfrm>
          <a:prstGeom prst="rect">
            <a:avLst/>
          </a:prstGeom>
          <a:noFill/>
        </p:spPr>
        <p:txBody>
          <a:bodyPr wrap="square" anchor="t" lIns="45720" rIns="45720">
            <a:spAutoFit/>
          </a:bodyPr>
          <a:lstStyle/>
          <a:p>
            <a:pPr algn="ctr">
              <a:spcAft>
                <a:spcPts val="1350"/>
              </a:spcAft>
            </a:pPr>
            <a:r>
              <a:rPr sz="3000" b="1">
                <a:solidFill>
                  <a:srgbClr val="0F6E6A"/>
                </a:solidFill>
                <a:latin typeface="Calibri"/>
              </a:rPr>
              <a:t>1,586</a:t>
            </a:r>
          </a:p>
        </p:txBody>
      </p:sp>
      <p:sp>
        <p:nvSpPr>
          <p:cNvPr id="12" name="TextBox 11"/>
          <p:cNvSpPr txBox="1"/>
          <p:nvPr/>
        </p:nvSpPr>
        <p:spPr>
          <a:xfrm>
            <a:off x="3474720" y="2148840"/>
            <a:ext cx="2468880" cy="502920"/>
          </a:xfrm>
          <a:prstGeom prst="rect">
            <a:avLst/>
          </a:prstGeom>
          <a:noFill/>
        </p:spPr>
        <p:txBody>
          <a:bodyPr wrap="square" anchor="t" lIns="45720" rIns="45720">
            <a:spAutoFit/>
          </a:bodyPr>
          <a:lstStyle/>
          <a:p>
            <a:pPr algn="ctr">
              <a:spcAft>
                <a:spcPts val="585"/>
              </a:spcAft>
            </a:pPr>
            <a:r>
              <a:rPr sz="1300" b="0">
                <a:solidFill>
                  <a:srgbClr val="5B6470"/>
                </a:solidFill>
                <a:latin typeface="Calibri"/>
              </a:rPr>
              <a:t>training villages</a:t>
            </a:r>
          </a:p>
        </p:txBody>
      </p:sp>
      <p:sp>
        <p:nvSpPr>
          <p:cNvPr id="13" name="Rounded Rectangle 12"/>
          <p:cNvSpPr/>
          <p:nvPr/>
        </p:nvSpPr>
        <p:spPr>
          <a:xfrm>
            <a:off x="548640" y="2880360"/>
            <a:ext cx="2651760" cy="1234440"/>
          </a:xfrm>
          <a:prstGeom prst="roundRect">
            <a:avLst>
              <a:gd name="adj" fmla="val 6000"/>
            </a:avLst>
          </a:prstGeom>
          <a:solidFill>
            <a:srgbClr val="FFFFFF"/>
          </a:solidFill>
          <a:ln>
            <a:solidFill>
              <a:srgbClr val="E3DE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2971800"/>
            <a:ext cx="2651760" cy="594360"/>
          </a:xfrm>
          <a:prstGeom prst="rect">
            <a:avLst/>
          </a:prstGeom>
          <a:noFill/>
        </p:spPr>
        <p:txBody>
          <a:bodyPr wrap="square" anchor="t" lIns="45720" rIns="45720">
            <a:spAutoFit/>
          </a:bodyPr>
          <a:lstStyle/>
          <a:p>
            <a:pPr algn="ctr">
              <a:spcAft>
                <a:spcPts val="1350"/>
              </a:spcAft>
            </a:pPr>
            <a:r>
              <a:rPr sz="3000" b="1">
                <a:solidFill>
                  <a:srgbClr val="0F6E6A"/>
                </a:solidFill>
                <a:latin typeface="Calibri"/>
              </a:rPr>
              <a:t>2,252</a:t>
            </a:r>
          </a:p>
        </p:txBody>
      </p:sp>
      <p:sp>
        <p:nvSpPr>
          <p:cNvPr id="15" name="TextBox 14"/>
          <p:cNvSpPr txBox="1"/>
          <p:nvPr/>
        </p:nvSpPr>
        <p:spPr>
          <a:xfrm>
            <a:off x="640080" y="3566160"/>
            <a:ext cx="2468880" cy="502920"/>
          </a:xfrm>
          <a:prstGeom prst="rect">
            <a:avLst/>
          </a:prstGeom>
          <a:noFill/>
        </p:spPr>
        <p:txBody>
          <a:bodyPr wrap="square" anchor="t" lIns="45720" rIns="45720">
            <a:spAutoFit/>
          </a:bodyPr>
          <a:lstStyle/>
          <a:p>
            <a:pPr algn="ctr">
              <a:spcAft>
                <a:spcPts val="585"/>
              </a:spcAft>
            </a:pPr>
            <a:r>
              <a:rPr sz="1300" b="0">
                <a:solidFill>
                  <a:srgbClr val="5B6470"/>
                </a:solidFill>
                <a:latin typeface="Calibri"/>
              </a:rPr>
              <a:t>test households</a:t>
            </a:r>
          </a:p>
        </p:txBody>
      </p:sp>
      <p:sp>
        <p:nvSpPr>
          <p:cNvPr id="16" name="Rounded Rectangle 15"/>
          <p:cNvSpPr/>
          <p:nvPr/>
        </p:nvSpPr>
        <p:spPr>
          <a:xfrm>
            <a:off x="3383280" y="2880360"/>
            <a:ext cx="2651760" cy="1234440"/>
          </a:xfrm>
          <a:prstGeom prst="roundRect">
            <a:avLst>
              <a:gd name="adj" fmla="val 6000"/>
            </a:avLst>
          </a:prstGeom>
          <a:solidFill>
            <a:srgbClr val="FFFFFF"/>
          </a:solidFill>
          <a:ln>
            <a:solidFill>
              <a:srgbClr val="E3DE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383280" y="2971800"/>
            <a:ext cx="2651760" cy="594360"/>
          </a:xfrm>
          <a:prstGeom prst="rect">
            <a:avLst/>
          </a:prstGeom>
          <a:noFill/>
        </p:spPr>
        <p:txBody>
          <a:bodyPr wrap="square" anchor="t" lIns="45720" rIns="45720">
            <a:spAutoFit/>
          </a:bodyPr>
          <a:lstStyle/>
          <a:p>
            <a:pPr algn="ctr">
              <a:spcAft>
                <a:spcPts val="1350"/>
              </a:spcAft>
            </a:pPr>
            <a:r>
              <a:rPr sz="3000" b="1">
                <a:solidFill>
                  <a:srgbClr val="0F6E6A"/>
                </a:solidFill>
                <a:latin typeface="Calibri"/>
              </a:rPr>
              <a:t>397</a:t>
            </a:r>
          </a:p>
        </p:txBody>
      </p:sp>
      <p:sp>
        <p:nvSpPr>
          <p:cNvPr id="18" name="TextBox 17"/>
          <p:cNvSpPr txBox="1"/>
          <p:nvPr/>
        </p:nvSpPr>
        <p:spPr>
          <a:xfrm>
            <a:off x="3474720" y="3566160"/>
            <a:ext cx="2468880" cy="502920"/>
          </a:xfrm>
          <a:prstGeom prst="rect">
            <a:avLst/>
          </a:prstGeom>
          <a:noFill/>
        </p:spPr>
        <p:txBody>
          <a:bodyPr wrap="square" anchor="t" lIns="45720" rIns="45720">
            <a:spAutoFit/>
          </a:bodyPr>
          <a:lstStyle/>
          <a:p>
            <a:pPr algn="ctr">
              <a:spcAft>
                <a:spcPts val="585"/>
              </a:spcAft>
            </a:pPr>
            <a:r>
              <a:rPr sz="1300" b="0">
                <a:solidFill>
                  <a:srgbClr val="5B6470"/>
                </a:solidFill>
                <a:latin typeface="Calibri"/>
              </a:rPr>
              <a:t>test villages</a:t>
            </a:r>
          </a:p>
        </p:txBody>
      </p:sp>
      <p:sp>
        <p:nvSpPr>
          <p:cNvPr id="19" name="Rounded Rectangle 18"/>
          <p:cNvSpPr/>
          <p:nvPr/>
        </p:nvSpPr>
        <p:spPr>
          <a:xfrm>
            <a:off x="548640" y="4297680"/>
            <a:ext cx="5486400" cy="1920240"/>
          </a:xfrm>
          <a:prstGeom prst="roundRect">
            <a:avLst>
              <a:gd name="adj" fmla="val 6000"/>
            </a:avLst>
          </a:prstGeom>
          <a:solidFill>
            <a:srgbClr val="FFFFFF"/>
          </a:solidFill>
          <a:ln>
            <a:solidFill>
              <a:srgbClr val="E3DE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4407408"/>
            <a:ext cx="5120640" cy="411480"/>
          </a:xfrm>
          <a:prstGeom prst="rect">
            <a:avLst/>
          </a:prstGeom>
          <a:noFill/>
        </p:spPr>
        <p:txBody>
          <a:bodyPr wrap="square" anchor="t" lIns="45720" rIns="45720">
            <a:spAutoFit/>
          </a:bodyPr>
          <a:lstStyle/>
          <a:p>
            <a:pPr algn="l">
              <a:spcAft>
                <a:spcPts val="720"/>
              </a:spcAft>
            </a:pPr>
            <a:r>
              <a:rPr sz="1600" b="1">
                <a:solidFill>
                  <a:srgbClr val="0F6E6A"/>
                </a:solidFill>
                <a:latin typeface="Calibri"/>
              </a:rPr>
              <a:t>Why split by village?</a:t>
            </a:r>
          </a:p>
        </p:txBody>
      </p:sp>
      <p:sp>
        <p:nvSpPr>
          <p:cNvPr id="21" name="TextBox 20"/>
          <p:cNvSpPr txBox="1"/>
          <p:nvPr/>
        </p:nvSpPr>
        <p:spPr>
          <a:xfrm>
            <a:off x="731520" y="4828032"/>
            <a:ext cx="5120640" cy="1325880"/>
          </a:xfrm>
          <a:prstGeom prst="rect">
            <a:avLst/>
          </a:prstGeom>
          <a:noFill/>
        </p:spPr>
        <p:txBody>
          <a:bodyPr wrap="square" anchor="t" lIns="45720" rIns="45720">
            <a:spAutoFit/>
          </a:bodyPr>
          <a:lstStyle/>
          <a:p>
            <a:pPr algn="l">
              <a:spcAft>
                <a:spcPts val="630"/>
              </a:spcAft>
            </a:pPr>
            <a:r>
              <a:rPr sz="1400" b="0">
                <a:solidFill>
                  <a:srgbClr val="1F2937"/>
                </a:solidFill>
                <a:latin typeface="Calibri"/>
              </a:rPr>
              <a:t>Households in one village are alike and share roads, prices and weather. If neighbours sit in both the training part and the test part, the test score looks better than it really is. (In our data a village can also be an urban neighbourhood.)</a:t>
            </a:r>
          </a:p>
        </p:txBody>
      </p:sp>
      <p:sp>
        <p:nvSpPr>
          <p:cNvPr id="22" name="Rounded Rectangle 21"/>
          <p:cNvSpPr/>
          <p:nvPr/>
        </p:nvSpPr>
        <p:spPr>
          <a:xfrm>
            <a:off x="6309360" y="1463040"/>
            <a:ext cx="5394960" cy="2743200"/>
          </a:xfrm>
          <a:prstGeom prst="roundRect">
            <a:avLst>
              <a:gd name="adj" fmla="val 6000"/>
            </a:avLst>
          </a:prstGeom>
          <a:solidFill>
            <a:srgbClr val="FFFFFF"/>
          </a:solidFill>
          <a:ln>
            <a:solidFill>
              <a:srgbClr val="E3DE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92240" y="1572768"/>
            <a:ext cx="5029200" cy="411480"/>
          </a:xfrm>
          <a:prstGeom prst="rect">
            <a:avLst/>
          </a:prstGeom>
          <a:noFill/>
        </p:spPr>
        <p:txBody>
          <a:bodyPr wrap="square" anchor="t" lIns="45720" rIns="45720">
            <a:spAutoFit/>
          </a:bodyPr>
          <a:lstStyle/>
          <a:p>
            <a:pPr algn="l">
              <a:spcAft>
                <a:spcPts val="765"/>
              </a:spcAft>
            </a:pPr>
            <a:r>
              <a:rPr sz="1700" b="1">
                <a:solidFill>
                  <a:srgbClr val="0F6E6A"/>
                </a:solidFill>
                <a:latin typeface="Calibri"/>
              </a:rPr>
              <a:t>Random split compared with village split</a:t>
            </a:r>
          </a:p>
        </p:txBody>
      </p:sp>
      <p:sp>
        <p:nvSpPr>
          <p:cNvPr id="24" name="TextBox 23"/>
          <p:cNvSpPr txBox="1"/>
          <p:nvPr/>
        </p:nvSpPr>
        <p:spPr>
          <a:xfrm>
            <a:off x="6492240" y="1993392"/>
            <a:ext cx="5029200" cy="2148840"/>
          </a:xfrm>
          <a:prstGeom prst="rect">
            <a:avLst/>
          </a:prstGeom>
          <a:noFill/>
        </p:spPr>
        <p:txBody>
          <a:bodyPr wrap="square" anchor="t" lIns="45720" rIns="45720">
            <a:spAutoFit/>
          </a:bodyPr>
          <a:lstStyle/>
          <a:p>
            <a:pPr algn="l">
              <a:spcAft>
                <a:spcPts val="675"/>
              </a:spcAft>
            </a:pPr>
            <a:r>
              <a:rPr sz="1500" b="0">
                <a:solidFill>
                  <a:srgbClr val="1F2937"/>
                </a:solidFill>
                <a:latin typeface="Calibri"/>
              </a:rPr>
              <a:t>We repeated both kinds of split 20 times. A random split of households gives an average ROC-AUC of 0.708 and a split by village gives 0.710. The two are close here, but only the village split guarantees that neighbours never sit on both sides.</a:t>
            </a:r>
          </a:p>
        </p:txBody>
      </p:sp>
      <p:sp>
        <p:nvSpPr>
          <p:cNvPr id="25" name="Rounded Rectangle 24"/>
          <p:cNvSpPr/>
          <p:nvPr/>
        </p:nvSpPr>
        <p:spPr>
          <a:xfrm>
            <a:off x="6309360" y="4389120"/>
            <a:ext cx="5394960" cy="1828800"/>
          </a:xfrm>
          <a:prstGeom prst="roundRect">
            <a:avLst>
              <a:gd name="adj" fmla="val 6000"/>
            </a:avLst>
          </a:prstGeom>
          <a:solidFill>
            <a:srgbClr val="FFFFFF"/>
          </a:solidFill>
          <a:ln>
            <a:solidFill>
              <a:srgbClr val="E3DE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92240" y="4498848"/>
            <a:ext cx="5029200" cy="411480"/>
          </a:xfrm>
          <a:prstGeom prst="rect">
            <a:avLst/>
          </a:prstGeom>
          <a:noFill/>
        </p:spPr>
        <p:txBody>
          <a:bodyPr wrap="square" anchor="t" lIns="45720" rIns="45720">
            <a:spAutoFit/>
          </a:bodyPr>
          <a:lstStyle/>
          <a:p>
            <a:pPr algn="l">
              <a:spcAft>
                <a:spcPts val="720"/>
              </a:spcAft>
            </a:pPr>
            <a:r>
              <a:rPr sz="1600" b="1">
                <a:solidFill>
                  <a:srgbClr val="0F6E6A"/>
                </a:solidFill>
                <a:latin typeface="Calibri"/>
              </a:rPr>
              <a:t>Cross-validation</a:t>
            </a:r>
          </a:p>
        </p:txBody>
      </p:sp>
      <p:sp>
        <p:nvSpPr>
          <p:cNvPr id="27" name="TextBox 26"/>
          <p:cNvSpPr txBox="1"/>
          <p:nvPr/>
        </p:nvSpPr>
        <p:spPr>
          <a:xfrm>
            <a:off x="6492240" y="4919472"/>
            <a:ext cx="5029200" cy="1234440"/>
          </a:xfrm>
          <a:prstGeom prst="rect">
            <a:avLst/>
          </a:prstGeom>
          <a:noFill/>
        </p:spPr>
        <p:txBody>
          <a:bodyPr wrap="square" anchor="t" lIns="45720" rIns="45720">
            <a:spAutoFit/>
          </a:bodyPr>
          <a:lstStyle/>
          <a:p>
            <a:pPr algn="l">
              <a:spcAft>
                <a:spcPts val="630"/>
              </a:spcAft>
            </a:pPr>
            <a:r>
              <a:rPr sz="1400" b="0">
                <a:solidFill>
                  <a:srgbClr val="1F2937"/>
                </a:solidFill>
                <a:latin typeface="Calibri"/>
              </a:rPr>
              <a:t>While tuning, we cut the training villages into five groups, train on four, check on the fifth, and rotate. A village is never split between groups.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AF7F0"/>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F6E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8229600" cy="365760"/>
          </a:xfrm>
          <a:prstGeom prst="rect">
            <a:avLst/>
          </a:prstGeom>
          <a:noFill/>
        </p:spPr>
        <p:txBody>
          <a:bodyPr wrap="square" anchor="t" lIns="45720" rIns="45720">
            <a:spAutoFit/>
          </a:bodyPr>
          <a:lstStyle/>
          <a:p>
            <a:pPr algn="l">
              <a:spcAft>
                <a:spcPts val="540"/>
              </a:spcAft>
            </a:pPr>
            <a:r>
              <a:rPr sz="1200" b="1">
                <a:solidFill>
                  <a:srgbClr val="0F6E6A"/>
                </a:solidFill>
                <a:latin typeface="Calibri"/>
              </a:rPr>
              <a:t>4. METHODOLOGY AND ML PIPELINE</a:t>
            </a:r>
          </a:p>
        </p:txBody>
      </p:sp>
      <p:sp>
        <p:nvSpPr>
          <p:cNvPr id="4" name="Rounded Rectangle 3"/>
          <p:cNvSpPr/>
          <p:nvPr/>
        </p:nvSpPr>
        <p:spPr>
          <a:xfrm>
            <a:off x="9966960" y="292608"/>
            <a:ext cx="1920240" cy="384048"/>
          </a:xfrm>
          <a:prstGeom prst="roundRect">
            <a:avLst>
              <a:gd name="adj" fmla="val 50000"/>
            </a:avLst>
          </a:prstGeom>
          <a:solidFill>
            <a:srgbClr val="E6F2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0F6E6A"/>
                </a:solidFill>
                <a:latin typeface="Calibri"/>
              </a:rPr>
              <a:t>Presenter: Eshaan</a:t>
            </a:r>
          </a:p>
        </p:txBody>
      </p:sp>
      <p:sp>
        <p:nvSpPr>
          <p:cNvPr id="5" name="TextBox 4"/>
          <p:cNvSpPr txBox="1"/>
          <p:nvPr/>
        </p:nvSpPr>
        <p:spPr>
          <a:xfrm>
            <a:off x="548640" y="594360"/>
            <a:ext cx="11155680" cy="731520"/>
          </a:xfrm>
          <a:prstGeom prst="rect">
            <a:avLst/>
          </a:prstGeom>
          <a:noFill/>
        </p:spPr>
        <p:txBody>
          <a:bodyPr wrap="square" anchor="t" lIns="45720" rIns="45720">
            <a:spAutoFit/>
          </a:bodyPr>
          <a:lstStyle/>
          <a:p>
            <a:pPr algn="l">
              <a:spcAft>
                <a:spcPts val="1170"/>
              </a:spcAft>
            </a:pPr>
            <a:r>
              <a:rPr sz="2600" b="1">
                <a:solidFill>
                  <a:srgbClr val="1F2937"/>
                </a:solidFill>
                <a:latin typeface="Calibri"/>
              </a:rPr>
              <a:t>The machine learning pipeline has nine steps</a:t>
            </a:r>
          </a:p>
        </p:txBody>
      </p:sp>
      <p:sp>
        <p:nvSpPr>
          <p:cNvPr id="6" name="TextBox 5"/>
          <p:cNvSpPr txBox="1"/>
          <p:nvPr/>
        </p:nvSpPr>
        <p:spPr>
          <a:xfrm>
            <a:off x="11247120" y="6400800"/>
            <a:ext cx="731520" cy="320040"/>
          </a:xfrm>
          <a:prstGeom prst="rect">
            <a:avLst/>
          </a:prstGeom>
          <a:noFill/>
        </p:spPr>
        <p:txBody>
          <a:bodyPr wrap="square" anchor="t" lIns="45720" rIns="45720">
            <a:spAutoFit/>
          </a:bodyPr>
          <a:lstStyle/>
          <a:p>
            <a:pPr algn="r">
              <a:spcAft>
                <a:spcPts val="495"/>
              </a:spcAft>
            </a:pPr>
            <a:r>
              <a:rPr sz="1100" b="0">
                <a:solidFill>
                  <a:srgbClr val="5B6470"/>
                </a:solidFill>
                <a:latin typeface="Calibri"/>
              </a:rPr>
              <a:t>15</a:t>
            </a:r>
          </a:p>
        </p:txBody>
      </p:sp>
      <p:pic>
        <p:nvPicPr>
          <p:cNvPr id="7" name="Picture 6" descr="c17_workflow.png"/>
          <p:cNvPicPr>
            <a:picLocks noChangeAspect="1"/>
          </p:cNvPicPr>
          <p:nvPr/>
        </p:nvPicPr>
        <p:blipFill>
          <a:blip r:embed="rId2"/>
          <a:stretch>
            <a:fillRect/>
          </a:stretch>
        </p:blipFill>
        <p:spPr>
          <a:xfrm>
            <a:off x="365760" y="1325880"/>
            <a:ext cx="11430000" cy="4572000"/>
          </a:xfrm>
          <a:prstGeom prst="rect">
            <a:avLst/>
          </a:prstGeom>
        </p:spPr>
      </p:pic>
      <p:sp>
        <p:nvSpPr>
          <p:cNvPr id="8" name="TextBox 7"/>
          <p:cNvSpPr txBox="1"/>
          <p:nvPr/>
        </p:nvSpPr>
        <p:spPr>
          <a:xfrm>
            <a:off x="548640" y="5760720"/>
            <a:ext cx="11155680" cy="640080"/>
          </a:xfrm>
          <a:prstGeom prst="rect">
            <a:avLst/>
          </a:prstGeom>
          <a:noFill/>
        </p:spPr>
        <p:txBody>
          <a:bodyPr wrap="square" anchor="t" lIns="45720" rIns="45720">
            <a:spAutoFit/>
          </a:bodyPr>
          <a:lstStyle/>
          <a:p>
            <a:pPr algn="l">
              <a:spcAft>
                <a:spcPts val="630"/>
              </a:spcAft>
            </a:pPr>
            <a:r>
              <a:rPr sz="1400" b="0">
                <a:solidFill>
                  <a:srgbClr val="1F2937"/>
                </a:solidFill>
                <a:latin typeface="Calibri"/>
              </a:rPr>
              <a:t>The test villages are not touched until step 7, when the finished models are scored on them for the first time. Everything before that, including the tuning in step 6, uses the training villages only.</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AF7F0"/>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F6E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8229600" cy="365760"/>
          </a:xfrm>
          <a:prstGeom prst="rect">
            <a:avLst/>
          </a:prstGeom>
          <a:noFill/>
        </p:spPr>
        <p:txBody>
          <a:bodyPr wrap="square" anchor="t" lIns="45720" rIns="45720">
            <a:spAutoFit/>
          </a:bodyPr>
          <a:lstStyle/>
          <a:p>
            <a:pPr algn="l">
              <a:spcAft>
                <a:spcPts val="540"/>
              </a:spcAft>
            </a:pPr>
            <a:r>
              <a:rPr sz="1200" b="1">
                <a:solidFill>
                  <a:srgbClr val="0F6E6A"/>
                </a:solidFill>
                <a:latin typeface="Calibri"/>
              </a:rPr>
              <a:t>4. METHODOLOGY AND ML PIPELINE</a:t>
            </a:r>
          </a:p>
        </p:txBody>
      </p:sp>
      <p:sp>
        <p:nvSpPr>
          <p:cNvPr id="4" name="Rounded Rectangle 3"/>
          <p:cNvSpPr/>
          <p:nvPr/>
        </p:nvSpPr>
        <p:spPr>
          <a:xfrm>
            <a:off x="9966960" y="292608"/>
            <a:ext cx="1920240" cy="384048"/>
          </a:xfrm>
          <a:prstGeom prst="roundRect">
            <a:avLst>
              <a:gd name="adj" fmla="val 50000"/>
            </a:avLst>
          </a:prstGeom>
          <a:solidFill>
            <a:srgbClr val="E6F2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0F6E6A"/>
                </a:solidFill>
                <a:latin typeface="Calibri"/>
              </a:rPr>
              <a:t>Presenter: Eshaan</a:t>
            </a:r>
          </a:p>
        </p:txBody>
      </p:sp>
      <p:sp>
        <p:nvSpPr>
          <p:cNvPr id="5" name="TextBox 4"/>
          <p:cNvSpPr txBox="1"/>
          <p:nvPr/>
        </p:nvSpPr>
        <p:spPr>
          <a:xfrm>
            <a:off x="548640" y="594360"/>
            <a:ext cx="11155680" cy="731520"/>
          </a:xfrm>
          <a:prstGeom prst="rect">
            <a:avLst/>
          </a:prstGeom>
          <a:noFill/>
        </p:spPr>
        <p:txBody>
          <a:bodyPr wrap="square" anchor="t" lIns="45720" rIns="45720">
            <a:spAutoFit/>
          </a:bodyPr>
          <a:lstStyle/>
          <a:p>
            <a:pPr algn="l">
              <a:spcAft>
                <a:spcPts val="1170"/>
              </a:spcAft>
            </a:pPr>
            <a:r>
              <a:rPr sz="2600" b="1">
                <a:solidFill>
                  <a:srgbClr val="1F2937"/>
                </a:solidFill>
                <a:latin typeface="Calibri"/>
              </a:rPr>
              <a:t>Algorithms and why we chose them</a:t>
            </a:r>
          </a:p>
        </p:txBody>
      </p:sp>
      <p:sp>
        <p:nvSpPr>
          <p:cNvPr id="6" name="TextBox 5"/>
          <p:cNvSpPr txBox="1"/>
          <p:nvPr/>
        </p:nvSpPr>
        <p:spPr>
          <a:xfrm>
            <a:off x="11247120" y="6400800"/>
            <a:ext cx="731520" cy="320040"/>
          </a:xfrm>
          <a:prstGeom prst="rect">
            <a:avLst/>
          </a:prstGeom>
          <a:noFill/>
        </p:spPr>
        <p:txBody>
          <a:bodyPr wrap="square" anchor="t" lIns="45720" rIns="45720">
            <a:spAutoFit/>
          </a:bodyPr>
          <a:lstStyle/>
          <a:p>
            <a:pPr algn="r">
              <a:spcAft>
                <a:spcPts val="495"/>
              </a:spcAft>
            </a:pPr>
            <a:r>
              <a:rPr sz="1100" b="0">
                <a:solidFill>
                  <a:srgbClr val="5B6470"/>
                </a:solidFill>
                <a:latin typeface="Calibri"/>
              </a:rPr>
              <a:t>16</a:t>
            </a:r>
          </a:p>
        </p:txBody>
      </p:sp>
      <p:graphicFrame>
        <p:nvGraphicFramePr>
          <p:cNvPr id="7" name="Table 6"/>
          <p:cNvGraphicFramePr>
            <a:graphicFrameLocks noGrp="1"/>
          </p:cNvGraphicFramePr>
          <p:nvPr/>
        </p:nvGraphicFramePr>
        <p:xfrm>
          <a:off x="548640" y="1371600"/>
          <a:ext cx="11155680" cy="3401568"/>
        </p:xfrm>
        <a:graphic>
          <a:graphicData uri="http://schemas.openxmlformats.org/drawingml/2006/table">
            <a:tbl>
              <a:tblPr firstRow="1" bandRow="1">
                <a:tableStyleId>{5C22544A-7EE6-4342-B048-85BDC9FD1C3A}</a:tableStyleId>
              </a:tblPr>
              <a:tblGrid>
                <a:gridCol w="2377440"/>
                <a:gridCol w="4663440"/>
                <a:gridCol w="4114800"/>
              </a:tblGrid>
              <a:tr h="566928">
                <a:tc>
                  <a:txBody>
                    <a:bodyPr/>
                    <a:lstStyle/>
                    <a:p>
                      <a:pPr algn="l"/>
                      <a:r>
                        <a:rPr sz="1500" b="1">
                          <a:solidFill>
                            <a:srgbClr val="FFFFFF"/>
                          </a:solidFill>
                          <a:latin typeface="Calibri"/>
                        </a:rPr>
                        <a:t>Model</a:t>
                      </a:r>
                    </a:p>
                  </a:txBody>
                  <a:tcPr marT="45720" marB="45720" anchor="ctr">
                    <a:solidFill>
                      <a:srgbClr val="0F6E6A"/>
                    </a:solidFill>
                  </a:tcPr>
                </a:tc>
                <a:tc>
                  <a:txBody>
                    <a:bodyPr/>
                    <a:lstStyle/>
                    <a:p>
                      <a:pPr algn="l"/>
                      <a:r>
                        <a:rPr sz="1500" b="1">
                          <a:solidFill>
                            <a:srgbClr val="FFFFFF"/>
                          </a:solidFill>
                          <a:latin typeface="Calibri"/>
                        </a:rPr>
                        <a:t>How it works</a:t>
                      </a:r>
                    </a:p>
                  </a:txBody>
                  <a:tcPr marT="45720" marB="45720" anchor="ctr">
                    <a:solidFill>
                      <a:srgbClr val="0F6E6A"/>
                    </a:solidFill>
                  </a:tcPr>
                </a:tc>
                <a:tc>
                  <a:txBody>
                    <a:bodyPr/>
                    <a:lstStyle/>
                    <a:p>
                      <a:pPr algn="l"/>
                      <a:r>
                        <a:rPr sz="1500" b="1">
                          <a:solidFill>
                            <a:srgbClr val="FFFFFF"/>
                          </a:solidFill>
                          <a:latin typeface="Calibri"/>
                        </a:rPr>
                        <a:t>Why we chose it</a:t>
                      </a:r>
                    </a:p>
                  </a:txBody>
                  <a:tcPr marT="45720" marB="45720" anchor="ctr">
                    <a:solidFill>
                      <a:srgbClr val="0F6E6A"/>
                    </a:solidFill>
                  </a:tcPr>
                </a:tc>
              </a:tr>
              <a:tr h="566928">
                <a:tc>
                  <a:txBody>
                    <a:bodyPr/>
                    <a:lstStyle/>
                    <a:p>
                      <a:pPr algn="l"/>
                      <a:r>
                        <a:rPr sz="1500" b="1">
                          <a:solidFill>
                            <a:srgbClr val="1F2937"/>
                          </a:solidFill>
                          <a:latin typeface="Calibri"/>
                        </a:rPr>
                        <a:t>Dummy</a:t>
                      </a:r>
                    </a:p>
                  </a:txBody>
                  <a:tcPr marT="45720" marB="45720" anchor="ctr">
                    <a:solidFill>
                      <a:srgbClr val="FFFFFF"/>
                    </a:solidFill>
                  </a:tcPr>
                </a:tc>
                <a:tc>
                  <a:txBody>
                    <a:bodyPr/>
                    <a:lstStyle/>
                    <a:p>
                      <a:pPr algn="l"/>
                      <a:r>
                        <a:rPr sz="1500" b="0">
                          <a:solidFill>
                            <a:srgbClr val="1F2937"/>
                          </a:solidFill>
                          <a:latin typeface="Calibri"/>
                        </a:rPr>
                        <a:t>Always predicts the overall escape rate</a:t>
                      </a:r>
                    </a:p>
                  </a:txBody>
                  <a:tcPr marT="45720" marB="45720" anchor="ctr">
                    <a:solidFill>
                      <a:srgbClr val="FFFFFF"/>
                    </a:solidFill>
                  </a:tcPr>
                </a:tc>
                <a:tc>
                  <a:txBody>
                    <a:bodyPr/>
                    <a:lstStyle/>
                    <a:p>
                      <a:pPr algn="l"/>
                      <a:r>
                        <a:rPr sz="1500" b="0">
                          <a:solidFill>
                            <a:srgbClr val="1F2937"/>
                          </a:solidFill>
                          <a:latin typeface="Calibri"/>
                        </a:rPr>
                        <a:t>Shows what having no skill looks like</a:t>
                      </a:r>
                    </a:p>
                  </a:txBody>
                  <a:tcPr marT="45720" marB="45720" anchor="ctr">
                    <a:solidFill>
                      <a:srgbClr val="FFFFFF"/>
                    </a:solidFill>
                  </a:tcPr>
                </a:tc>
              </a:tr>
              <a:tr h="566928">
                <a:tc>
                  <a:txBody>
                    <a:bodyPr/>
                    <a:lstStyle/>
                    <a:p>
                      <a:pPr algn="l"/>
                      <a:r>
                        <a:rPr sz="1500" b="1">
                          <a:solidFill>
                            <a:srgbClr val="1F2937"/>
                          </a:solidFill>
                          <a:latin typeface="Calibri"/>
                        </a:rPr>
                        <a:t>Logistic Regression</a:t>
                      </a:r>
                    </a:p>
                  </a:txBody>
                  <a:tcPr marT="45720" marB="45720" anchor="ctr">
                    <a:solidFill>
                      <a:srgbClr val="FFFFFF"/>
                    </a:solidFill>
                  </a:tcPr>
                </a:tc>
                <a:tc>
                  <a:txBody>
                    <a:bodyPr/>
                    <a:lstStyle/>
                    <a:p>
                      <a:pPr algn="l"/>
                      <a:r>
                        <a:rPr sz="1500" b="0">
                          <a:solidFill>
                            <a:srgbClr val="1F2937"/>
                          </a:solidFill>
                          <a:latin typeface="Calibri"/>
                        </a:rPr>
                        <a:t>Adds up weighted facts and turns the total into a probability</a:t>
                      </a:r>
                    </a:p>
                  </a:txBody>
                  <a:tcPr marT="45720" marB="45720" anchor="ctr">
                    <a:solidFill>
                      <a:srgbClr val="FFFFFF"/>
                    </a:solidFill>
                  </a:tcPr>
                </a:tc>
                <a:tc>
                  <a:txBody>
                    <a:bodyPr/>
                    <a:lstStyle/>
                    <a:p>
                      <a:pPr algn="l"/>
                      <a:r>
                        <a:rPr sz="1500" b="0">
                          <a:solidFill>
                            <a:srgbClr val="1F2937"/>
                          </a:solidFill>
                          <a:latin typeface="Calibri"/>
                        </a:rPr>
                        <a:t>Simple and easy to explain</a:t>
                      </a:r>
                    </a:p>
                  </a:txBody>
                  <a:tcPr marT="45720" marB="45720" anchor="ctr">
                    <a:solidFill>
                      <a:srgbClr val="FFFFFF"/>
                    </a:solidFill>
                  </a:tcPr>
                </a:tc>
              </a:tr>
              <a:tr h="566928">
                <a:tc>
                  <a:txBody>
                    <a:bodyPr/>
                    <a:lstStyle/>
                    <a:p>
                      <a:pPr algn="l"/>
                      <a:r>
                        <a:rPr sz="1500" b="1">
                          <a:solidFill>
                            <a:srgbClr val="1F2937"/>
                          </a:solidFill>
                          <a:latin typeface="Calibri"/>
                        </a:rPr>
                        <a:t>Random Forest</a:t>
                      </a:r>
                    </a:p>
                  </a:txBody>
                  <a:tcPr marT="45720" marB="45720" anchor="ctr">
                    <a:solidFill>
                      <a:srgbClr val="FFFFFF"/>
                    </a:solidFill>
                  </a:tcPr>
                </a:tc>
                <a:tc>
                  <a:txBody>
                    <a:bodyPr/>
                    <a:lstStyle/>
                    <a:p>
                      <a:pPr algn="l"/>
                      <a:r>
                        <a:rPr sz="1500" b="0">
                          <a:solidFill>
                            <a:srgbClr val="1F2937"/>
                          </a:solidFill>
                          <a:latin typeface="Calibri"/>
                        </a:rPr>
                        <a:t>Averages the answers of many decision trees</a:t>
                      </a:r>
                    </a:p>
                  </a:txBody>
                  <a:tcPr marT="45720" marB="45720" anchor="ctr">
                    <a:solidFill>
                      <a:srgbClr val="FFFFFF"/>
                    </a:solidFill>
                  </a:tcPr>
                </a:tc>
                <a:tc>
                  <a:txBody>
                    <a:bodyPr/>
                    <a:lstStyle/>
                    <a:p>
                      <a:pPr algn="l"/>
                      <a:r>
                        <a:rPr sz="1500" b="0">
                          <a:solidFill>
                            <a:srgbClr val="1F2937"/>
                          </a:solidFill>
                          <a:latin typeface="Calibri"/>
                        </a:rPr>
                        <a:t>Can find curved patterns and interactions</a:t>
                      </a:r>
                    </a:p>
                  </a:txBody>
                  <a:tcPr marT="45720" marB="45720" anchor="ctr">
                    <a:solidFill>
                      <a:srgbClr val="FFFFFF"/>
                    </a:solidFill>
                  </a:tcPr>
                </a:tc>
              </a:tr>
              <a:tr h="566928">
                <a:tc>
                  <a:txBody>
                    <a:bodyPr/>
                    <a:lstStyle/>
                    <a:p>
                      <a:pPr algn="l"/>
                      <a:r>
                        <a:rPr sz="1500" b="1">
                          <a:solidFill>
                            <a:srgbClr val="1F2937"/>
                          </a:solidFill>
                          <a:latin typeface="Calibri"/>
                        </a:rPr>
                        <a:t>XGBoost</a:t>
                      </a:r>
                    </a:p>
                  </a:txBody>
                  <a:tcPr marT="45720" marB="45720" anchor="ctr">
                    <a:solidFill>
                      <a:srgbClr val="FFFFFF"/>
                    </a:solidFill>
                  </a:tcPr>
                </a:tc>
                <a:tc>
                  <a:txBody>
                    <a:bodyPr/>
                    <a:lstStyle/>
                    <a:p>
                      <a:pPr algn="l"/>
                      <a:r>
                        <a:rPr sz="1500" b="0">
                          <a:solidFill>
                            <a:srgbClr val="1F2937"/>
                          </a:solidFill>
                          <a:latin typeface="Calibri"/>
                        </a:rPr>
                        <a:t>Builds trees one after another, each fixing the errors of the last</a:t>
                      </a:r>
                    </a:p>
                  </a:txBody>
                  <a:tcPr marT="45720" marB="45720" anchor="ctr">
                    <a:solidFill>
                      <a:srgbClr val="FFFFFF"/>
                    </a:solidFill>
                  </a:tcPr>
                </a:tc>
                <a:tc>
                  <a:txBody>
                    <a:bodyPr/>
                    <a:lstStyle/>
                    <a:p>
                      <a:pPr algn="l"/>
                      <a:r>
                        <a:rPr sz="1500" b="0">
                          <a:solidFill>
                            <a:srgbClr val="1F2937"/>
                          </a:solidFill>
                          <a:latin typeface="Calibri"/>
                        </a:rPr>
                        <a:t>Works well on tables of data like ours</a:t>
                      </a:r>
                    </a:p>
                  </a:txBody>
                  <a:tcPr marT="45720" marB="45720" anchor="ctr">
                    <a:solidFill>
                      <a:srgbClr val="FFFFFF"/>
                    </a:solidFill>
                  </a:tcPr>
                </a:tc>
              </a:tr>
              <a:tr h="566928">
                <a:tc>
                  <a:txBody>
                    <a:bodyPr/>
                    <a:lstStyle/>
                    <a:p>
                      <a:pPr algn="l"/>
                      <a:r>
                        <a:rPr sz="1500" b="1">
                          <a:solidFill>
                            <a:srgbClr val="1F2937"/>
                          </a:solidFill>
                          <a:latin typeface="Calibri"/>
                        </a:rPr>
                        <a:t>Ensemble</a:t>
                      </a:r>
                    </a:p>
                  </a:txBody>
                  <a:tcPr marT="45720" marB="45720" anchor="ctr">
                    <a:solidFill>
                      <a:srgbClr val="FFFFFF"/>
                    </a:solidFill>
                  </a:tcPr>
                </a:tc>
                <a:tc>
                  <a:txBody>
                    <a:bodyPr/>
                    <a:lstStyle/>
                    <a:p>
                      <a:pPr algn="l"/>
                      <a:r>
                        <a:rPr sz="1500" b="0">
                          <a:solidFill>
                            <a:srgbClr val="1F2937"/>
                          </a:solidFill>
                          <a:latin typeface="Calibri"/>
                        </a:rPr>
                        <a:t>Averages the probabilities of the three models</a:t>
                      </a:r>
                    </a:p>
                  </a:txBody>
                  <a:tcPr marT="45720" marB="45720" anchor="ctr">
                    <a:solidFill>
                      <a:srgbClr val="FFFFFF"/>
                    </a:solidFill>
                  </a:tcPr>
                </a:tc>
                <a:tc>
                  <a:txBody>
                    <a:bodyPr/>
                    <a:lstStyle/>
                    <a:p>
                      <a:pPr algn="l"/>
                      <a:r>
                        <a:rPr sz="1500" b="0">
                          <a:solidFill>
                            <a:srgbClr val="1F2937"/>
                          </a:solidFill>
                          <a:latin typeface="Calibri"/>
                        </a:rPr>
                        <a:t>Combines a straight-line model with tree models</a:t>
                      </a:r>
                    </a:p>
                  </a:txBody>
                  <a:tcPr marT="45720" marB="45720" anchor="ctr">
                    <a:solidFill>
                      <a:srgbClr val="FFFFFF"/>
                    </a:solidFill>
                  </a:tcPr>
                </a:tc>
              </a:tr>
            </a:tbl>
          </a:graphicData>
        </a:graphic>
      </p:graphicFrame>
      <p:sp>
        <p:nvSpPr>
          <p:cNvPr id="8" name="Rounded Rectangle 7"/>
          <p:cNvSpPr/>
          <p:nvPr/>
        </p:nvSpPr>
        <p:spPr>
          <a:xfrm>
            <a:off x="548640" y="5120640"/>
            <a:ext cx="11155680" cy="1097280"/>
          </a:xfrm>
          <a:prstGeom prst="roundRect">
            <a:avLst>
              <a:gd name="adj" fmla="val 6000"/>
            </a:avLst>
          </a:prstGeom>
          <a:solidFill>
            <a:srgbClr val="E6F2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5120640"/>
            <a:ext cx="10789920" cy="1097280"/>
          </a:xfrm>
          <a:prstGeom prst="rect">
            <a:avLst/>
          </a:prstGeom>
          <a:noFill/>
        </p:spPr>
        <p:txBody>
          <a:bodyPr wrap="square" anchor="ctr" lIns="45720" rIns="45720">
            <a:spAutoFit/>
          </a:bodyPr>
          <a:lstStyle/>
          <a:p>
            <a:pPr algn="l">
              <a:spcAft>
                <a:spcPts val="300"/>
              </a:spcAft>
            </a:pPr>
            <a:r>
              <a:rPr sz="1500" b="1">
                <a:solidFill>
                  <a:srgbClr val="0F6E6A"/>
                </a:solidFill>
                <a:latin typeface="Calibri"/>
              </a:rPr>
              <a:t>Why not a neural network or an SVM? We have only about 9,000 rows of mixed survey data. For this kind of table, tree models are the usual strong choice, and they are easier to explain.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AF7F0"/>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F6E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8229600" cy="365760"/>
          </a:xfrm>
          <a:prstGeom prst="rect">
            <a:avLst/>
          </a:prstGeom>
          <a:noFill/>
        </p:spPr>
        <p:txBody>
          <a:bodyPr wrap="square" anchor="t" lIns="45720" rIns="45720">
            <a:spAutoFit/>
          </a:bodyPr>
          <a:lstStyle/>
          <a:p>
            <a:pPr algn="l">
              <a:spcAft>
                <a:spcPts val="540"/>
              </a:spcAft>
            </a:pPr>
            <a:r>
              <a:rPr sz="1200" b="1">
                <a:solidFill>
                  <a:srgbClr val="0F6E6A"/>
                </a:solidFill>
                <a:latin typeface="Calibri"/>
              </a:rPr>
              <a:t>4. METHODOLOGY AND ML PIPELINE</a:t>
            </a:r>
          </a:p>
        </p:txBody>
      </p:sp>
      <p:sp>
        <p:nvSpPr>
          <p:cNvPr id="4" name="Rounded Rectangle 3"/>
          <p:cNvSpPr/>
          <p:nvPr/>
        </p:nvSpPr>
        <p:spPr>
          <a:xfrm>
            <a:off x="9966960" y="292608"/>
            <a:ext cx="1920240" cy="384048"/>
          </a:xfrm>
          <a:prstGeom prst="roundRect">
            <a:avLst>
              <a:gd name="adj" fmla="val 50000"/>
            </a:avLst>
          </a:prstGeom>
          <a:solidFill>
            <a:srgbClr val="E6F2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0F6E6A"/>
                </a:solidFill>
                <a:latin typeface="Calibri"/>
              </a:rPr>
              <a:t>Presenter: Eshaan</a:t>
            </a:r>
          </a:p>
        </p:txBody>
      </p:sp>
      <p:sp>
        <p:nvSpPr>
          <p:cNvPr id="5" name="TextBox 4"/>
          <p:cNvSpPr txBox="1"/>
          <p:nvPr/>
        </p:nvSpPr>
        <p:spPr>
          <a:xfrm>
            <a:off x="548640" y="594360"/>
            <a:ext cx="11155680" cy="731520"/>
          </a:xfrm>
          <a:prstGeom prst="rect">
            <a:avLst/>
          </a:prstGeom>
          <a:noFill/>
        </p:spPr>
        <p:txBody>
          <a:bodyPr wrap="square" anchor="t" lIns="45720" rIns="45720">
            <a:spAutoFit/>
          </a:bodyPr>
          <a:lstStyle/>
          <a:p>
            <a:pPr algn="l">
              <a:spcAft>
                <a:spcPts val="1170"/>
              </a:spcAft>
            </a:pPr>
            <a:r>
              <a:rPr sz="2600" b="1">
                <a:solidFill>
                  <a:srgbClr val="1F2937"/>
                </a:solidFill>
                <a:latin typeface="Calibri"/>
              </a:rPr>
              <a:t>Training strategy</a:t>
            </a:r>
          </a:p>
        </p:txBody>
      </p:sp>
      <p:sp>
        <p:nvSpPr>
          <p:cNvPr id="6" name="TextBox 5"/>
          <p:cNvSpPr txBox="1"/>
          <p:nvPr/>
        </p:nvSpPr>
        <p:spPr>
          <a:xfrm>
            <a:off x="11247120" y="6400800"/>
            <a:ext cx="731520" cy="320040"/>
          </a:xfrm>
          <a:prstGeom prst="rect">
            <a:avLst/>
          </a:prstGeom>
          <a:noFill/>
        </p:spPr>
        <p:txBody>
          <a:bodyPr wrap="square" anchor="t" lIns="45720" rIns="45720">
            <a:spAutoFit/>
          </a:bodyPr>
          <a:lstStyle/>
          <a:p>
            <a:pPr algn="r">
              <a:spcAft>
                <a:spcPts val="495"/>
              </a:spcAft>
            </a:pPr>
            <a:r>
              <a:rPr sz="1100" b="0">
                <a:solidFill>
                  <a:srgbClr val="5B6470"/>
                </a:solidFill>
                <a:latin typeface="Calibri"/>
              </a:rPr>
              <a:t>17</a:t>
            </a:r>
          </a:p>
        </p:txBody>
      </p:sp>
      <p:sp>
        <p:nvSpPr>
          <p:cNvPr id="7" name="Rounded Rectangle 6"/>
          <p:cNvSpPr/>
          <p:nvPr/>
        </p:nvSpPr>
        <p:spPr>
          <a:xfrm>
            <a:off x="548640" y="1463040"/>
            <a:ext cx="5394960" cy="2286000"/>
          </a:xfrm>
          <a:prstGeom prst="roundRect">
            <a:avLst>
              <a:gd name="adj" fmla="val 6000"/>
            </a:avLst>
          </a:prstGeom>
          <a:solidFill>
            <a:srgbClr val="FFFFFF"/>
          </a:solidFill>
          <a:ln>
            <a:solidFill>
              <a:srgbClr val="E3DE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572768"/>
            <a:ext cx="5029200" cy="411480"/>
          </a:xfrm>
          <a:prstGeom prst="rect">
            <a:avLst/>
          </a:prstGeom>
          <a:noFill/>
        </p:spPr>
        <p:txBody>
          <a:bodyPr wrap="square" anchor="t" lIns="45720" rIns="45720">
            <a:spAutoFit/>
          </a:bodyPr>
          <a:lstStyle/>
          <a:p>
            <a:pPr algn="l">
              <a:spcAft>
                <a:spcPts val="765"/>
              </a:spcAft>
            </a:pPr>
            <a:r>
              <a:rPr sz="1700" b="1">
                <a:solidFill>
                  <a:srgbClr val="0F6E6A"/>
                </a:solidFill>
                <a:latin typeface="Calibri"/>
              </a:rPr>
              <a:t>Tuning</a:t>
            </a:r>
          </a:p>
        </p:txBody>
      </p:sp>
      <p:sp>
        <p:nvSpPr>
          <p:cNvPr id="9" name="TextBox 8"/>
          <p:cNvSpPr txBox="1"/>
          <p:nvPr/>
        </p:nvSpPr>
        <p:spPr>
          <a:xfrm>
            <a:off x="731520" y="1993392"/>
            <a:ext cx="5029200" cy="1691640"/>
          </a:xfrm>
          <a:prstGeom prst="rect">
            <a:avLst/>
          </a:prstGeom>
          <a:noFill/>
        </p:spPr>
        <p:txBody>
          <a:bodyPr wrap="square" anchor="t" lIns="45720" rIns="45720">
            <a:spAutoFit/>
          </a:bodyPr>
          <a:lstStyle/>
          <a:p>
            <a:pPr algn="l">
              <a:spcAft>
                <a:spcPts val="675"/>
              </a:spcAft>
            </a:pPr>
            <a:r>
              <a:rPr sz="1500" b="0">
                <a:solidFill>
                  <a:srgbClr val="1F2937"/>
                </a:solidFill>
                <a:latin typeface="Calibri"/>
              </a:rPr>
              <a:t>Every model has settings that must be chosen before training. A random search tries many settings and keeps the one with the best cross-validated ROC-AUC.</a:t>
            </a:r>
          </a:p>
        </p:txBody>
      </p:sp>
      <p:sp>
        <p:nvSpPr>
          <p:cNvPr id="10" name="Rounded Rectangle 9"/>
          <p:cNvSpPr/>
          <p:nvPr/>
        </p:nvSpPr>
        <p:spPr>
          <a:xfrm>
            <a:off x="6217920" y="1463040"/>
            <a:ext cx="5486400" cy="2286000"/>
          </a:xfrm>
          <a:prstGeom prst="roundRect">
            <a:avLst>
              <a:gd name="adj" fmla="val 6000"/>
            </a:avLst>
          </a:prstGeom>
          <a:solidFill>
            <a:srgbClr val="FFFFFF"/>
          </a:solidFill>
          <a:ln>
            <a:solidFill>
              <a:srgbClr val="E3DE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1572768"/>
            <a:ext cx="5120640" cy="411480"/>
          </a:xfrm>
          <a:prstGeom prst="rect">
            <a:avLst/>
          </a:prstGeom>
          <a:noFill/>
        </p:spPr>
        <p:txBody>
          <a:bodyPr wrap="square" anchor="t" lIns="45720" rIns="45720">
            <a:spAutoFit/>
          </a:bodyPr>
          <a:lstStyle/>
          <a:p>
            <a:pPr algn="l">
              <a:spcAft>
                <a:spcPts val="765"/>
              </a:spcAft>
            </a:pPr>
            <a:r>
              <a:rPr sz="1700" b="1">
                <a:solidFill>
                  <a:srgbClr val="0F6E6A"/>
                </a:solidFill>
                <a:latin typeface="Calibri"/>
              </a:rPr>
              <a:t>Class balance</a:t>
            </a:r>
          </a:p>
        </p:txBody>
      </p:sp>
      <p:sp>
        <p:nvSpPr>
          <p:cNvPr id="12" name="TextBox 11"/>
          <p:cNvSpPr txBox="1"/>
          <p:nvPr/>
        </p:nvSpPr>
        <p:spPr>
          <a:xfrm>
            <a:off x="6400800" y="1993392"/>
            <a:ext cx="5120640" cy="1691640"/>
          </a:xfrm>
          <a:prstGeom prst="rect">
            <a:avLst/>
          </a:prstGeom>
          <a:noFill/>
        </p:spPr>
        <p:txBody>
          <a:bodyPr wrap="square" anchor="t" lIns="45720" rIns="45720">
            <a:spAutoFit/>
          </a:bodyPr>
          <a:lstStyle/>
          <a:p>
            <a:pPr algn="l">
              <a:spcAft>
                <a:spcPts val="675"/>
              </a:spcAft>
            </a:pPr>
            <a:r>
              <a:rPr sz="1500" b="0">
                <a:solidFill>
                  <a:srgbClr val="1F2937"/>
                </a:solidFill>
                <a:latin typeface="Calibri"/>
              </a:rPr>
              <a:t>About 69% of the households escaped, so the two classes are a little unbalanced. We did not use class weights, because they distort the predicted probabilities.</a:t>
            </a:r>
          </a:p>
        </p:txBody>
      </p:sp>
      <p:sp>
        <p:nvSpPr>
          <p:cNvPr id="13" name="Rounded Rectangle 12"/>
          <p:cNvSpPr/>
          <p:nvPr/>
        </p:nvSpPr>
        <p:spPr>
          <a:xfrm>
            <a:off x="548640" y="3931920"/>
            <a:ext cx="5394960" cy="2286000"/>
          </a:xfrm>
          <a:prstGeom prst="roundRect">
            <a:avLst>
              <a:gd name="adj" fmla="val 6000"/>
            </a:avLst>
          </a:prstGeom>
          <a:solidFill>
            <a:srgbClr val="FFFFFF"/>
          </a:solidFill>
          <a:ln>
            <a:solidFill>
              <a:srgbClr val="E3DE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4041648"/>
            <a:ext cx="5029200" cy="411480"/>
          </a:xfrm>
          <a:prstGeom prst="rect">
            <a:avLst/>
          </a:prstGeom>
          <a:noFill/>
        </p:spPr>
        <p:txBody>
          <a:bodyPr wrap="square" anchor="t" lIns="45720" rIns="45720">
            <a:spAutoFit/>
          </a:bodyPr>
          <a:lstStyle/>
          <a:p>
            <a:pPr algn="l">
              <a:spcAft>
                <a:spcPts val="765"/>
              </a:spcAft>
            </a:pPr>
            <a:r>
              <a:rPr sz="1700" b="1">
                <a:solidFill>
                  <a:srgbClr val="0F6E6A"/>
                </a:solidFill>
                <a:latin typeface="Calibri"/>
              </a:rPr>
              <a:t>Cut-off</a:t>
            </a:r>
          </a:p>
        </p:txBody>
      </p:sp>
      <p:sp>
        <p:nvSpPr>
          <p:cNvPr id="15" name="TextBox 14"/>
          <p:cNvSpPr txBox="1"/>
          <p:nvPr/>
        </p:nvSpPr>
        <p:spPr>
          <a:xfrm>
            <a:off x="731520" y="4462272"/>
            <a:ext cx="5029200" cy="1691640"/>
          </a:xfrm>
          <a:prstGeom prst="rect">
            <a:avLst/>
          </a:prstGeom>
          <a:noFill/>
        </p:spPr>
        <p:txBody>
          <a:bodyPr wrap="square" anchor="t" lIns="45720" rIns="45720">
            <a:spAutoFit/>
          </a:bodyPr>
          <a:lstStyle/>
          <a:p>
            <a:pPr algn="l">
              <a:spcAft>
                <a:spcPts val="675"/>
              </a:spcAft>
            </a:pPr>
            <a:r>
              <a:rPr sz="1500" b="0">
                <a:solidFill>
                  <a:srgbClr val="1F2937"/>
                </a:solidFill>
                <a:latin typeface="Calibri"/>
              </a:rPr>
              <a:t>A cut-off turns a probability into a decision, 'escaped' or 'stayed poor'. For XGBoost it is 0.645. We chose it on training predictions, never on the test set.</a:t>
            </a:r>
          </a:p>
        </p:txBody>
      </p:sp>
      <p:sp>
        <p:nvSpPr>
          <p:cNvPr id="16" name="Rounded Rectangle 15"/>
          <p:cNvSpPr/>
          <p:nvPr/>
        </p:nvSpPr>
        <p:spPr>
          <a:xfrm>
            <a:off x="6217920" y="3931920"/>
            <a:ext cx="5486400" cy="2286000"/>
          </a:xfrm>
          <a:prstGeom prst="roundRect">
            <a:avLst>
              <a:gd name="adj" fmla="val 6000"/>
            </a:avLst>
          </a:prstGeom>
          <a:solidFill>
            <a:srgbClr val="FFFFFF"/>
          </a:solidFill>
          <a:ln>
            <a:solidFill>
              <a:srgbClr val="E3DE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0" y="4041648"/>
            <a:ext cx="5120640" cy="411480"/>
          </a:xfrm>
          <a:prstGeom prst="rect">
            <a:avLst/>
          </a:prstGeom>
          <a:noFill/>
        </p:spPr>
        <p:txBody>
          <a:bodyPr wrap="square" anchor="t" lIns="45720" rIns="45720">
            <a:spAutoFit/>
          </a:bodyPr>
          <a:lstStyle/>
          <a:p>
            <a:pPr algn="l">
              <a:spcAft>
                <a:spcPts val="765"/>
              </a:spcAft>
            </a:pPr>
            <a:r>
              <a:rPr sz="1700" b="1">
                <a:solidFill>
                  <a:srgbClr val="0F6E6A"/>
                </a:solidFill>
                <a:latin typeface="Calibri"/>
              </a:rPr>
              <a:t>Headline model</a:t>
            </a:r>
          </a:p>
        </p:txBody>
      </p:sp>
      <p:sp>
        <p:nvSpPr>
          <p:cNvPr id="18" name="TextBox 17"/>
          <p:cNvSpPr txBox="1"/>
          <p:nvPr/>
        </p:nvSpPr>
        <p:spPr>
          <a:xfrm>
            <a:off x="6400800" y="4462272"/>
            <a:ext cx="5120640" cy="1691640"/>
          </a:xfrm>
          <a:prstGeom prst="rect">
            <a:avLst/>
          </a:prstGeom>
          <a:noFill/>
        </p:spPr>
        <p:txBody>
          <a:bodyPr wrap="square" anchor="t" lIns="45720" rIns="45720">
            <a:spAutoFit/>
          </a:bodyPr>
          <a:lstStyle/>
          <a:p>
            <a:pPr algn="l">
              <a:spcAft>
                <a:spcPts val="675"/>
              </a:spcAft>
            </a:pPr>
            <a:r>
              <a:rPr sz="1500" b="0">
                <a:solidFill>
                  <a:srgbClr val="1F2937"/>
                </a:solidFill>
                <a:latin typeface="Calibri"/>
              </a:rPr>
              <a:t>XGBoost has the best cross-validated ROC-AUC (0.696), so it is our headline model. We made this choice before we looked at the test set.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AF7F0"/>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F6E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8229600" cy="365760"/>
          </a:xfrm>
          <a:prstGeom prst="rect">
            <a:avLst/>
          </a:prstGeom>
          <a:noFill/>
        </p:spPr>
        <p:txBody>
          <a:bodyPr wrap="square" anchor="t" lIns="45720" rIns="45720">
            <a:spAutoFit/>
          </a:bodyPr>
          <a:lstStyle/>
          <a:p>
            <a:pPr algn="l">
              <a:spcAft>
                <a:spcPts val="540"/>
              </a:spcAft>
            </a:pPr>
            <a:r>
              <a:rPr sz="1200" b="1">
                <a:solidFill>
                  <a:srgbClr val="0F6E6A"/>
                </a:solidFill>
                <a:latin typeface="Calibri"/>
              </a:rPr>
              <a:t>5. IMPLEMENTATION</a:t>
            </a:r>
          </a:p>
        </p:txBody>
      </p:sp>
      <p:sp>
        <p:nvSpPr>
          <p:cNvPr id="4" name="Rounded Rectangle 3"/>
          <p:cNvSpPr/>
          <p:nvPr/>
        </p:nvSpPr>
        <p:spPr>
          <a:xfrm>
            <a:off x="9966960" y="292608"/>
            <a:ext cx="1920240" cy="384048"/>
          </a:xfrm>
          <a:prstGeom prst="roundRect">
            <a:avLst>
              <a:gd name="adj" fmla="val 50000"/>
            </a:avLst>
          </a:prstGeom>
          <a:solidFill>
            <a:srgbClr val="E6F2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0F6E6A"/>
                </a:solidFill>
                <a:latin typeface="Calibri"/>
              </a:rPr>
              <a:t>Presenter: Aman</a:t>
            </a:r>
          </a:p>
        </p:txBody>
      </p:sp>
      <p:sp>
        <p:nvSpPr>
          <p:cNvPr id="5" name="TextBox 4"/>
          <p:cNvSpPr txBox="1"/>
          <p:nvPr/>
        </p:nvSpPr>
        <p:spPr>
          <a:xfrm>
            <a:off x="548640" y="594360"/>
            <a:ext cx="11155680" cy="731520"/>
          </a:xfrm>
          <a:prstGeom prst="rect">
            <a:avLst/>
          </a:prstGeom>
          <a:noFill/>
        </p:spPr>
        <p:txBody>
          <a:bodyPr wrap="square" anchor="t" lIns="45720" rIns="45720">
            <a:spAutoFit/>
          </a:bodyPr>
          <a:lstStyle/>
          <a:p>
            <a:pPr algn="l">
              <a:spcAft>
                <a:spcPts val="1170"/>
              </a:spcAft>
            </a:pPr>
            <a:r>
              <a:rPr sz="2600" b="1">
                <a:solidFill>
                  <a:srgbClr val="1F2937"/>
                </a:solidFill>
                <a:latin typeface="Calibri"/>
              </a:rPr>
              <a:t>Implementation and project structure</a:t>
            </a:r>
          </a:p>
        </p:txBody>
      </p:sp>
      <p:sp>
        <p:nvSpPr>
          <p:cNvPr id="6" name="TextBox 5"/>
          <p:cNvSpPr txBox="1"/>
          <p:nvPr/>
        </p:nvSpPr>
        <p:spPr>
          <a:xfrm>
            <a:off x="11247120" y="6400800"/>
            <a:ext cx="731520" cy="320040"/>
          </a:xfrm>
          <a:prstGeom prst="rect">
            <a:avLst/>
          </a:prstGeom>
          <a:noFill/>
        </p:spPr>
        <p:txBody>
          <a:bodyPr wrap="square" anchor="t" lIns="45720" rIns="45720">
            <a:spAutoFit/>
          </a:bodyPr>
          <a:lstStyle/>
          <a:p>
            <a:pPr algn="r">
              <a:spcAft>
                <a:spcPts val="495"/>
              </a:spcAft>
            </a:pPr>
            <a:r>
              <a:rPr sz="1100" b="0">
                <a:solidFill>
                  <a:srgbClr val="5B6470"/>
                </a:solidFill>
                <a:latin typeface="Calibri"/>
              </a:rPr>
              <a:t>18</a:t>
            </a:r>
          </a:p>
        </p:txBody>
      </p:sp>
      <p:sp>
        <p:nvSpPr>
          <p:cNvPr id="7" name="Rounded Rectangle 6"/>
          <p:cNvSpPr/>
          <p:nvPr/>
        </p:nvSpPr>
        <p:spPr>
          <a:xfrm>
            <a:off x="548640" y="1371600"/>
            <a:ext cx="6766560" cy="4846320"/>
          </a:xfrm>
          <a:prstGeom prst="roundRect">
            <a:avLst>
              <a:gd name="adj" fmla="val 6000"/>
            </a:avLst>
          </a:prstGeom>
          <a:solidFill>
            <a:srgbClr val="FFFFFF"/>
          </a:solidFill>
          <a:ln>
            <a:solidFill>
              <a:srgbClr val="E3DE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1444752"/>
            <a:ext cx="6547104" cy="4700016"/>
          </a:xfrm>
          <a:prstGeom prst="rect">
            <a:avLst/>
          </a:prstGeom>
          <a:noFill/>
        </p:spPr>
        <p:txBody>
          <a:bodyPr wrap="square">
            <a:spAutoFit/>
          </a:bodyPr>
          <a:lstStyle/>
          <a:p>
            <a:r>
              <a:rPr sz="1300">
                <a:solidFill>
                  <a:srgbClr val="1F2937"/>
                </a:solidFill>
                <a:latin typeface="Consolas"/>
              </a:rPr>
              <a:t>AUCML project folder</a:t>
            </a:r>
          </a:p>
          <a:p>
            <a:r>
              <a:rPr sz="1300">
                <a:solidFill>
                  <a:srgbClr val="1F2937"/>
                </a:solidFill>
                <a:latin typeface="Consolas"/>
              </a:rPr>
              <a:t>|-- IHDS_poverty_escape_v3.ipynb   main notebook</a:t>
            </a:r>
          </a:p>
          <a:p>
            <a:r>
              <a:rPr sz="1300">
                <a:solidFill>
                  <a:srgbClr val="1F2937"/>
                </a:solidFill>
                <a:latin typeface="Consolas"/>
              </a:rPr>
              <a:t>|-- ihds_tools.py                  helper class</a:t>
            </a:r>
          </a:p>
          <a:p>
            <a:r>
              <a:rPr sz="1300">
                <a:solidFill>
                  <a:srgbClr val="1F2937"/>
                </a:solidFill>
                <a:latin typeface="Consolas"/>
              </a:rPr>
              <a:t>|-- requirements.txt               package versions</a:t>
            </a:r>
          </a:p>
          <a:p>
            <a:r>
              <a:rPr sz="1300">
                <a:solidFill>
                  <a:srgbClr val="1F2937"/>
                </a:solidFill>
                <a:latin typeface="Consolas"/>
              </a:rPr>
              <a:t>|-- quick_check.py                 re-check results</a:t>
            </a:r>
          </a:p>
          <a:p>
            <a:r>
              <a:rPr sz="1300">
                <a:solidFill>
                  <a:srgbClr val="1F2937"/>
                </a:solidFill>
                <a:latin typeface="Consolas"/>
              </a:rPr>
              <a:t>|-- app.py, app_labels.json        Streamlit demo</a:t>
            </a:r>
          </a:p>
          <a:p>
            <a:r>
              <a:rPr sz="1300">
                <a:solidFill>
                  <a:srgbClr val="1F2937"/>
                </a:solidFill>
                <a:latin typeface="Consolas"/>
              </a:rPr>
              <a:t>|-- make_charts_v3.py              charts</a:t>
            </a:r>
          </a:p>
          <a:p>
            <a:r>
              <a:rPr sz="1300">
                <a:solidFill>
                  <a:srgbClr val="1F2937"/>
                </a:solidFill>
                <a:latin typeface="Consolas"/>
              </a:rPr>
              <a:t>|-- build_deck_v4.py               slides</a:t>
            </a:r>
          </a:p>
          <a:p>
            <a:r>
              <a:rPr sz="1300">
                <a:solidFill>
                  <a:srgbClr val="1F2937"/>
                </a:solidFill>
                <a:latin typeface="Consolas"/>
              </a:rPr>
              <a:t>|-- outputs/</a:t>
            </a:r>
          </a:p>
          <a:p>
            <a:r>
              <a:rPr sz="1300">
                <a:solidFill>
                  <a:srgbClr val="1F2937"/>
                </a:solidFill>
                <a:latin typeface="Consolas"/>
              </a:rPr>
              <a:t>|     |-- *.csv, key_numbers.json  tables and numbers</a:t>
            </a:r>
          </a:p>
          <a:p>
            <a:r>
              <a:rPr sz="1300">
                <a:solidFill>
                  <a:srgbClr val="1F2937"/>
                </a:solidFill>
                <a:latin typeface="Consolas"/>
              </a:rPr>
              <a:t>|     |-- figures/, figures_ppt/   charts</a:t>
            </a:r>
          </a:p>
          <a:p>
            <a:r>
              <a:rPr sz="1300">
                <a:solidFill>
                  <a:srgbClr val="1F2937"/>
                </a:solidFill>
                <a:latin typeface="Consolas"/>
              </a:rPr>
              <a:t>|     |-- model_bundle.joblib      saved models</a:t>
            </a:r>
          </a:p>
          <a:p>
            <a:r>
              <a:rPr sz="1300">
                <a:solidFill>
                  <a:srgbClr val="1F2937"/>
                </a:solidFill>
                <a:latin typeface="Consolas"/>
              </a:rPr>
              <a:t>|-- AUCML_Project_Report.docx/pdf  report</a:t>
            </a:r>
          </a:p>
          <a:p>
            <a:r>
              <a:rPr sz="1300">
                <a:solidFill>
                  <a:srgbClr val="1F2937"/>
                </a:solidFill>
                <a:latin typeface="Consolas"/>
              </a:rPr>
              <a:t>|-- ICPSR_22626-V12/, ICPSR_36151-V6/</a:t>
            </a:r>
          </a:p>
          <a:p>
            <a:r>
              <a:rPr sz="1300">
                <a:solidFill>
                  <a:srgbClr val="1F2937"/>
                </a:solidFill>
                <a:latin typeface="Consolas"/>
              </a:rPr>
              <a:t>                                   raw data (not shared)</a:t>
            </a:r>
          </a:p>
        </p:txBody>
      </p:sp>
      <p:sp>
        <p:nvSpPr>
          <p:cNvPr id="9" name="TextBox 8"/>
          <p:cNvSpPr txBox="1"/>
          <p:nvPr/>
        </p:nvSpPr>
        <p:spPr>
          <a:xfrm>
            <a:off x="7589520" y="1371600"/>
            <a:ext cx="4114800" cy="4846320"/>
          </a:xfrm>
          <a:prstGeom prst="rect">
            <a:avLst/>
          </a:prstGeom>
          <a:noFill/>
        </p:spPr>
        <p:txBody>
          <a:bodyPr wrap="square" anchor="t" lIns="45720" rIns="45720">
            <a:spAutoFit/>
          </a:bodyPr>
          <a:lstStyle/>
          <a:p>
            <a:pPr algn="l">
              <a:spcAft>
                <a:spcPts val="420"/>
              </a:spcAft>
            </a:pPr>
            <a:r>
              <a:rPr sz="1400" b="1">
                <a:solidFill>
                  <a:srgbClr val="0F6E6A"/>
                </a:solidFill>
                <a:latin typeface="Calibri"/>
              </a:rPr>
              <a:t>Tools</a:t>
            </a:r>
          </a:p>
          <a:p>
            <a:pPr algn="l">
              <a:spcAft>
                <a:spcPts val="420"/>
              </a:spcAft>
            </a:pPr>
            <a:r>
              <a:rPr sz="1400" b="0">
                <a:solidFill>
                  <a:srgbClr val="1F2937"/>
                </a:solidFill>
                <a:latin typeface="Calibri"/>
              </a:rPr>
              <a:t>Python 3.11 with pandas, NumPy, scikit-learn, XGBoost, SHAP and matplotlib, and Streamlit for the demo.</a:t>
            </a:r>
          </a:p>
          <a:p>
            <a:pPr algn="l">
              <a:spcAft>
                <a:spcPts val="420"/>
              </a:spcAft>
            </a:pPr>
            <a:r>
              <a:rPr sz="1400" b="1">
                <a:solidFill>
                  <a:srgbClr val="0F6E6A"/>
                </a:solidFill>
                <a:latin typeface="Calibri"/>
              </a:rPr>
              <a:t>How it works</a:t>
            </a:r>
          </a:p>
          <a:p>
            <a:pPr algn="l">
              <a:spcAft>
                <a:spcPts val="420"/>
              </a:spcAft>
            </a:pPr>
            <a:r>
              <a:rPr sz="1400" b="0">
                <a:solidFill>
                  <a:srgbClr val="1F2937"/>
                </a:solidFill>
                <a:latin typeface="Calibri"/>
              </a:rPr>
              <a:t>The notebook is run from top to bottom and writes all tables, charts and saved models into the outputs folder. The charts, slides, report and app then read from that folder.</a:t>
            </a:r>
          </a:p>
          <a:p>
            <a:pPr algn="l">
              <a:spcAft>
                <a:spcPts val="420"/>
              </a:spcAft>
            </a:pPr>
            <a:r>
              <a:rPr sz="1400" b="1">
                <a:solidFill>
                  <a:srgbClr val="0F6E6A"/>
                </a:solidFill>
                <a:latin typeface="Calibri"/>
              </a:rPr>
              <a:t>Why the results repeat</a:t>
            </a:r>
          </a:p>
          <a:p>
            <a:pPr algn="l">
              <a:spcAft>
                <a:spcPts val="420"/>
              </a:spcAft>
            </a:pPr>
            <a:r>
              <a:rPr sz="1400" b="0">
                <a:solidFill>
                  <a:srgbClr val="1F2937"/>
                </a:solidFill>
                <a:latin typeface="Calibri"/>
              </a:rPr>
              <a:t>We fixed the random seeds, saved the cross-validation folds and pinned the package versions.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AF7F0"/>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F6E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8229600" cy="365760"/>
          </a:xfrm>
          <a:prstGeom prst="rect">
            <a:avLst/>
          </a:prstGeom>
          <a:noFill/>
        </p:spPr>
        <p:txBody>
          <a:bodyPr wrap="square" anchor="t" lIns="45720" rIns="45720">
            <a:spAutoFit/>
          </a:bodyPr>
          <a:lstStyle/>
          <a:p>
            <a:pPr algn="l">
              <a:spcAft>
                <a:spcPts val="540"/>
              </a:spcAft>
            </a:pPr>
            <a:r>
              <a:rPr sz="1200" b="1">
                <a:solidFill>
                  <a:srgbClr val="0F6E6A"/>
                </a:solidFill>
                <a:latin typeface="Calibri"/>
              </a:rPr>
              <a:t>5. IMPLEMENTATION</a:t>
            </a:r>
          </a:p>
        </p:txBody>
      </p:sp>
      <p:sp>
        <p:nvSpPr>
          <p:cNvPr id="4" name="Rounded Rectangle 3"/>
          <p:cNvSpPr/>
          <p:nvPr/>
        </p:nvSpPr>
        <p:spPr>
          <a:xfrm>
            <a:off x="9966960" y="292608"/>
            <a:ext cx="1920240" cy="384048"/>
          </a:xfrm>
          <a:prstGeom prst="roundRect">
            <a:avLst>
              <a:gd name="adj" fmla="val 50000"/>
            </a:avLst>
          </a:prstGeom>
          <a:solidFill>
            <a:srgbClr val="E6F2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0F6E6A"/>
                </a:solidFill>
                <a:latin typeface="Calibri"/>
              </a:rPr>
              <a:t>Presenter: Aman</a:t>
            </a:r>
          </a:p>
        </p:txBody>
      </p:sp>
      <p:sp>
        <p:nvSpPr>
          <p:cNvPr id="5" name="TextBox 4"/>
          <p:cNvSpPr txBox="1"/>
          <p:nvPr/>
        </p:nvSpPr>
        <p:spPr>
          <a:xfrm>
            <a:off x="548640" y="594360"/>
            <a:ext cx="11155680" cy="731520"/>
          </a:xfrm>
          <a:prstGeom prst="rect">
            <a:avLst/>
          </a:prstGeom>
          <a:noFill/>
        </p:spPr>
        <p:txBody>
          <a:bodyPr wrap="square" anchor="t" lIns="45720" rIns="45720">
            <a:spAutoFit/>
          </a:bodyPr>
          <a:lstStyle/>
          <a:p>
            <a:pPr algn="l">
              <a:spcAft>
                <a:spcPts val="1170"/>
              </a:spcAft>
            </a:pPr>
            <a:r>
              <a:rPr sz="2600" b="1">
                <a:solidFill>
                  <a:srgbClr val="1F2937"/>
                </a:solidFill>
                <a:latin typeface="Calibri"/>
              </a:rPr>
              <a:t>The code runs, and the results can be re-checked in seconds</a:t>
            </a:r>
          </a:p>
        </p:txBody>
      </p:sp>
      <p:sp>
        <p:nvSpPr>
          <p:cNvPr id="6" name="TextBox 5"/>
          <p:cNvSpPr txBox="1"/>
          <p:nvPr/>
        </p:nvSpPr>
        <p:spPr>
          <a:xfrm>
            <a:off x="11247120" y="6400800"/>
            <a:ext cx="731520" cy="320040"/>
          </a:xfrm>
          <a:prstGeom prst="rect">
            <a:avLst/>
          </a:prstGeom>
          <a:noFill/>
        </p:spPr>
        <p:txBody>
          <a:bodyPr wrap="square" anchor="t" lIns="45720" rIns="45720">
            <a:spAutoFit/>
          </a:bodyPr>
          <a:lstStyle/>
          <a:p>
            <a:pPr algn="r">
              <a:spcAft>
                <a:spcPts val="495"/>
              </a:spcAft>
            </a:pPr>
            <a:r>
              <a:rPr sz="1100" b="0">
                <a:solidFill>
                  <a:srgbClr val="5B6470"/>
                </a:solidFill>
                <a:latin typeface="Calibri"/>
              </a:rPr>
              <a:t>19</a:t>
            </a:r>
          </a:p>
        </p:txBody>
      </p:sp>
      <p:pic>
        <p:nvPicPr>
          <p:cNvPr id="7" name="Picture 6" descr="exec_evidence.png"/>
          <p:cNvPicPr>
            <a:picLocks noChangeAspect="1"/>
          </p:cNvPicPr>
          <p:nvPr/>
        </p:nvPicPr>
        <p:blipFill>
          <a:blip r:embed="rId2"/>
          <a:stretch>
            <a:fillRect/>
          </a:stretch>
        </p:blipFill>
        <p:spPr>
          <a:xfrm>
            <a:off x="411480" y="1280160"/>
            <a:ext cx="5760720" cy="3407680"/>
          </a:xfrm>
          <a:prstGeom prst="rect">
            <a:avLst/>
          </a:prstGeom>
        </p:spPr>
      </p:pic>
      <p:sp>
        <p:nvSpPr>
          <p:cNvPr id="8" name="Rounded Rectangle 7"/>
          <p:cNvSpPr/>
          <p:nvPr/>
        </p:nvSpPr>
        <p:spPr>
          <a:xfrm>
            <a:off x="6400800" y="1325880"/>
            <a:ext cx="5349240" cy="3154680"/>
          </a:xfrm>
          <a:prstGeom prst="roundRect">
            <a:avLst>
              <a:gd name="adj" fmla="val 6000"/>
            </a:avLst>
          </a:prstGeom>
          <a:solidFill>
            <a:srgbClr val="FFFFFF"/>
          </a:solidFill>
          <a:ln>
            <a:solidFill>
              <a:srgbClr val="E3DE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10528" y="1399032"/>
            <a:ext cx="5129784" cy="3008376"/>
          </a:xfrm>
          <a:prstGeom prst="rect">
            <a:avLst/>
          </a:prstGeom>
          <a:noFill/>
        </p:spPr>
        <p:txBody>
          <a:bodyPr wrap="square">
            <a:spAutoFit/>
          </a:bodyPr>
          <a:lstStyle/>
          <a:p>
            <a:r>
              <a:rPr sz="1050">
                <a:solidFill>
                  <a:srgbClr val="1F2937"/>
                </a:solidFill>
                <a:latin typeface="Consolas"/>
              </a:rPr>
              <a:t>$ python quick_check.py</a:t>
            </a:r>
          </a:p>
          <a:p>
            <a:r>
              <a:rPr sz="1050">
                <a:solidFill>
                  <a:srgbClr val="1F2937"/>
                </a:solidFill>
                <a:latin typeface="Consolas"/>
              </a:rPr>
              <a:t>Test households: 2,252   escaped: 1,559 (69.2%)   threshold: 0.645</a:t>
            </a:r>
          </a:p>
          <a:p>
            <a:r>
              <a:rPr sz="1050">
                <a:solidFill>
                  <a:srgbClr val="1F2937"/>
                </a:solidFill>
                <a:latin typeface="Consolas"/>
              </a:rPr>
              <a:t>ROC-AUC            : 0.722</a:t>
            </a:r>
          </a:p>
          <a:p>
            <a:r>
              <a:rPr sz="1050">
                <a:solidFill>
                  <a:srgbClr val="1F2937"/>
                </a:solidFill>
                <a:latin typeface="Consolas"/>
              </a:rPr>
              <a:t>Accuracy           : 0.696</a:t>
            </a:r>
          </a:p>
          <a:p>
            <a:r>
              <a:rPr sz="1050">
                <a:solidFill>
                  <a:srgbClr val="1F2937"/>
                </a:solidFill>
                <a:latin typeface="Consolas"/>
              </a:rPr>
              <a:t>Precision / recall / F1 (escaped)    : 0.796 / 0.755 / 0.775</a:t>
            </a:r>
          </a:p>
          <a:p>
            <a:r>
              <a:rPr sz="1050">
                <a:solidFill>
                  <a:srgbClr val="1F2937"/>
                </a:solidFill>
                <a:latin typeface="Consolas"/>
              </a:rPr>
              <a:t>Precision / recall / F1 (stayed poor): 0.506 / 0.564 / 0.533</a:t>
            </a:r>
          </a:p>
          <a:p>
            <a:r>
              <a:rPr sz="1050">
                <a:solidFill>
                  <a:srgbClr val="1F2937"/>
                </a:solidFill>
                <a:latin typeface="Consolas"/>
              </a:rPr>
              <a:t>Confusion matrix (rows = actual stayed poor / escaped, columns = predicted stayed poor / escaped):</a:t>
            </a:r>
          </a:p>
          <a:p>
            <a:r>
              <a:rPr sz="1050">
                <a:solidFill>
                  <a:srgbClr val="1F2937"/>
                </a:solidFill>
                <a:latin typeface="Consolas"/>
              </a:rPr>
              <a:t>[[ 391  302]</a:t>
            </a:r>
          </a:p>
          <a:p>
            <a:r>
              <a:rPr sz="1050">
                <a:solidFill>
                  <a:srgbClr val="1F2937"/>
                </a:solidFill>
                <a:latin typeface="Consolas"/>
              </a:rPr>
              <a:t> [ 382 1177]]</a:t>
            </a:r>
          </a:p>
          <a:p>
            <a:r>
              <a:rPr sz="1050">
                <a:solidFill>
                  <a:srgbClr val="1F2937"/>
                </a:solidFill>
                <a:latin typeface="Consolas"/>
              </a:rPr>
              <a:t>OK: these numbers match the ones saved by the notebook (outputs/key_numbers.json).</a:t>
            </a:r>
          </a:p>
        </p:txBody>
      </p:sp>
      <p:sp>
        <p:nvSpPr>
          <p:cNvPr id="10" name="TextBox 9"/>
          <p:cNvSpPr txBox="1"/>
          <p:nvPr/>
        </p:nvSpPr>
        <p:spPr>
          <a:xfrm>
            <a:off x="548640" y="4937760"/>
            <a:ext cx="11155680" cy="1463040"/>
          </a:xfrm>
          <a:prstGeom prst="rect">
            <a:avLst/>
          </a:prstGeom>
          <a:noFill/>
        </p:spPr>
        <p:txBody>
          <a:bodyPr wrap="square" anchor="t" lIns="45720" rIns="45720">
            <a:spAutoFit/>
          </a:bodyPr>
          <a:lstStyle/>
          <a:p>
            <a:pPr algn="l">
              <a:spcAft>
                <a:spcPts val="420"/>
              </a:spcAft>
            </a:pPr>
            <a:r>
              <a:rPr sz="1400" b="0">
                <a:solidFill>
                  <a:srgbClr val="1F2937"/>
                </a:solidFill>
                <a:latin typeface="Calibri"/>
              </a:rPr>
              <a:t>The picture on the left is the real output of the executed notebook, with the tuning time of each model. The box on the right is the real output of quick_check.py, which recomputes the headline scores from the saved predictions in seconds.</a:t>
            </a:r>
          </a:p>
          <a:p>
            <a:pPr algn="l">
              <a:spcAft>
                <a:spcPts val="420"/>
              </a:spcAft>
            </a:pPr>
            <a:r>
              <a:rPr sz="1400" b="0">
                <a:solidFill>
                  <a:srgbClr val="1F2937"/>
                </a:solidFill>
                <a:latin typeface="Calibri"/>
              </a:rPr>
              <a:t>The full notebook takes about 30 minutes on our laptop. Running it again gives identical result tables, even with another scikit-learn version.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AF7F0"/>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F6E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8229600" cy="365760"/>
          </a:xfrm>
          <a:prstGeom prst="rect">
            <a:avLst/>
          </a:prstGeom>
          <a:noFill/>
        </p:spPr>
        <p:txBody>
          <a:bodyPr wrap="square" anchor="t" lIns="45720" rIns="45720">
            <a:spAutoFit/>
          </a:bodyPr>
          <a:lstStyle/>
          <a:p>
            <a:pPr algn="l">
              <a:spcAft>
                <a:spcPts val="540"/>
              </a:spcAft>
            </a:pPr>
            <a:r>
              <a:rPr sz="1200" b="1">
                <a:solidFill>
                  <a:srgbClr val="0F6E6A"/>
                </a:solidFill>
                <a:latin typeface="Calibri"/>
              </a:rPr>
              <a:t>6. RESULTS AND EVALUATION</a:t>
            </a:r>
          </a:p>
        </p:txBody>
      </p:sp>
      <p:sp>
        <p:nvSpPr>
          <p:cNvPr id="4" name="Rounded Rectangle 3"/>
          <p:cNvSpPr/>
          <p:nvPr/>
        </p:nvSpPr>
        <p:spPr>
          <a:xfrm>
            <a:off x="9966960" y="292608"/>
            <a:ext cx="1920240" cy="384048"/>
          </a:xfrm>
          <a:prstGeom prst="roundRect">
            <a:avLst>
              <a:gd name="adj" fmla="val 50000"/>
            </a:avLst>
          </a:prstGeom>
          <a:solidFill>
            <a:srgbClr val="E6F2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0F6E6A"/>
                </a:solidFill>
                <a:latin typeface="Calibri"/>
              </a:rPr>
              <a:t>Presenter: Gokul</a:t>
            </a:r>
          </a:p>
        </p:txBody>
      </p:sp>
      <p:sp>
        <p:nvSpPr>
          <p:cNvPr id="5" name="TextBox 4"/>
          <p:cNvSpPr txBox="1"/>
          <p:nvPr/>
        </p:nvSpPr>
        <p:spPr>
          <a:xfrm>
            <a:off x="548640" y="594360"/>
            <a:ext cx="11155680" cy="731520"/>
          </a:xfrm>
          <a:prstGeom prst="rect">
            <a:avLst/>
          </a:prstGeom>
          <a:noFill/>
        </p:spPr>
        <p:txBody>
          <a:bodyPr wrap="square" anchor="t" lIns="45720" rIns="45720">
            <a:spAutoFit/>
          </a:bodyPr>
          <a:lstStyle/>
          <a:p>
            <a:pPr algn="l">
              <a:spcAft>
                <a:spcPts val="1170"/>
              </a:spcAft>
            </a:pPr>
            <a:r>
              <a:rPr sz="2600" b="1">
                <a:solidFill>
                  <a:srgbClr val="1F2937"/>
                </a:solidFill>
                <a:latin typeface="Calibri"/>
              </a:rPr>
              <a:t>Evaluation metrics and what they mean</a:t>
            </a:r>
          </a:p>
        </p:txBody>
      </p:sp>
      <p:sp>
        <p:nvSpPr>
          <p:cNvPr id="6" name="TextBox 5"/>
          <p:cNvSpPr txBox="1"/>
          <p:nvPr/>
        </p:nvSpPr>
        <p:spPr>
          <a:xfrm>
            <a:off x="11247120" y="6400800"/>
            <a:ext cx="731520" cy="320040"/>
          </a:xfrm>
          <a:prstGeom prst="rect">
            <a:avLst/>
          </a:prstGeom>
          <a:noFill/>
        </p:spPr>
        <p:txBody>
          <a:bodyPr wrap="square" anchor="t" lIns="45720" rIns="45720">
            <a:spAutoFit/>
          </a:bodyPr>
          <a:lstStyle/>
          <a:p>
            <a:pPr algn="r">
              <a:spcAft>
                <a:spcPts val="495"/>
              </a:spcAft>
            </a:pPr>
            <a:r>
              <a:rPr sz="1100" b="0">
                <a:solidFill>
                  <a:srgbClr val="5B6470"/>
                </a:solidFill>
                <a:latin typeface="Calibri"/>
              </a:rPr>
              <a:t>20</a:t>
            </a:r>
          </a:p>
        </p:txBody>
      </p:sp>
      <p:graphicFrame>
        <p:nvGraphicFramePr>
          <p:cNvPr id="7" name="Table 6"/>
          <p:cNvGraphicFramePr>
            <a:graphicFrameLocks noGrp="1"/>
          </p:cNvGraphicFramePr>
          <p:nvPr/>
        </p:nvGraphicFramePr>
        <p:xfrm>
          <a:off x="548640" y="1371600"/>
          <a:ext cx="11155680" cy="4279392"/>
        </p:xfrm>
        <a:graphic>
          <a:graphicData uri="http://schemas.openxmlformats.org/drawingml/2006/table">
            <a:tbl>
              <a:tblPr firstRow="1" bandRow="1">
                <a:tableStyleId>{5C22544A-7EE6-4342-B048-85BDC9FD1C3A}</a:tableStyleId>
              </a:tblPr>
              <a:tblGrid>
                <a:gridCol w="2377440"/>
                <a:gridCol w="8778240"/>
              </a:tblGrid>
              <a:tr h="475488">
                <a:tc>
                  <a:txBody>
                    <a:bodyPr/>
                    <a:lstStyle/>
                    <a:p>
                      <a:pPr algn="l"/>
                      <a:r>
                        <a:rPr sz="1400" b="1">
                          <a:solidFill>
                            <a:srgbClr val="FFFFFF"/>
                          </a:solidFill>
                          <a:latin typeface="Calibri"/>
                        </a:rPr>
                        <a:t>Metric</a:t>
                      </a:r>
                    </a:p>
                  </a:txBody>
                  <a:tcPr marT="45720" marB="45720" anchor="ctr">
                    <a:solidFill>
                      <a:srgbClr val="0F6E6A"/>
                    </a:solidFill>
                  </a:tcPr>
                </a:tc>
                <a:tc>
                  <a:txBody>
                    <a:bodyPr/>
                    <a:lstStyle/>
                    <a:p>
                      <a:pPr algn="l"/>
                      <a:r>
                        <a:rPr sz="1400" b="1">
                          <a:solidFill>
                            <a:srgbClr val="FFFFFF"/>
                          </a:solidFill>
                          <a:latin typeface="Calibri"/>
                        </a:rPr>
                        <a:t>In plain words</a:t>
                      </a:r>
                    </a:p>
                  </a:txBody>
                  <a:tcPr marT="45720" marB="45720" anchor="ctr">
                    <a:solidFill>
                      <a:srgbClr val="0F6E6A"/>
                    </a:solidFill>
                  </a:tcPr>
                </a:tc>
              </a:tr>
              <a:tr h="475488">
                <a:tc>
                  <a:txBody>
                    <a:bodyPr/>
                    <a:lstStyle/>
                    <a:p>
                      <a:pPr algn="l"/>
                      <a:r>
                        <a:rPr sz="1400" b="1">
                          <a:solidFill>
                            <a:srgbClr val="1F2937"/>
                          </a:solidFill>
                          <a:latin typeface="Calibri"/>
                        </a:rPr>
                        <a:t>Accuracy</a:t>
                      </a:r>
                    </a:p>
                  </a:txBody>
                  <a:tcPr marT="45720" marB="45720" anchor="ctr">
                    <a:solidFill>
                      <a:srgbClr val="FFFFFF"/>
                    </a:solidFill>
                  </a:tcPr>
                </a:tc>
                <a:tc>
                  <a:txBody>
                    <a:bodyPr/>
                    <a:lstStyle/>
                    <a:p>
                      <a:pPr algn="l"/>
                      <a:r>
                        <a:rPr sz="1400" b="0">
                          <a:solidFill>
                            <a:srgbClr val="1F2937"/>
                          </a:solidFill>
                          <a:latin typeface="Calibri"/>
                        </a:rPr>
                        <a:t>The share of all predictions that are right</a:t>
                      </a:r>
                    </a:p>
                  </a:txBody>
                  <a:tcPr marT="45720" marB="45720" anchor="ctr">
                    <a:solidFill>
                      <a:srgbClr val="FFFFFF"/>
                    </a:solidFill>
                  </a:tcPr>
                </a:tc>
              </a:tr>
              <a:tr h="475488">
                <a:tc>
                  <a:txBody>
                    <a:bodyPr/>
                    <a:lstStyle/>
                    <a:p>
                      <a:pPr algn="l"/>
                      <a:r>
                        <a:rPr sz="1400" b="1">
                          <a:solidFill>
                            <a:srgbClr val="1F2937"/>
                          </a:solidFill>
                          <a:latin typeface="Calibri"/>
                        </a:rPr>
                        <a:t>Precision</a:t>
                      </a:r>
                    </a:p>
                  </a:txBody>
                  <a:tcPr marT="45720" marB="45720" anchor="ctr">
                    <a:solidFill>
                      <a:srgbClr val="FFFFFF"/>
                    </a:solidFill>
                  </a:tcPr>
                </a:tc>
                <a:tc>
                  <a:txBody>
                    <a:bodyPr/>
                    <a:lstStyle/>
                    <a:p>
                      <a:pPr algn="l"/>
                      <a:r>
                        <a:rPr sz="1400" b="0">
                          <a:solidFill>
                            <a:srgbClr val="1F2937"/>
                          </a:solidFill>
                          <a:latin typeface="Calibri"/>
                        </a:rPr>
                        <a:t>Of the households we call 'escaped', the share that really escaped</a:t>
                      </a:r>
                    </a:p>
                  </a:txBody>
                  <a:tcPr marT="45720" marB="45720" anchor="ctr">
                    <a:solidFill>
                      <a:srgbClr val="FFFFFF"/>
                    </a:solidFill>
                  </a:tcPr>
                </a:tc>
              </a:tr>
              <a:tr h="475488">
                <a:tc>
                  <a:txBody>
                    <a:bodyPr/>
                    <a:lstStyle/>
                    <a:p>
                      <a:pPr algn="l"/>
                      <a:r>
                        <a:rPr sz="1400" b="1">
                          <a:solidFill>
                            <a:srgbClr val="1F2937"/>
                          </a:solidFill>
                          <a:latin typeface="Calibri"/>
                        </a:rPr>
                        <a:t>Recall</a:t>
                      </a:r>
                    </a:p>
                  </a:txBody>
                  <a:tcPr marT="45720" marB="45720" anchor="ctr">
                    <a:solidFill>
                      <a:srgbClr val="FFFFFF"/>
                    </a:solidFill>
                  </a:tcPr>
                </a:tc>
                <a:tc>
                  <a:txBody>
                    <a:bodyPr/>
                    <a:lstStyle/>
                    <a:p>
                      <a:pPr algn="l"/>
                      <a:r>
                        <a:rPr sz="1400" b="0">
                          <a:solidFill>
                            <a:srgbClr val="1F2937"/>
                          </a:solidFill>
                          <a:latin typeface="Calibri"/>
                        </a:rPr>
                        <a:t>Of the households that really escaped, the share we found</a:t>
                      </a:r>
                    </a:p>
                  </a:txBody>
                  <a:tcPr marT="45720" marB="45720" anchor="ctr">
                    <a:solidFill>
                      <a:srgbClr val="FFFFFF"/>
                    </a:solidFill>
                  </a:tcPr>
                </a:tc>
              </a:tr>
              <a:tr h="475488">
                <a:tc>
                  <a:txBody>
                    <a:bodyPr/>
                    <a:lstStyle/>
                    <a:p>
                      <a:pPr algn="l"/>
                      <a:r>
                        <a:rPr sz="1400" b="1">
                          <a:solidFill>
                            <a:srgbClr val="1F2937"/>
                          </a:solidFill>
                          <a:latin typeface="Calibri"/>
                        </a:rPr>
                        <a:t>F1-score</a:t>
                      </a:r>
                    </a:p>
                  </a:txBody>
                  <a:tcPr marT="45720" marB="45720" anchor="ctr">
                    <a:solidFill>
                      <a:srgbClr val="FFFFFF"/>
                    </a:solidFill>
                  </a:tcPr>
                </a:tc>
                <a:tc>
                  <a:txBody>
                    <a:bodyPr/>
                    <a:lstStyle/>
                    <a:p>
                      <a:pPr algn="l"/>
                      <a:r>
                        <a:rPr sz="1400" b="0">
                          <a:solidFill>
                            <a:srgbClr val="1F2937"/>
                          </a:solidFill>
                          <a:latin typeface="Calibri"/>
                        </a:rPr>
                        <a:t>One number that balances precision and recall</a:t>
                      </a:r>
                    </a:p>
                  </a:txBody>
                  <a:tcPr marT="45720" marB="45720" anchor="ctr">
                    <a:solidFill>
                      <a:srgbClr val="FFFFFF"/>
                    </a:solidFill>
                  </a:tcPr>
                </a:tc>
              </a:tr>
              <a:tr h="475488">
                <a:tc>
                  <a:txBody>
                    <a:bodyPr/>
                    <a:lstStyle/>
                    <a:p>
                      <a:pPr algn="l"/>
                      <a:r>
                        <a:rPr sz="1400" b="1">
                          <a:solidFill>
                            <a:srgbClr val="1F2937"/>
                          </a:solidFill>
                          <a:latin typeface="Calibri"/>
                        </a:rPr>
                        <a:t>Confusion matrix</a:t>
                      </a:r>
                    </a:p>
                  </a:txBody>
                  <a:tcPr marT="45720" marB="45720" anchor="ctr">
                    <a:solidFill>
                      <a:srgbClr val="FFFFFF"/>
                    </a:solidFill>
                  </a:tcPr>
                </a:tc>
                <a:tc>
                  <a:txBody>
                    <a:bodyPr/>
                    <a:lstStyle/>
                    <a:p>
                      <a:pPr algn="l"/>
                      <a:r>
                        <a:rPr sz="1400" b="0">
                          <a:solidFill>
                            <a:srgbClr val="1F2937"/>
                          </a:solidFill>
                          <a:latin typeface="Calibri"/>
                        </a:rPr>
                        <a:t>A table of right and wrong predictions</a:t>
                      </a:r>
                    </a:p>
                  </a:txBody>
                  <a:tcPr marT="45720" marB="45720" anchor="ctr">
                    <a:solidFill>
                      <a:srgbClr val="FFFFFF"/>
                    </a:solidFill>
                  </a:tcPr>
                </a:tc>
              </a:tr>
              <a:tr h="475488">
                <a:tc>
                  <a:txBody>
                    <a:bodyPr/>
                    <a:lstStyle/>
                    <a:p>
                      <a:pPr algn="l"/>
                      <a:r>
                        <a:rPr sz="1400" b="1">
                          <a:solidFill>
                            <a:srgbClr val="1F2937"/>
                          </a:solidFill>
                          <a:latin typeface="Calibri"/>
                        </a:rPr>
                        <a:t>Macro-F1</a:t>
                      </a:r>
                    </a:p>
                  </a:txBody>
                  <a:tcPr marT="45720" marB="45720" anchor="ctr">
                    <a:solidFill>
                      <a:srgbClr val="FFFFFF"/>
                    </a:solidFill>
                  </a:tcPr>
                </a:tc>
                <a:tc>
                  <a:txBody>
                    <a:bodyPr/>
                    <a:lstStyle/>
                    <a:p>
                      <a:pPr algn="l"/>
                      <a:r>
                        <a:rPr sz="1400" b="0">
                          <a:solidFill>
                            <a:srgbClr val="1F2937"/>
                          </a:solidFill>
                          <a:latin typeface="Calibri"/>
                        </a:rPr>
                        <a:t>The F1-score averaged over both classes</a:t>
                      </a:r>
                    </a:p>
                  </a:txBody>
                  <a:tcPr marT="45720" marB="45720" anchor="ctr">
                    <a:solidFill>
                      <a:srgbClr val="FFFFFF"/>
                    </a:solidFill>
                  </a:tcPr>
                </a:tc>
              </a:tr>
              <a:tr h="475488">
                <a:tc>
                  <a:txBody>
                    <a:bodyPr/>
                    <a:lstStyle/>
                    <a:p>
                      <a:pPr algn="l"/>
                      <a:r>
                        <a:rPr sz="1400" b="1">
                          <a:solidFill>
                            <a:srgbClr val="1F2937"/>
                          </a:solidFill>
                          <a:latin typeface="Calibri"/>
                        </a:rPr>
                        <a:t>ROC-AUC</a:t>
                      </a:r>
                    </a:p>
                  </a:txBody>
                  <a:tcPr marT="45720" marB="45720" anchor="ctr">
                    <a:solidFill>
                      <a:srgbClr val="FFFFFF"/>
                    </a:solidFill>
                  </a:tcPr>
                </a:tc>
                <a:tc>
                  <a:txBody>
                    <a:bodyPr/>
                    <a:lstStyle/>
                    <a:p>
                      <a:pPr algn="l"/>
                      <a:r>
                        <a:rPr sz="1400" b="0">
                          <a:solidFill>
                            <a:srgbClr val="1F2937"/>
                          </a:solidFill>
                          <a:latin typeface="Calibri"/>
                        </a:rPr>
                        <a:t>The chance that the model scores a random escaped household above a random stayed-poor one. 0.5 is guessing and 1 is perfect</a:t>
                      </a:r>
                    </a:p>
                  </a:txBody>
                  <a:tcPr marT="45720" marB="45720" anchor="ctr">
                    <a:solidFill>
                      <a:srgbClr val="FFFFFF"/>
                    </a:solidFill>
                  </a:tcPr>
                </a:tc>
              </a:tr>
              <a:tr h="475488">
                <a:tc>
                  <a:txBody>
                    <a:bodyPr/>
                    <a:lstStyle/>
                    <a:p>
                      <a:pPr algn="l"/>
                      <a:r>
                        <a:rPr sz="1400" b="1">
                          <a:solidFill>
                            <a:srgbClr val="1F2937"/>
                          </a:solidFill>
                          <a:latin typeface="Calibri"/>
                        </a:rPr>
                        <a:t>95% interval</a:t>
                      </a:r>
                    </a:p>
                  </a:txBody>
                  <a:tcPr marT="45720" marB="45720" anchor="ctr">
                    <a:solidFill>
                      <a:srgbClr val="FFFFFF"/>
                    </a:solidFill>
                  </a:tcPr>
                </a:tc>
                <a:tc>
                  <a:txBody>
                    <a:bodyPr/>
                    <a:lstStyle/>
                    <a:p>
                      <a:pPr algn="l"/>
                      <a:r>
                        <a:rPr sz="1400" b="0">
                          <a:solidFill>
                            <a:srgbClr val="1F2937"/>
                          </a:solidFill>
                          <a:latin typeface="Calibri"/>
                        </a:rPr>
                        <a:t>How far a score could move by chance</a:t>
                      </a:r>
                    </a:p>
                  </a:txBody>
                  <a:tcPr marT="45720" marB="45720" anchor="ctr">
                    <a:solidFill>
                      <a:srgbClr val="FFFFFF"/>
                    </a:solidFill>
                  </a:tcPr>
                </a:tc>
              </a:tr>
            </a:tbl>
          </a:graphicData>
        </a:graphic>
      </p:graphicFrame>
      <p:sp>
        <p:nvSpPr>
          <p:cNvPr id="8" name="Rounded Rectangle 7"/>
          <p:cNvSpPr/>
          <p:nvPr/>
        </p:nvSpPr>
        <p:spPr>
          <a:xfrm>
            <a:off x="548640" y="5806440"/>
            <a:ext cx="11155680" cy="548640"/>
          </a:xfrm>
          <a:prstGeom prst="roundRect">
            <a:avLst>
              <a:gd name="adj" fmla="val 6000"/>
            </a:avLst>
          </a:prstGeom>
          <a:solidFill>
            <a:srgbClr val="E6F2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5806440"/>
            <a:ext cx="10789920" cy="548640"/>
          </a:xfrm>
          <a:prstGeom prst="rect">
            <a:avLst/>
          </a:prstGeom>
          <a:noFill/>
        </p:spPr>
        <p:txBody>
          <a:bodyPr wrap="square" anchor="ctr" lIns="45720" rIns="45720">
            <a:spAutoFit/>
          </a:bodyPr>
          <a:lstStyle/>
          <a:p>
            <a:pPr algn="l">
              <a:spcAft>
                <a:spcPts val="300"/>
              </a:spcAft>
            </a:pPr>
            <a:r>
              <a:rPr sz="1500" b="1">
                <a:solidFill>
                  <a:srgbClr val="0F6E6A"/>
                </a:solidFill>
                <a:latin typeface="Calibri"/>
              </a:rPr>
              <a:t>Accuracy alone can mislead here. A model that always says 'escaped' would be right 69% of the time without learning anything.</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AF7F0"/>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F6E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8229600" cy="365760"/>
          </a:xfrm>
          <a:prstGeom prst="rect">
            <a:avLst/>
          </a:prstGeom>
          <a:noFill/>
        </p:spPr>
        <p:txBody>
          <a:bodyPr wrap="square" anchor="t" lIns="45720" rIns="45720">
            <a:spAutoFit/>
          </a:bodyPr>
          <a:lstStyle/>
          <a:p>
            <a:pPr algn="l">
              <a:spcAft>
                <a:spcPts val="540"/>
              </a:spcAft>
            </a:pPr>
            <a:r>
              <a:rPr sz="1200" b="1">
                <a:solidFill>
                  <a:srgbClr val="0F6E6A"/>
                </a:solidFill>
                <a:latin typeface="Calibri"/>
              </a:rPr>
              <a:t>6. RESULTS AND EVALUATION</a:t>
            </a:r>
          </a:p>
        </p:txBody>
      </p:sp>
      <p:sp>
        <p:nvSpPr>
          <p:cNvPr id="4" name="Rounded Rectangle 3"/>
          <p:cNvSpPr/>
          <p:nvPr/>
        </p:nvSpPr>
        <p:spPr>
          <a:xfrm>
            <a:off x="9966960" y="292608"/>
            <a:ext cx="1920240" cy="384048"/>
          </a:xfrm>
          <a:prstGeom prst="roundRect">
            <a:avLst>
              <a:gd name="adj" fmla="val 50000"/>
            </a:avLst>
          </a:prstGeom>
          <a:solidFill>
            <a:srgbClr val="E6F2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0F6E6A"/>
                </a:solidFill>
                <a:latin typeface="Calibri"/>
              </a:rPr>
              <a:t>Presenter: Gokul</a:t>
            </a:r>
          </a:p>
        </p:txBody>
      </p:sp>
      <p:sp>
        <p:nvSpPr>
          <p:cNvPr id="5" name="TextBox 4"/>
          <p:cNvSpPr txBox="1"/>
          <p:nvPr/>
        </p:nvSpPr>
        <p:spPr>
          <a:xfrm>
            <a:off x="548640" y="594360"/>
            <a:ext cx="11155680" cy="731520"/>
          </a:xfrm>
          <a:prstGeom prst="rect">
            <a:avLst/>
          </a:prstGeom>
          <a:noFill/>
        </p:spPr>
        <p:txBody>
          <a:bodyPr wrap="square" anchor="t" lIns="45720" rIns="45720">
            <a:spAutoFit/>
          </a:bodyPr>
          <a:lstStyle/>
          <a:p>
            <a:pPr algn="l">
              <a:spcAft>
                <a:spcPts val="1170"/>
              </a:spcAft>
            </a:pPr>
            <a:r>
              <a:rPr sz="2600" b="1">
                <a:solidFill>
                  <a:srgbClr val="1F2937"/>
                </a:solidFill>
                <a:latin typeface="Calibri"/>
              </a:rPr>
              <a:t>XGBoost scores highest, but all four models are close</a:t>
            </a:r>
          </a:p>
        </p:txBody>
      </p:sp>
      <p:sp>
        <p:nvSpPr>
          <p:cNvPr id="6" name="TextBox 5"/>
          <p:cNvSpPr txBox="1"/>
          <p:nvPr/>
        </p:nvSpPr>
        <p:spPr>
          <a:xfrm>
            <a:off x="11247120" y="6400800"/>
            <a:ext cx="731520" cy="320040"/>
          </a:xfrm>
          <a:prstGeom prst="rect">
            <a:avLst/>
          </a:prstGeom>
          <a:noFill/>
        </p:spPr>
        <p:txBody>
          <a:bodyPr wrap="square" anchor="t" lIns="45720" rIns="45720">
            <a:spAutoFit/>
          </a:bodyPr>
          <a:lstStyle/>
          <a:p>
            <a:pPr algn="r">
              <a:spcAft>
                <a:spcPts val="495"/>
              </a:spcAft>
            </a:pPr>
            <a:r>
              <a:rPr sz="1100" b="0">
                <a:solidFill>
                  <a:srgbClr val="5B6470"/>
                </a:solidFill>
                <a:latin typeface="Calibri"/>
              </a:rPr>
              <a:t>21</a:t>
            </a:r>
          </a:p>
        </p:txBody>
      </p:sp>
      <p:graphicFrame>
        <p:nvGraphicFramePr>
          <p:cNvPr id="7" name="Table 6"/>
          <p:cNvGraphicFramePr>
            <a:graphicFrameLocks noGrp="1"/>
          </p:cNvGraphicFramePr>
          <p:nvPr/>
        </p:nvGraphicFramePr>
        <p:xfrm>
          <a:off x="548640" y="1371600"/>
          <a:ext cx="11155680" cy="3291840"/>
        </p:xfrm>
        <a:graphic>
          <a:graphicData uri="http://schemas.openxmlformats.org/drawingml/2006/table">
            <a:tbl>
              <a:tblPr firstRow="1" bandRow="1">
                <a:tableStyleId>{5C22544A-7EE6-4342-B048-85BDC9FD1C3A}</a:tableStyleId>
              </a:tblPr>
              <a:tblGrid>
                <a:gridCol w="2743200"/>
                <a:gridCol w="4206240"/>
                <a:gridCol w="2011680"/>
                <a:gridCol w="2194560"/>
              </a:tblGrid>
              <a:tr h="548640">
                <a:tc>
                  <a:txBody>
                    <a:bodyPr/>
                    <a:lstStyle/>
                    <a:p>
                      <a:pPr algn="l"/>
                      <a:r>
                        <a:rPr sz="1600" b="1">
                          <a:solidFill>
                            <a:srgbClr val="FFFFFF"/>
                          </a:solidFill>
                          <a:latin typeface="Calibri"/>
                        </a:rPr>
                        <a:t>Model</a:t>
                      </a:r>
                    </a:p>
                  </a:txBody>
                  <a:tcPr marT="45720" marB="45720" anchor="ctr">
                    <a:solidFill>
                      <a:srgbClr val="0F6E6A"/>
                    </a:solidFill>
                  </a:tcPr>
                </a:tc>
                <a:tc>
                  <a:txBody>
                    <a:bodyPr/>
                    <a:lstStyle/>
                    <a:p>
                      <a:pPr algn="l"/>
                      <a:r>
                        <a:rPr sz="1600" b="1">
                          <a:solidFill>
                            <a:srgbClr val="FFFFFF"/>
                          </a:solidFill>
                          <a:latin typeface="Calibri"/>
                        </a:rPr>
                        <a:t>ROC-AUC (95% interval)</a:t>
                      </a:r>
                    </a:p>
                  </a:txBody>
                  <a:tcPr marT="45720" marB="45720" anchor="ctr">
                    <a:solidFill>
                      <a:srgbClr val="0F6E6A"/>
                    </a:solidFill>
                  </a:tcPr>
                </a:tc>
                <a:tc>
                  <a:txBody>
                    <a:bodyPr/>
                    <a:lstStyle/>
                    <a:p>
                      <a:pPr algn="l"/>
                      <a:r>
                        <a:rPr sz="1600" b="1">
                          <a:solidFill>
                            <a:srgbClr val="FFFFFF"/>
                          </a:solidFill>
                          <a:latin typeface="Calibri"/>
                        </a:rPr>
                        <a:t>Accuracy</a:t>
                      </a:r>
                    </a:p>
                  </a:txBody>
                  <a:tcPr marT="45720" marB="45720" anchor="ctr">
                    <a:solidFill>
                      <a:srgbClr val="0F6E6A"/>
                    </a:solidFill>
                  </a:tcPr>
                </a:tc>
                <a:tc>
                  <a:txBody>
                    <a:bodyPr/>
                    <a:lstStyle/>
                    <a:p>
                      <a:pPr algn="l"/>
                      <a:r>
                        <a:rPr sz="1600" b="1">
                          <a:solidFill>
                            <a:srgbClr val="FFFFFF"/>
                          </a:solidFill>
                          <a:latin typeface="Calibri"/>
                        </a:rPr>
                        <a:t>Macro-F1</a:t>
                      </a:r>
                    </a:p>
                  </a:txBody>
                  <a:tcPr marT="45720" marB="45720" anchor="ctr">
                    <a:solidFill>
                      <a:srgbClr val="0F6E6A"/>
                    </a:solidFill>
                  </a:tcPr>
                </a:tc>
              </a:tr>
              <a:tr h="548640">
                <a:tc>
                  <a:txBody>
                    <a:bodyPr/>
                    <a:lstStyle/>
                    <a:p>
                      <a:pPr algn="l"/>
                      <a:r>
                        <a:rPr sz="1600" b="1">
                          <a:solidFill>
                            <a:srgbClr val="1F2937"/>
                          </a:solidFill>
                          <a:latin typeface="Calibri"/>
                        </a:rPr>
                        <a:t>XGBoost</a:t>
                      </a:r>
                    </a:p>
                  </a:txBody>
                  <a:tcPr marT="45720" marB="45720" anchor="ctr">
                    <a:solidFill>
                      <a:srgbClr val="FFF1E6"/>
                    </a:solidFill>
                  </a:tcPr>
                </a:tc>
                <a:tc>
                  <a:txBody>
                    <a:bodyPr/>
                    <a:lstStyle/>
                    <a:p>
                      <a:pPr algn="l"/>
                      <a:r>
                        <a:rPr sz="1600" b="0">
                          <a:solidFill>
                            <a:srgbClr val="1F2937"/>
                          </a:solidFill>
                          <a:latin typeface="Calibri"/>
                        </a:rPr>
                        <a:t>0.722 (0.694 to 0.750)</a:t>
                      </a:r>
                    </a:p>
                  </a:txBody>
                  <a:tcPr marT="45720" marB="45720" anchor="ctr">
                    <a:solidFill>
                      <a:srgbClr val="FFF1E6"/>
                    </a:solidFill>
                  </a:tcPr>
                </a:tc>
                <a:tc>
                  <a:txBody>
                    <a:bodyPr/>
                    <a:lstStyle/>
                    <a:p>
                      <a:pPr algn="l"/>
                      <a:r>
                        <a:rPr sz="1600" b="0">
                          <a:solidFill>
                            <a:srgbClr val="1F2937"/>
                          </a:solidFill>
                          <a:latin typeface="Calibri"/>
                        </a:rPr>
                        <a:t>0.696</a:t>
                      </a:r>
                    </a:p>
                  </a:txBody>
                  <a:tcPr marT="45720" marB="45720" anchor="ctr">
                    <a:solidFill>
                      <a:srgbClr val="FFF1E6"/>
                    </a:solidFill>
                  </a:tcPr>
                </a:tc>
                <a:tc>
                  <a:txBody>
                    <a:bodyPr/>
                    <a:lstStyle/>
                    <a:p>
                      <a:pPr algn="l"/>
                      <a:r>
                        <a:rPr sz="1600" b="0">
                          <a:solidFill>
                            <a:srgbClr val="1F2937"/>
                          </a:solidFill>
                          <a:latin typeface="Calibri"/>
                        </a:rPr>
                        <a:t>0.654</a:t>
                      </a:r>
                    </a:p>
                  </a:txBody>
                  <a:tcPr marT="45720" marB="45720" anchor="ctr">
                    <a:solidFill>
                      <a:srgbClr val="FFF1E6"/>
                    </a:solidFill>
                  </a:tcPr>
                </a:tc>
              </a:tr>
              <a:tr h="548640">
                <a:tc>
                  <a:txBody>
                    <a:bodyPr/>
                    <a:lstStyle/>
                    <a:p>
                      <a:pPr algn="l"/>
                      <a:r>
                        <a:rPr sz="1600" b="1">
                          <a:solidFill>
                            <a:srgbClr val="1F2937"/>
                          </a:solidFill>
                          <a:latin typeface="Calibri"/>
                        </a:rPr>
                        <a:t>Ensemble</a:t>
                      </a:r>
                    </a:p>
                  </a:txBody>
                  <a:tcPr marT="45720" marB="45720" anchor="ctr">
                    <a:solidFill>
                      <a:srgbClr val="FFFFFF"/>
                    </a:solidFill>
                  </a:tcPr>
                </a:tc>
                <a:tc>
                  <a:txBody>
                    <a:bodyPr/>
                    <a:lstStyle/>
                    <a:p>
                      <a:pPr algn="l"/>
                      <a:r>
                        <a:rPr sz="1600" b="0">
                          <a:solidFill>
                            <a:srgbClr val="1F2937"/>
                          </a:solidFill>
                          <a:latin typeface="Calibri"/>
                        </a:rPr>
                        <a:t>0.719 (0.689 to 0.747)</a:t>
                      </a:r>
                    </a:p>
                  </a:txBody>
                  <a:tcPr marT="45720" marB="45720" anchor="ctr">
                    <a:solidFill>
                      <a:srgbClr val="FFFFFF"/>
                    </a:solidFill>
                  </a:tcPr>
                </a:tc>
                <a:tc>
                  <a:txBody>
                    <a:bodyPr/>
                    <a:lstStyle/>
                    <a:p>
                      <a:pPr algn="l"/>
                      <a:r>
                        <a:rPr sz="1600" b="0">
                          <a:solidFill>
                            <a:srgbClr val="1F2937"/>
                          </a:solidFill>
                          <a:latin typeface="Calibri"/>
                        </a:rPr>
                        <a:t>0.695</a:t>
                      </a:r>
                    </a:p>
                  </a:txBody>
                  <a:tcPr marT="45720" marB="45720" anchor="ctr">
                    <a:solidFill>
                      <a:srgbClr val="FFFFFF"/>
                    </a:solidFill>
                  </a:tcPr>
                </a:tc>
                <a:tc>
                  <a:txBody>
                    <a:bodyPr/>
                    <a:lstStyle/>
                    <a:p>
                      <a:pPr algn="l"/>
                      <a:r>
                        <a:rPr sz="1600" b="0">
                          <a:solidFill>
                            <a:srgbClr val="1F2937"/>
                          </a:solidFill>
                          <a:latin typeface="Calibri"/>
                        </a:rPr>
                        <a:t>0.647</a:t>
                      </a:r>
                    </a:p>
                  </a:txBody>
                  <a:tcPr marT="45720" marB="45720" anchor="ctr">
                    <a:solidFill>
                      <a:srgbClr val="FFFFFF"/>
                    </a:solidFill>
                  </a:tcPr>
                </a:tc>
              </a:tr>
              <a:tr h="548640">
                <a:tc>
                  <a:txBody>
                    <a:bodyPr/>
                    <a:lstStyle/>
                    <a:p>
                      <a:pPr algn="l"/>
                      <a:r>
                        <a:rPr sz="1600" b="1">
                          <a:solidFill>
                            <a:srgbClr val="1F2937"/>
                          </a:solidFill>
                          <a:latin typeface="Calibri"/>
                        </a:rPr>
                        <a:t>Random Forest</a:t>
                      </a:r>
                    </a:p>
                  </a:txBody>
                  <a:tcPr marT="45720" marB="45720" anchor="ctr">
                    <a:solidFill>
                      <a:srgbClr val="FFFFFF"/>
                    </a:solidFill>
                  </a:tcPr>
                </a:tc>
                <a:tc>
                  <a:txBody>
                    <a:bodyPr/>
                    <a:lstStyle/>
                    <a:p>
                      <a:pPr algn="l"/>
                      <a:r>
                        <a:rPr sz="1600" b="0">
                          <a:solidFill>
                            <a:srgbClr val="1F2937"/>
                          </a:solidFill>
                          <a:latin typeface="Calibri"/>
                        </a:rPr>
                        <a:t>0.709 (0.679 to 0.738)</a:t>
                      </a:r>
                    </a:p>
                  </a:txBody>
                  <a:tcPr marT="45720" marB="45720" anchor="ctr">
                    <a:solidFill>
                      <a:srgbClr val="FFFFFF"/>
                    </a:solidFill>
                  </a:tcPr>
                </a:tc>
                <a:tc>
                  <a:txBody>
                    <a:bodyPr/>
                    <a:lstStyle/>
                    <a:p>
                      <a:pPr algn="l"/>
                      <a:r>
                        <a:rPr sz="1600" b="0">
                          <a:solidFill>
                            <a:srgbClr val="1F2937"/>
                          </a:solidFill>
                          <a:latin typeface="Calibri"/>
                        </a:rPr>
                        <a:t>0.693</a:t>
                      </a:r>
                    </a:p>
                  </a:txBody>
                  <a:tcPr marT="45720" marB="45720" anchor="ctr">
                    <a:solidFill>
                      <a:srgbClr val="FFFFFF"/>
                    </a:solidFill>
                  </a:tcPr>
                </a:tc>
                <a:tc>
                  <a:txBody>
                    <a:bodyPr/>
                    <a:lstStyle/>
                    <a:p>
                      <a:pPr algn="l"/>
                      <a:r>
                        <a:rPr sz="1600" b="0">
                          <a:solidFill>
                            <a:srgbClr val="1F2937"/>
                          </a:solidFill>
                          <a:latin typeface="Calibri"/>
                        </a:rPr>
                        <a:t>0.645</a:t>
                      </a:r>
                    </a:p>
                  </a:txBody>
                  <a:tcPr marT="45720" marB="45720" anchor="ctr">
                    <a:solidFill>
                      <a:srgbClr val="FFFFFF"/>
                    </a:solidFill>
                  </a:tcPr>
                </a:tc>
              </a:tr>
              <a:tr h="548640">
                <a:tc>
                  <a:txBody>
                    <a:bodyPr/>
                    <a:lstStyle/>
                    <a:p>
                      <a:pPr algn="l"/>
                      <a:r>
                        <a:rPr sz="1600" b="1">
                          <a:solidFill>
                            <a:srgbClr val="1F2937"/>
                          </a:solidFill>
                          <a:latin typeface="Calibri"/>
                        </a:rPr>
                        <a:t>Logistic Regression</a:t>
                      </a:r>
                    </a:p>
                  </a:txBody>
                  <a:tcPr marT="45720" marB="45720" anchor="ctr">
                    <a:solidFill>
                      <a:srgbClr val="FFFFFF"/>
                    </a:solidFill>
                  </a:tcPr>
                </a:tc>
                <a:tc>
                  <a:txBody>
                    <a:bodyPr/>
                    <a:lstStyle/>
                    <a:p>
                      <a:pPr algn="l"/>
                      <a:r>
                        <a:rPr sz="1600" b="0">
                          <a:solidFill>
                            <a:srgbClr val="1F2937"/>
                          </a:solidFill>
                          <a:latin typeface="Calibri"/>
                        </a:rPr>
                        <a:t>0.700 (0.670 to 0.730)</a:t>
                      </a:r>
                    </a:p>
                  </a:txBody>
                  <a:tcPr marT="45720" marB="45720" anchor="ctr">
                    <a:solidFill>
                      <a:srgbClr val="FFFFFF"/>
                    </a:solidFill>
                  </a:tcPr>
                </a:tc>
                <a:tc>
                  <a:txBody>
                    <a:bodyPr/>
                    <a:lstStyle/>
                    <a:p>
                      <a:pPr algn="l"/>
                      <a:r>
                        <a:rPr sz="1600" b="0">
                          <a:solidFill>
                            <a:srgbClr val="1F2937"/>
                          </a:solidFill>
                          <a:latin typeface="Calibri"/>
                        </a:rPr>
                        <a:t>0.678</a:t>
                      </a:r>
                    </a:p>
                  </a:txBody>
                  <a:tcPr marT="45720" marB="45720" anchor="ctr">
                    <a:solidFill>
                      <a:srgbClr val="FFFFFF"/>
                    </a:solidFill>
                  </a:tcPr>
                </a:tc>
                <a:tc>
                  <a:txBody>
                    <a:bodyPr/>
                    <a:lstStyle/>
                    <a:p>
                      <a:pPr algn="l"/>
                      <a:r>
                        <a:rPr sz="1600" b="0">
                          <a:solidFill>
                            <a:srgbClr val="1F2937"/>
                          </a:solidFill>
                          <a:latin typeface="Calibri"/>
                        </a:rPr>
                        <a:t>0.636</a:t>
                      </a:r>
                    </a:p>
                  </a:txBody>
                  <a:tcPr marT="45720" marB="45720" anchor="ctr">
                    <a:solidFill>
                      <a:srgbClr val="FFFFFF"/>
                    </a:solidFill>
                  </a:tcPr>
                </a:tc>
              </a:tr>
              <a:tr h="548640">
                <a:tc>
                  <a:txBody>
                    <a:bodyPr/>
                    <a:lstStyle/>
                    <a:p>
                      <a:pPr algn="l"/>
                      <a:r>
                        <a:rPr sz="1600" b="1">
                          <a:solidFill>
                            <a:srgbClr val="1F2937"/>
                          </a:solidFill>
                          <a:latin typeface="Calibri"/>
                        </a:rPr>
                        <a:t>Dummy</a:t>
                      </a:r>
                    </a:p>
                  </a:txBody>
                  <a:tcPr marT="45720" marB="45720" anchor="ctr">
                    <a:solidFill>
                      <a:srgbClr val="FFFFFF"/>
                    </a:solidFill>
                  </a:tcPr>
                </a:tc>
                <a:tc>
                  <a:txBody>
                    <a:bodyPr/>
                    <a:lstStyle/>
                    <a:p>
                      <a:pPr algn="l"/>
                      <a:r>
                        <a:rPr sz="1600" b="0">
                          <a:solidFill>
                            <a:srgbClr val="1F2937"/>
                          </a:solidFill>
                          <a:latin typeface="Calibri"/>
                        </a:rPr>
                        <a:t>0.487</a:t>
                      </a:r>
                    </a:p>
                  </a:txBody>
                  <a:tcPr marT="45720" marB="45720" anchor="ctr">
                    <a:solidFill>
                      <a:srgbClr val="FFFFFF"/>
                    </a:solidFill>
                  </a:tcPr>
                </a:tc>
                <a:tc>
                  <a:txBody>
                    <a:bodyPr/>
                    <a:lstStyle/>
                    <a:p>
                      <a:pPr algn="l"/>
                      <a:r>
                        <a:rPr sz="1600" b="0">
                          <a:solidFill>
                            <a:srgbClr val="1F2937"/>
                          </a:solidFill>
                          <a:latin typeface="Calibri"/>
                        </a:rPr>
                        <a:t>0.692</a:t>
                      </a:r>
                    </a:p>
                  </a:txBody>
                  <a:tcPr marT="45720" marB="45720" anchor="ctr">
                    <a:solidFill>
                      <a:srgbClr val="FFFFFF"/>
                    </a:solidFill>
                  </a:tcPr>
                </a:tc>
                <a:tc>
                  <a:txBody>
                    <a:bodyPr/>
                    <a:lstStyle/>
                    <a:p>
                      <a:pPr algn="l"/>
                      <a:r>
                        <a:rPr sz="1600" b="0">
                          <a:solidFill>
                            <a:srgbClr val="1F2937"/>
                          </a:solidFill>
                          <a:latin typeface="Calibri"/>
                        </a:rPr>
                        <a:t>0.409</a:t>
                      </a:r>
                    </a:p>
                  </a:txBody>
                  <a:tcPr marT="45720" marB="45720" anchor="ctr">
                    <a:solidFill>
                      <a:srgbClr val="FFFFFF"/>
                    </a:solidFill>
                  </a:tcPr>
                </a:tc>
              </a:tr>
            </a:tbl>
          </a:graphicData>
        </a:graphic>
      </p:graphicFrame>
      <p:sp>
        <p:nvSpPr>
          <p:cNvPr id="8" name="Rounded Rectangle 7"/>
          <p:cNvSpPr/>
          <p:nvPr/>
        </p:nvSpPr>
        <p:spPr>
          <a:xfrm>
            <a:off x="548640" y="4846320"/>
            <a:ext cx="11155680" cy="1417320"/>
          </a:xfrm>
          <a:prstGeom prst="roundRect">
            <a:avLst>
              <a:gd name="adj" fmla="val 6000"/>
            </a:avLst>
          </a:prstGeom>
          <a:solidFill>
            <a:srgbClr val="FFFFFF"/>
          </a:solidFill>
          <a:ln>
            <a:solidFill>
              <a:srgbClr val="E3DE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4956048"/>
            <a:ext cx="10789920" cy="411480"/>
          </a:xfrm>
          <a:prstGeom prst="rect">
            <a:avLst/>
          </a:prstGeom>
          <a:noFill/>
        </p:spPr>
        <p:txBody>
          <a:bodyPr wrap="square" anchor="t" lIns="45720" rIns="45720">
            <a:spAutoFit/>
          </a:bodyPr>
          <a:lstStyle/>
          <a:p>
            <a:pPr algn="l">
              <a:spcAft>
                <a:spcPts val="720"/>
              </a:spcAft>
            </a:pPr>
            <a:r>
              <a:rPr sz="1600" b="1">
                <a:solidFill>
                  <a:srgbClr val="0F6E6A"/>
                </a:solidFill>
                <a:latin typeface="Calibri"/>
              </a:rPr>
              <a:t>Reading the table</a:t>
            </a:r>
          </a:p>
        </p:txBody>
      </p:sp>
      <p:sp>
        <p:nvSpPr>
          <p:cNvPr id="10" name="TextBox 9"/>
          <p:cNvSpPr txBox="1"/>
          <p:nvPr/>
        </p:nvSpPr>
        <p:spPr>
          <a:xfrm>
            <a:off x="731520" y="5376672"/>
            <a:ext cx="10789920" cy="822960"/>
          </a:xfrm>
          <a:prstGeom prst="rect">
            <a:avLst/>
          </a:prstGeom>
          <a:noFill/>
        </p:spPr>
        <p:txBody>
          <a:bodyPr wrap="square" anchor="t" lIns="45720" rIns="45720">
            <a:spAutoFit/>
          </a:bodyPr>
          <a:lstStyle/>
          <a:p>
            <a:pPr algn="l">
              <a:spcAft>
                <a:spcPts val="630"/>
              </a:spcAft>
            </a:pPr>
            <a:r>
              <a:rPr sz="1400" b="0">
                <a:solidFill>
                  <a:srgbClr val="1F2937"/>
                </a:solidFill>
                <a:latin typeface="Calibri"/>
              </a:rPr>
              <a:t>XGBoost and the ensemble score highest, and the gap between them (0.003) is within chance. All four models beat the dummy, but the scores are modest, between 0.70 and 0.72. The dummy gives every household the same score, so its true ROC-AUC is 0.5, and the 0.487 comes from tiny random noise that breaks ties.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AF7F0"/>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F6E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8229600" cy="365760"/>
          </a:xfrm>
          <a:prstGeom prst="rect">
            <a:avLst/>
          </a:prstGeom>
          <a:noFill/>
        </p:spPr>
        <p:txBody>
          <a:bodyPr wrap="square" anchor="t" lIns="45720" rIns="45720">
            <a:spAutoFit/>
          </a:bodyPr>
          <a:lstStyle/>
          <a:p>
            <a:pPr algn="l">
              <a:spcAft>
                <a:spcPts val="540"/>
              </a:spcAft>
            </a:pPr>
            <a:r>
              <a:rPr sz="1200" b="1">
                <a:solidFill>
                  <a:srgbClr val="0F6E6A"/>
                </a:solidFill>
                <a:latin typeface="Calibri"/>
              </a:rPr>
              <a:t>6. RESULTS AND EVALUATION</a:t>
            </a:r>
          </a:p>
        </p:txBody>
      </p:sp>
      <p:sp>
        <p:nvSpPr>
          <p:cNvPr id="4" name="Rounded Rectangle 3"/>
          <p:cNvSpPr/>
          <p:nvPr/>
        </p:nvSpPr>
        <p:spPr>
          <a:xfrm>
            <a:off x="9966960" y="292608"/>
            <a:ext cx="1920240" cy="384048"/>
          </a:xfrm>
          <a:prstGeom prst="roundRect">
            <a:avLst>
              <a:gd name="adj" fmla="val 50000"/>
            </a:avLst>
          </a:prstGeom>
          <a:solidFill>
            <a:srgbClr val="E6F2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0F6E6A"/>
                </a:solidFill>
                <a:latin typeface="Calibri"/>
              </a:rPr>
              <a:t>Presenter: Gokul</a:t>
            </a:r>
          </a:p>
        </p:txBody>
      </p:sp>
      <p:sp>
        <p:nvSpPr>
          <p:cNvPr id="5" name="TextBox 4"/>
          <p:cNvSpPr txBox="1"/>
          <p:nvPr/>
        </p:nvSpPr>
        <p:spPr>
          <a:xfrm>
            <a:off x="548640" y="594360"/>
            <a:ext cx="11155680" cy="731520"/>
          </a:xfrm>
          <a:prstGeom prst="rect">
            <a:avLst/>
          </a:prstGeom>
          <a:noFill/>
        </p:spPr>
        <p:txBody>
          <a:bodyPr wrap="square" anchor="t" lIns="45720" rIns="45720">
            <a:spAutoFit/>
          </a:bodyPr>
          <a:lstStyle/>
          <a:p>
            <a:pPr algn="l">
              <a:spcAft>
                <a:spcPts val="1170"/>
              </a:spcAft>
            </a:pPr>
            <a:r>
              <a:rPr sz="2600" b="1">
                <a:solidFill>
                  <a:srgbClr val="1F2937"/>
                </a:solidFill>
                <a:latin typeface="Calibri"/>
              </a:rPr>
              <a:t>All four models find escaped households more easily</a:t>
            </a:r>
          </a:p>
        </p:txBody>
      </p:sp>
      <p:sp>
        <p:nvSpPr>
          <p:cNvPr id="6" name="TextBox 5"/>
          <p:cNvSpPr txBox="1"/>
          <p:nvPr/>
        </p:nvSpPr>
        <p:spPr>
          <a:xfrm>
            <a:off x="11247120" y="6400800"/>
            <a:ext cx="731520" cy="320040"/>
          </a:xfrm>
          <a:prstGeom prst="rect">
            <a:avLst/>
          </a:prstGeom>
          <a:noFill/>
        </p:spPr>
        <p:txBody>
          <a:bodyPr wrap="square" anchor="t" lIns="45720" rIns="45720">
            <a:spAutoFit/>
          </a:bodyPr>
          <a:lstStyle/>
          <a:p>
            <a:pPr algn="r">
              <a:spcAft>
                <a:spcPts val="495"/>
              </a:spcAft>
            </a:pPr>
            <a:r>
              <a:rPr sz="1100" b="0">
                <a:solidFill>
                  <a:srgbClr val="5B6470"/>
                </a:solidFill>
                <a:latin typeface="Calibri"/>
              </a:rPr>
              <a:t>22</a:t>
            </a:r>
          </a:p>
        </p:txBody>
      </p:sp>
      <p:graphicFrame>
        <p:nvGraphicFramePr>
          <p:cNvPr id="7" name="Table 6"/>
          <p:cNvGraphicFramePr>
            <a:graphicFrameLocks noGrp="1"/>
          </p:cNvGraphicFramePr>
          <p:nvPr/>
        </p:nvGraphicFramePr>
        <p:xfrm>
          <a:off x="548640" y="1371600"/>
          <a:ext cx="11247120" cy="2971800"/>
        </p:xfrm>
        <a:graphic>
          <a:graphicData uri="http://schemas.openxmlformats.org/drawingml/2006/table">
            <a:tbl>
              <a:tblPr firstRow="1" bandRow="1">
                <a:tableStyleId>{5C22544A-7EE6-4342-B048-85BDC9FD1C3A}</a:tableStyleId>
              </a:tblPr>
              <a:tblGrid>
                <a:gridCol w="2103120"/>
                <a:gridCol w="1508760"/>
                <a:gridCol w="1508760"/>
                <a:gridCol w="1371600"/>
                <a:gridCol w="1645920"/>
                <a:gridCol w="1645920"/>
                <a:gridCol w="1463040"/>
              </a:tblGrid>
              <a:tr h="594360">
                <a:tc>
                  <a:txBody>
                    <a:bodyPr/>
                    <a:lstStyle/>
                    <a:p>
                      <a:pPr algn="l"/>
                      <a:r>
                        <a:rPr sz="1500" b="1">
                          <a:solidFill>
                            <a:srgbClr val="FFFFFF"/>
                          </a:solidFill>
                          <a:latin typeface="Calibri"/>
                        </a:rPr>
                        <a:t>Model</a:t>
                      </a:r>
                    </a:p>
                  </a:txBody>
                  <a:tcPr marT="45720" marB="45720" anchor="ctr">
                    <a:solidFill>
                      <a:srgbClr val="0F6E6A"/>
                    </a:solidFill>
                  </a:tcPr>
                </a:tc>
                <a:tc>
                  <a:txBody>
                    <a:bodyPr/>
                    <a:lstStyle/>
                    <a:p>
                      <a:pPr algn="l"/>
                      <a:r>
                        <a:rPr sz="1500" b="1">
                          <a:solidFill>
                            <a:srgbClr val="FFFFFF"/>
                          </a:solidFill>
                          <a:latin typeface="Calibri"/>
                        </a:rPr>
                        <a:t>Prec. escaped</a:t>
                      </a:r>
                    </a:p>
                  </a:txBody>
                  <a:tcPr marT="45720" marB="45720" anchor="ctr">
                    <a:solidFill>
                      <a:srgbClr val="0F6E6A"/>
                    </a:solidFill>
                  </a:tcPr>
                </a:tc>
                <a:tc>
                  <a:txBody>
                    <a:bodyPr/>
                    <a:lstStyle/>
                    <a:p>
                      <a:pPr algn="l"/>
                      <a:r>
                        <a:rPr sz="1500" b="1">
                          <a:solidFill>
                            <a:srgbClr val="FFFFFF"/>
                          </a:solidFill>
                          <a:latin typeface="Calibri"/>
                        </a:rPr>
                        <a:t>Recall escaped</a:t>
                      </a:r>
                    </a:p>
                  </a:txBody>
                  <a:tcPr marT="45720" marB="45720" anchor="ctr">
                    <a:solidFill>
                      <a:srgbClr val="0F6E6A"/>
                    </a:solidFill>
                  </a:tcPr>
                </a:tc>
                <a:tc>
                  <a:txBody>
                    <a:bodyPr/>
                    <a:lstStyle/>
                    <a:p>
                      <a:pPr algn="l"/>
                      <a:r>
                        <a:rPr sz="1500" b="1">
                          <a:solidFill>
                            <a:srgbClr val="FFFFFF"/>
                          </a:solidFill>
                          <a:latin typeface="Calibri"/>
                        </a:rPr>
                        <a:t>F1 escaped</a:t>
                      </a:r>
                    </a:p>
                  </a:txBody>
                  <a:tcPr marT="45720" marB="45720" anchor="ctr">
                    <a:solidFill>
                      <a:srgbClr val="0F6E6A"/>
                    </a:solidFill>
                  </a:tcPr>
                </a:tc>
                <a:tc>
                  <a:txBody>
                    <a:bodyPr/>
                    <a:lstStyle/>
                    <a:p>
                      <a:pPr algn="l"/>
                      <a:r>
                        <a:rPr sz="1500" b="1">
                          <a:solidFill>
                            <a:srgbClr val="FFFFFF"/>
                          </a:solidFill>
                          <a:latin typeface="Calibri"/>
                        </a:rPr>
                        <a:t>Prec. stayed poor</a:t>
                      </a:r>
                    </a:p>
                  </a:txBody>
                  <a:tcPr marT="45720" marB="45720" anchor="ctr">
                    <a:solidFill>
                      <a:srgbClr val="0F6E6A"/>
                    </a:solidFill>
                  </a:tcPr>
                </a:tc>
                <a:tc>
                  <a:txBody>
                    <a:bodyPr/>
                    <a:lstStyle/>
                    <a:p>
                      <a:pPr algn="l"/>
                      <a:r>
                        <a:rPr sz="1500" b="1">
                          <a:solidFill>
                            <a:srgbClr val="FFFFFF"/>
                          </a:solidFill>
                          <a:latin typeface="Calibri"/>
                        </a:rPr>
                        <a:t>Recall stayed poor</a:t>
                      </a:r>
                    </a:p>
                  </a:txBody>
                  <a:tcPr marT="45720" marB="45720" anchor="ctr">
                    <a:solidFill>
                      <a:srgbClr val="0F6E6A"/>
                    </a:solidFill>
                  </a:tcPr>
                </a:tc>
                <a:tc>
                  <a:txBody>
                    <a:bodyPr/>
                    <a:lstStyle/>
                    <a:p>
                      <a:pPr algn="l"/>
                      <a:r>
                        <a:rPr sz="1500" b="1">
                          <a:solidFill>
                            <a:srgbClr val="FFFFFF"/>
                          </a:solidFill>
                          <a:latin typeface="Calibri"/>
                        </a:rPr>
                        <a:t>F1 stayed poor</a:t>
                      </a:r>
                    </a:p>
                  </a:txBody>
                  <a:tcPr marT="45720" marB="45720" anchor="ctr">
                    <a:solidFill>
                      <a:srgbClr val="0F6E6A"/>
                    </a:solidFill>
                  </a:tcPr>
                </a:tc>
              </a:tr>
              <a:tr h="594360">
                <a:tc>
                  <a:txBody>
                    <a:bodyPr/>
                    <a:lstStyle/>
                    <a:p>
                      <a:pPr algn="l"/>
                      <a:r>
                        <a:rPr sz="1500" b="1">
                          <a:solidFill>
                            <a:srgbClr val="1F2937"/>
                          </a:solidFill>
                          <a:latin typeface="Calibri"/>
                        </a:rPr>
                        <a:t>Logistic Regression</a:t>
                      </a:r>
                    </a:p>
                  </a:txBody>
                  <a:tcPr marT="45720" marB="45720" anchor="ctr">
                    <a:solidFill>
                      <a:srgbClr val="FFFFFF"/>
                    </a:solidFill>
                  </a:tcPr>
                </a:tc>
                <a:tc>
                  <a:txBody>
                    <a:bodyPr/>
                    <a:lstStyle/>
                    <a:p>
                      <a:pPr algn="l"/>
                      <a:r>
                        <a:rPr sz="1500" b="0">
                          <a:solidFill>
                            <a:srgbClr val="1F2937"/>
                          </a:solidFill>
                          <a:latin typeface="Calibri"/>
                        </a:rPr>
                        <a:t>0.787</a:t>
                      </a:r>
                    </a:p>
                  </a:txBody>
                  <a:tcPr marT="45720" marB="45720" anchor="ctr">
                    <a:solidFill>
                      <a:srgbClr val="FFFFFF"/>
                    </a:solidFill>
                  </a:tcPr>
                </a:tc>
                <a:tc>
                  <a:txBody>
                    <a:bodyPr/>
                    <a:lstStyle/>
                    <a:p>
                      <a:pPr algn="l"/>
                      <a:r>
                        <a:rPr sz="1500" b="0">
                          <a:solidFill>
                            <a:srgbClr val="1F2937"/>
                          </a:solidFill>
                          <a:latin typeface="Calibri"/>
                        </a:rPr>
                        <a:t>0.733</a:t>
                      </a:r>
                    </a:p>
                  </a:txBody>
                  <a:tcPr marT="45720" marB="45720" anchor="ctr">
                    <a:solidFill>
                      <a:srgbClr val="FFFFFF"/>
                    </a:solidFill>
                  </a:tcPr>
                </a:tc>
                <a:tc>
                  <a:txBody>
                    <a:bodyPr/>
                    <a:lstStyle/>
                    <a:p>
                      <a:pPr algn="l"/>
                      <a:r>
                        <a:rPr sz="1500" b="0">
                          <a:solidFill>
                            <a:srgbClr val="1F2937"/>
                          </a:solidFill>
                          <a:latin typeface="Calibri"/>
                        </a:rPr>
                        <a:t>0.759</a:t>
                      </a:r>
                    </a:p>
                  </a:txBody>
                  <a:tcPr marT="45720" marB="45720" anchor="ctr">
                    <a:solidFill>
                      <a:srgbClr val="FFFFFF"/>
                    </a:solidFill>
                  </a:tcPr>
                </a:tc>
                <a:tc>
                  <a:txBody>
                    <a:bodyPr/>
                    <a:lstStyle/>
                    <a:p>
                      <a:pPr algn="l"/>
                      <a:r>
                        <a:rPr sz="1500" b="0">
                          <a:solidFill>
                            <a:srgbClr val="1F2937"/>
                          </a:solidFill>
                          <a:latin typeface="Calibri"/>
                        </a:rPr>
                        <a:t>0.479</a:t>
                      </a:r>
                    </a:p>
                  </a:txBody>
                  <a:tcPr marT="45720" marB="45720" anchor="ctr">
                    <a:solidFill>
                      <a:srgbClr val="FFFFFF"/>
                    </a:solidFill>
                  </a:tcPr>
                </a:tc>
                <a:tc>
                  <a:txBody>
                    <a:bodyPr/>
                    <a:lstStyle/>
                    <a:p>
                      <a:pPr algn="l"/>
                      <a:r>
                        <a:rPr sz="1500" b="0">
                          <a:solidFill>
                            <a:srgbClr val="1F2937"/>
                          </a:solidFill>
                          <a:latin typeface="Calibri"/>
                        </a:rPr>
                        <a:t>0.554</a:t>
                      </a:r>
                    </a:p>
                  </a:txBody>
                  <a:tcPr marT="45720" marB="45720" anchor="ctr">
                    <a:solidFill>
                      <a:srgbClr val="FFFFFF"/>
                    </a:solidFill>
                  </a:tcPr>
                </a:tc>
                <a:tc>
                  <a:txBody>
                    <a:bodyPr/>
                    <a:lstStyle/>
                    <a:p>
                      <a:pPr algn="l"/>
                      <a:r>
                        <a:rPr sz="1500" b="0">
                          <a:solidFill>
                            <a:srgbClr val="1F2937"/>
                          </a:solidFill>
                          <a:latin typeface="Calibri"/>
                        </a:rPr>
                        <a:t>0.514</a:t>
                      </a:r>
                    </a:p>
                  </a:txBody>
                  <a:tcPr marT="45720" marB="45720" anchor="ctr">
                    <a:solidFill>
                      <a:srgbClr val="FFFFFF"/>
                    </a:solidFill>
                  </a:tcPr>
                </a:tc>
              </a:tr>
              <a:tr h="594360">
                <a:tc>
                  <a:txBody>
                    <a:bodyPr/>
                    <a:lstStyle/>
                    <a:p>
                      <a:pPr algn="l"/>
                      <a:r>
                        <a:rPr sz="1500" b="1">
                          <a:solidFill>
                            <a:srgbClr val="1F2937"/>
                          </a:solidFill>
                          <a:latin typeface="Calibri"/>
                        </a:rPr>
                        <a:t>Random Forest</a:t>
                      </a:r>
                    </a:p>
                  </a:txBody>
                  <a:tcPr marT="45720" marB="45720" anchor="ctr">
                    <a:solidFill>
                      <a:srgbClr val="FFFFFF"/>
                    </a:solidFill>
                  </a:tcPr>
                </a:tc>
                <a:tc>
                  <a:txBody>
                    <a:bodyPr/>
                    <a:lstStyle/>
                    <a:p>
                      <a:pPr algn="l"/>
                      <a:r>
                        <a:rPr sz="1500" b="0">
                          <a:solidFill>
                            <a:srgbClr val="1F2937"/>
                          </a:solidFill>
                          <a:latin typeface="Calibri"/>
                        </a:rPr>
                        <a:t>0.786</a:t>
                      </a:r>
                    </a:p>
                  </a:txBody>
                  <a:tcPr marT="45720" marB="45720" anchor="ctr">
                    <a:solidFill>
                      <a:srgbClr val="FFFFFF"/>
                    </a:solidFill>
                  </a:tcPr>
                </a:tc>
                <a:tc>
                  <a:txBody>
                    <a:bodyPr/>
                    <a:lstStyle/>
                    <a:p>
                      <a:pPr algn="l"/>
                      <a:r>
                        <a:rPr sz="1500" b="0">
                          <a:solidFill>
                            <a:srgbClr val="1F2937"/>
                          </a:solidFill>
                          <a:latin typeface="Calibri"/>
                        </a:rPr>
                        <a:t>0.764</a:t>
                      </a:r>
                    </a:p>
                  </a:txBody>
                  <a:tcPr marT="45720" marB="45720" anchor="ctr">
                    <a:solidFill>
                      <a:srgbClr val="FFFFFF"/>
                    </a:solidFill>
                  </a:tcPr>
                </a:tc>
                <a:tc>
                  <a:txBody>
                    <a:bodyPr/>
                    <a:lstStyle/>
                    <a:p>
                      <a:pPr algn="l"/>
                      <a:r>
                        <a:rPr sz="1500" b="0">
                          <a:solidFill>
                            <a:srgbClr val="1F2937"/>
                          </a:solidFill>
                          <a:latin typeface="Calibri"/>
                        </a:rPr>
                        <a:t>0.775</a:t>
                      </a:r>
                    </a:p>
                  </a:txBody>
                  <a:tcPr marT="45720" marB="45720" anchor="ctr">
                    <a:solidFill>
                      <a:srgbClr val="FFFFFF"/>
                    </a:solidFill>
                  </a:tcPr>
                </a:tc>
                <a:tc>
                  <a:txBody>
                    <a:bodyPr/>
                    <a:lstStyle/>
                    <a:p>
                      <a:pPr algn="l"/>
                      <a:r>
                        <a:rPr sz="1500" b="0">
                          <a:solidFill>
                            <a:srgbClr val="1F2937"/>
                          </a:solidFill>
                          <a:latin typeface="Calibri"/>
                        </a:rPr>
                        <a:t>0.501</a:t>
                      </a:r>
                    </a:p>
                  </a:txBody>
                  <a:tcPr marT="45720" marB="45720" anchor="ctr">
                    <a:solidFill>
                      <a:srgbClr val="FFFFFF"/>
                    </a:solidFill>
                  </a:tcPr>
                </a:tc>
                <a:tc>
                  <a:txBody>
                    <a:bodyPr/>
                    <a:lstStyle/>
                    <a:p>
                      <a:pPr algn="l"/>
                      <a:r>
                        <a:rPr sz="1500" b="0">
                          <a:solidFill>
                            <a:srgbClr val="1F2937"/>
                          </a:solidFill>
                          <a:latin typeface="Calibri"/>
                        </a:rPr>
                        <a:t>0.532</a:t>
                      </a:r>
                    </a:p>
                  </a:txBody>
                  <a:tcPr marT="45720" marB="45720" anchor="ctr">
                    <a:solidFill>
                      <a:srgbClr val="FFFFFF"/>
                    </a:solidFill>
                  </a:tcPr>
                </a:tc>
                <a:tc>
                  <a:txBody>
                    <a:bodyPr/>
                    <a:lstStyle/>
                    <a:p>
                      <a:pPr algn="l"/>
                      <a:r>
                        <a:rPr sz="1500" b="0">
                          <a:solidFill>
                            <a:srgbClr val="1F2937"/>
                          </a:solidFill>
                          <a:latin typeface="Calibri"/>
                        </a:rPr>
                        <a:t>0.516</a:t>
                      </a:r>
                    </a:p>
                  </a:txBody>
                  <a:tcPr marT="45720" marB="45720" anchor="ctr">
                    <a:solidFill>
                      <a:srgbClr val="FFFFFF"/>
                    </a:solidFill>
                  </a:tcPr>
                </a:tc>
              </a:tr>
              <a:tr h="594360">
                <a:tc>
                  <a:txBody>
                    <a:bodyPr/>
                    <a:lstStyle/>
                    <a:p>
                      <a:pPr algn="l"/>
                      <a:r>
                        <a:rPr sz="1500" b="1">
                          <a:solidFill>
                            <a:srgbClr val="1F2937"/>
                          </a:solidFill>
                          <a:latin typeface="Calibri"/>
                        </a:rPr>
                        <a:t>XGBoost</a:t>
                      </a:r>
                    </a:p>
                  </a:txBody>
                  <a:tcPr marT="45720" marB="45720" anchor="ctr">
                    <a:solidFill>
                      <a:srgbClr val="FFF1E6"/>
                    </a:solidFill>
                  </a:tcPr>
                </a:tc>
                <a:tc>
                  <a:txBody>
                    <a:bodyPr/>
                    <a:lstStyle/>
                    <a:p>
                      <a:pPr algn="l"/>
                      <a:r>
                        <a:rPr sz="1500" b="0">
                          <a:solidFill>
                            <a:srgbClr val="1F2937"/>
                          </a:solidFill>
                          <a:latin typeface="Calibri"/>
                        </a:rPr>
                        <a:t>0.796</a:t>
                      </a:r>
                    </a:p>
                  </a:txBody>
                  <a:tcPr marT="45720" marB="45720" anchor="ctr">
                    <a:solidFill>
                      <a:srgbClr val="FFF1E6"/>
                    </a:solidFill>
                  </a:tcPr>
                </a:tc>
                <a:tc>
                  <a:txBody>
                    <a:bodyPr/>
                    <a:lstStyle/>
                    <a:p>
                      <a:pPr algn="l"/>
                      <a:r>
                        <a:rPr sz="1500" b="0">
                          <a:solidFill>
                            <a:srgbClr val="1F2937"/>
                          </a:solidFill>
                          <a:latin typeface="Calibri"/>
                        </a:rPr>
                        <a:t>0.755</a:t>
                      </a:r>
                    </a:p>
                  </a:txBody>
                  <a:tcPr marT="45720" marB="45720" anchor="ctr">
                    <a:solidFill>
                      <a:srgbClr val="FFF1E6"/>
                    </a:solidFill>
                  </a:tcPr>
                </a:tc>
                <a:tc>
                  <a:txBody>
                    <a:bodyPr/>
                    <a:lstStyle/>
                    <a:p>
                      <a:pPr algn="l"/>
                      <a:r>
                        <a:rPr sz="1500" b="0">
                          <a:solidFill>
                            <a:srgbClr val="1F2937"/>
                          </a:solidFill>
                          <a:latin typeface="Calibri"/>
                        </a:rPr>
                        <a:t>0.775</a:t>
                      </a:r>
                    </a:p>
                  </a:txBody>
                  <a:tcPr marT="45720" marB="45720" anchor="ctr">
                    <a:solidFill>
                      <a:srgbClr val="FFF1E6"/>
                    </a:solidFill>
                  </a:tcPr>
                </a:tc>
                <a:tc>
                  <a:txBody>
                    <a:bodyPr/>
                    <a:lstStyle/>
                    <a:p>
                      <a:pPr algn="l"/>
                      <a:r>
                        <a:rPr sz="1500" b="0">
                          <a:solidFill>
                            <a:srgbClr val="1F2937"/>
                          </a:solidFill>
                          <a:latin typeface="Calibri"/>
                        </a:rPr>
                        <a:t>0.506</a:t>
                      </a:r>
                    </a:p>
                  </a:txBody>
                  <a:tcPr marT="45720" marB="45720" anchor="ctr">
                    <a:solidFill>
                      <a:srgbClr val="FFF1E6"/>
                    </a:solidFill>
                  </a:tcPr>
                </a:tc>
                <a:tc>
                  <a:txBody>
                    <a:bodyPr/>
                    <a:lstStyle/>
                    <a:p>
                      <a:pPr algn="l"/>
                      <a:r>
                        <a:rPr sz="1500" b="0">
                          <a:solidFill>
                            <a:srgbClr val="1F2937"/>
                          </a:solidFill>
                          <a:latin typeface="Calibri"/>
                        </a:rPr>
                        <a:t>0.564</a:t>
                      </a:r>
                    </a:p>
                  </a:txBody>
                  <a:tcPr marT="45720" marB="45720" anchor="ctr">
                    <a:solidFill>
                      <a:srgbClr val="FFF1E6"/>
                    </a:solidFill>
                  </a:tcPr>
                </a:tc>
                <a:tc>
                  <a:txBody>
                    <a:bodyPr/>
                    <a:lstStyle/>
                    <a:p>
                      <a:pPr algn="l"/>
                      <a:r>
                        <a:rPr sz="1500" b="0">
                          <a:solidFill>
                            <a:srgbClr val="1F2937"/>
                          </a:solidFill>
                          <a:latin typeface="Calibri"/>
                        </a:rPr>
                        <a:t>0.533</a:t>
                      </a:r>
                    </a:p>
                  </a:txBody>
                  <a:tcPr marT="45720" marB="45720" anchor="ctr">
                    <a:solidFill>
                      <a:srgbClr val="FFF1E6"/>
                    </a:solidFill>
                  </a:tcPr>
                </a:tc>
              </a:tr>
              <a:tr h="594360">
                <a:tc>
                  <a:txBody>
                    <a:bodyPr/>
                    <a:lstStyle/>
                    <a:p>
                      <a:pPr algn="l"/>
                      <a:r>
                        <a:rPr sz="1500" b="1">
                          <a:solidFill>
                            <a:srgbClr val="1F2937"/>
                          </a:solidFill>
                          <a:latin typeface="Calibri"/>
                        </a:rPr>
                        <a:t>Ensemble</a:t>
                      </a:r>
                    </a:p>
                  </a:txBody>
                  <a:tcPr marT="45720" marB="45720" anchor="ctr">
                    <a:solidFill>
                      <a:srgbClr val="FFFFFF"/>
                    </a:solidFill>
                  </a:tcPr>
                </a:tc>
                <a:tc>
                  <a:txBody>
                    <a:bodyPr/>
                    <a:lstStyle/>
                    <a:p>
                      <a:pPr algn="l"/>
                      <a:r>
                        <a:rPr sz="1500" b="0">
                          <a:solidFill>
                            <a:srgbClr val="1F2937"/>
                          </a:solidFill>
                          <a:latin typeface="Calibri"/>
                        </a:rPr>
                        <a:t>0.786</a:t>
                      </a:r>
                    </a:p>
                  </a:txBody>
                  <a:tcPr marT="45720" marB="45720" anchor="ctr">
                    <a:solidFill>
                      <a:srgbClr val="FFFFFF"/>
                    </a:solidFill>
                  </a:tcPr>
                </a:tc>
                <a:tc>
                  <a:txBody>
                    <a:bodyPr/>
                    <a:lstStyle/>
                    <a:p>
                      <a:pPr algn="l"/>
                      <a:r>
                        <a:rPr sz="1500" b="0">
                          <a:solidFill>
                            <a:srgbClr val="1F2937"/>
                          </a:solidFill>
                          <a:latin typeface="Calibri"/>
                        </a:rPr>
                        <a:t>0.768</a:t>
                      </a:r>
                    </a:p>
                  </a:txBody>
                  <a:tcPr marT="45720" marB="45720" anchor="ctr">
                    <a:solidFill>
                      <a:srgbClr val="FFFFFF"/>
                    </a:solidFill>
                  </a:tcPr>
                </a:tc>
                <a:tc>
                  <a:txBody>
                    <a:bodyPr/>
                    <a:lstStyle/>
                    <a:p>
                      <a:pPr algn="l"/>
                      <a:r>
                        <a:rPr sz="1500" b="0">
                          <a:solidFill>
                            <a:srgbClr val="1F2937"/>
                          </a:solidFill>
                          <a:latin typeface="Calibri"/>
                        </a:rPr>
                        <a:t>0.777</a:t>
                      </a:r>
                    </a:p>
                  </a:txBody>
                  <a:tcPr marT="45720" marB="45720" anchor="ctr">
                    <a:solidFill>
                      <a:srgbClr val="FFFFFF"/>
                    </a:solidFill>
                  </a:tcPr>
                </a:tc>
                <a:tc>
                  <a:txBody>
                    <a:bodyPr/>
                    <a:lstStyle/>
                    <a:p>
                      <a:pPr algn="l"/>
                      <a:r>
                        <a:rPr sz="1500" b="0">
                          <a:solidFill>
                            <a:srgbClr val="1F2937"/>
                          </a:solidFill>
                          <a:latin typeface="Calibri"/>
                        </a:rPr>
                        <a:t>0.504</a:t>
                      </a:r>
                    </a:p>
                  </a:txBody>
                  <a:tcPr marT="45720" marB="45720" anchor="ctr">
                    <a:solidFill>
                      <a:srgbClr val="FFFFFF"/>
                    </a:solidFill>
                  </a:tcPr>
                </a:tc>
                <a:tc>
                  <a:txBody>
                    <a:bodyPr/>
                    <a:lstStyle/>
                    <a:p>
                      <a:pPr algn="l"/>
                      <a:r>
                        <a:rPr sz="1500" b="0">
                          <a:solidFill>
                            <a:srgbClr val="1F2937"/>
                          </a:solidFill>
                          <a:latin typeface="Calibri"/>
                        </a:rPr>
                        <a:t>0.531</a:t>
                      </a:r>
                    </a:p>
                  </a:txBody>
                  <a:tcPr marT="45720" marB="45720" anchor="ctr">
                    <a:solidFill>
                      <a:srgbClr val="FFFFFF"/>
                    </a:solidFill>
                  </a:tcPr>
                </a:tc>
                <a:tc>
                  <a:txBody>
                    <a:bodyPr/>
                    <a:lstStyle/>
                    <a:p>
                      <a:pPr algn="l"/>
                      <a:r>
                        <a:rPr sz="1500" b="0">
                          <a:solidFill>
                            <a:srgbClr val="1F2937"/>
                          </a:solidFill>
                          <a:latin typeface="Calibri"/>
                        </a:rPr>
                        <a:t>0.517</a:t>
                      </a:r>
                    </a:p>
                  </a:txBody>
                  <a:tcPr marT="45720" marB="45720" anchor="ctr">
                    <a:solidFill>
                      <a:srgbClr val="FFFFFF"/>
                    </a:solidFill>
                  </a:tcPr>
                </a:tc>
              </a:tr>
            </a:tbl>
          </a:graphicData>
        </a:graphic>
      </p:graphicFrame>
      <p:sp>
        <p:nvSpPr>
          <p:cNvPr id="8" name="TextBox 7"/>
          <p:cNvSpPr txBox="1"/>
          <p:nvPr/>
        </p:nvSpPr>
        <p:spPr>
          <a:xfrm>
            <a:off x="548640" y="4572000"/>
            <a:ext cx="11155680" cy="1645920"/>
          </a:xfrm>
          <a:prstGeom prst="rect">
            <a:avLst/>
          </a:prstGeom>
          <a:noFill/>
        </p:spPr>
        <p:txBody>
          <a:bodyPr wrap="square" anchor="t" lIns="45720" rIns="45720">
            <a:spAutoFit/>
          </a:bodyPr>
          <a:lstStyle/>
          <a:p>
            <a:pPr algn="l">
              <a:spcAft>
                <a:spcPts val="450"/>
              </a:spcAft>
            </a:pPr>
            <a:r>
              <a:rPr sz="1500" b="0">
                <a:solidFill>
                  <a:srgbClr val="1F2937"/>
                </a:solidFill>
                <a:latin typeface="Calibri"/>
              </a:rPr>
              <a:t>Every model finds the households that escaped fairly well (recall about 0.73 to 0.77), and finds the households that stayed poor less well (recall about 0.53 to 0.57).</a:t>
            </a:r>
          </a:p>
          <a:p>
            <a:pPr algn="l">
              <a:spcAft>
                <a:spcPts val="450"/>
              </a:spcAft>
            </a:pPr>
            <a:r>
              <a:rPr sz="1500" b="0">
                <a:solidFill>
                  <a:srgbClr val="1F2937"/>
                </a:solidFill>
                <a:latin typeface="Calibri"/>
              </a:rPr>
              <a:t>A welfare programme cares most about the households that stay poor, so we report both groups.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AF7F0"/>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F6E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8229600" cy="365760"/>
          </a:xfrm>
          <a:prstGeom prst="rect">
            <a:avLst/>
          </a:prstGeom>
          <a:noFill/>
        </p:spPr>
        <p:txBody>
          <a:bodyPr wrap="square" anchor="t" lIns="45720" rIns="45720">
            <a:spAutoFit/>
          </a:bodyPr>
          <a:lstStyle/>
          <a:p>
            <a:pPr algn="l">
              <a:spcAft>
                <a:spcPts val="540"/>
              </a:spcAft>
            </a:pPr>
            <a:r>
              <a:rPr sz="1200" b="1">
                <a:solidFill>
                  <a:srgbClr val="0F6E6A"/>
                </a:solidFill>
                <a:latin typeface="Calibri"/>
              </a:rPr>
              <a:t>6. RESULTS AND EVALUATION</a:t>
            </a:r>
          </a:p>
        </p:txBody>
      </p:sp>
      <p:sp>
        <p:nvSpPr>
          <p:cNvPr id="4" name="Rounded Rectangle 3"/>
          <p:cNvSpPr/>
          <p:nvPr/>
        </p:nvSpPr>
        <p:spPr>
          <a:xfrm>
            <a:off x="9966960" y="292608"/>
            <a:ext cx="1920240" cy="384048"/>
          </a:xfrm>
          <a:prstGeom prst="roundRect">
            <a:avLst>
              <a:gd name="adj" fmla="val 50000"/>
            </a:avLst>
          </a:prstGeom>
          <a:solidFill>
            <a:srgbClr val="E6F2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0F6E6A"/>
                </a:solidFill>
                <a:latin typeface="Calibri"/>
              </a:rPr>
              <a:t>Presenter: Gokul</a:t>
            </a:r>
          </a:p>
        </p:txBody>
      </p:sp>
      <p:sp>
        <p:nvSpPr>
          <p:cNvPr id="5" name="TextBox 4"/>
          <p:cNvSpPr txBox="1"/>
          <p:nvPr/>
        </p:nvSpPr>
        <p:spPr>
          <a:xfrm>
            <a:off x="548640" y="594360"/>
            <a:ext cx="11155680" cy="731520"/>
          </a:xfrm>
          <a:prstGeom prst="rect">
            <a:avLst/>
          </a:prstGeom>
          <a:noFill/>
        </p:spPr>
        <p:txBody>
          <a:bodyPr wrap="square" anchor="t" lIns="45720" rIns="45720">
            <a:spAutoFit/>
          </a:bodyPr>
          <a:lstStyle/>
          <a:p>
            <a:pPr algn="l">
              <a:spcAft>
                <a:spcPts val="1170"/>
              </a:spcAft>
            </a:pPr>
            <a:r>
              <a:rPr sz="2600" b="1">
                <a:solidFill>
                  <a:srgbClr val="1F2937"/>
                </a:solidFill>
                <a:latin typeface="Calibri"/>
              </a:rPr>
              <a:t>The four ROC curves are close, and XGBoost is slightly ahead</a:t>
            </a:r>
          </a:p>
        </p:txBody>
      </p:sp>
      <p:sp>
        <p:nvSpPr>
          <p:cNvPr id="6" name="TextBox 5"/>
          <p:cNvSpPr txBox="1"/>
          <p:nvPr/>
        </p:nvSpPr>
        <p:spPr>
          <a:xfrm>
            <a:off x="11247120" y="6400800"/>
            <a:ext cx="731520" cy="320040"/>
          </a:xfrm>
          <a:prstGeom prst="rect">
            <a:avLst/>
          </a:prstGeom>
          <a:noFill/>
        </p:spPr>
        <p:txBody>
          <a:bodyPr wrap="square" anchor="t" lIns="45720" rIns="45720">
            <a:spAutoFit/>
          </a:bodyPr>
          <a:lstStyle/>
          <a:p>
            <a:pPr algn="r">
              <a:spcAft>
                <a:spcPts val="495"/>
              </a:spcAft>
            </a:pPr>
            <a:r>
              <a:rPr sz="1100" b="0">
                <a:solidFill>
                  <a:srgbClr val="5B6470"/>
                </a:solidFill>
                <a:latin typeface="Calibri"/>
              </a:rPr>
              <a:t>23</a:t>
            </a:r>
          </a:p>
        </p:txBody>
      </p:sp>
      <p:pic>
        <p:nvPicPr>
          <p:cNvPr id="7" name="Picture 6" descr="c05_roc_curves.png"/>
          <p:cNvPicPr>
            <a:picLocks noChangeAspect="1"/>
          </p:cNvPicPr>
          <p:nvPr/>
        </p:nvPicPr>
        <p:blipFill>
          <a:blip r:embed="rId2"/>
          <a:stretch>
            <a:fillRect/>
          </a:stretch>
        </p:blipFill>
        <p:spPr>
          <a:xfrm>
            <a:off x="457200" y="1371600"/>
            <a:ext cx="5711734" cy="4846320"/>
          </a:xfrm>
          <a:prstGeom prst="rect">
            <a:avLst/>
          </a:prstGeom>
        </p:spPr>
      </p:pic>
      <p:sp>
        <p:nvSpPr>
          <p:cNvPr id="8" name="TextBox 7"/>
          <p:cNvSpPr txBox="1"/>
          <p:nvPr/>
        </p:nvSpPr>
        <p:spPr>
          <a:xfrm>
            <a:off x="6309360" y="1463040"/>
            <a:ext cx="5394960" cy="4846320"/>
          </a:xfrm>
          <a:prstGeom prst="rect">
            <a:avLst/>
          </a:prstGeom>
          <a:noFill/>
        </p:spPr>
        <p:txBody>
          <a:bodyPr wrap="square" anchor="t" lIns="45720" rIns="45720">
            <a:spAutoFit/>
          </a:bodyPr>
          <a:lstStyle/>
          <a:p>
            <a:pPr algn="l">
              <a:spcAft>
                <a:spcPts val="450"/>
              </a:spcAft>
            </a:pPr>
            <a:r>
              <a:rPr sz="1500" b="1">
                <a:solidFill>
                  <a:srgbClr val="0F6E6A"/>
                </a:solidFill>
                <a:latin typeface="Calibri"/>
              </a:rPr>
              <a:t>How to read it</a:t>
            </a:r>
          </a:p>
          <a:p>
            <a:pPr algn="l">
              <a:spcAft>
                <a:spcPts val="450"/>
              </a:spcAft>
            </a:pPr>
            <a:r>
              <a:rPr sz="1500" b="0">
                <a:solidFill>
                  <a:srgbClr val="1F2937"/>
                </a:solidFill>
                <a:latin typeface="Calibri"/>
              </a:rPr>
              <a:t>The further a curve rises above the dashed line, which is guessing, the better the model ranks households. Here the four curves are close together.</a:t>
            </a:r>
          </a:p>
          <a:p>
            <a:pPr algn="l">
              <a:spcAft>
                <a:spcPts val="450"/>
              </a:spcAft>
            </a:pPr>
            <a:r>
              <a:rPr sz="1500" b="1">
                <a:solidFill>
                  <a:srgbClr val="0F6E6A"/>
                </a:solidFill>
                <a:latin typeface="Calibri"/>
              </a:rPr>
              <a:t>Cross-validation tells the same story</a:t>
            </a:r>
          </a:p>
          <a:p>
            <a:pPr algn="l">
              <a:spcAft>
                <a:spcPts val="450"/>
              </a:spcAft>
            </a:pPr>
            <a:r>
              <a:rPr sz="1500" b="0">
                <a:solidFill>
                  <a:srgbClr val="1F2937"/>
                </a:solidFill>
                <a:latin typeface="Calibri"/>
              </a:rPr>
              <a:t>The average ROC-AUC on the validation folds of the training villages was 0.688 for Logistic Regression, 0.685 for Random Forest and 0.696 for XGBoost. XGBoost is the best, which is why it is our headline model.</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AF7F0"/>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F6E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8229600" cy="365760"/>
          </a:xfrm>
          <a:prstGeom prst="rect">
            <a:avLst/>
          </a:prstGeom>
          <a:noFill/>
        </p:spPr>
        <p:txBody>
          <a:bodyPr wrap="square" anchor="t" lIns="45720" rIns="45720">
            <a:spAutoFit/>
          </a:bodyPr>
          <a:lstStyle/>
          <a:p>
            <a:pPr algn="l">
              <a:spcAft>
                <a:spcPts val="540"/>
              </a:spcAft>
            </a:pPr>
            <a:r>
              <a:rPr sz="1200" b="1">
                <a:solidFill>
                  <a:srgbClr val="0F6E6A"/>
                </a:solidFill>
                <a:latin typeface="Calibri"/>
              </a:rPr>
              <a:t>6. RESULTS AND EVALUATION</a:t>
            </a:r>
          </a:p>
        </p:txBody>
      </p:sp>
      <p:sp>
        <p:nvSpPr>
          <p:cNvPr id="4" name="Rounded Rectangle 3"/>
          <p:cNvSpPr/>
          <p:nvPr/>
        </p:nvSpPr>
        <p:spPr>
          <a:xfrm>
            <a:off x="9966960" y="292608"/>
            <a:ext cx="1920240" cy="384048"/>
          </a:xfrm>
          <a:prstGeom prst="roundRect">
            <a:avLst>
              <a:gd name="adj" fmla="val 50000"/>
            </a:avLst>
          </a:prstGeom>
          <a:solidFill>
            <a:srgbClr val="E6F2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0F6E6A"/>
                </a:solidFill>
                <a:latin typeface="Calibri"/>
              </a:rPr>
              <a:t>Presenter: Gokul</a:t>
            </a:r>
          </a:p>
        </p:txBody>
      </p:sp>
      <p:sp>
        <p:nvSpPr>
          <p:cNvPr id="5" name="TextBox 4"/>
          <p:cNvSpPr txBox="1"/>
          <p:nvPr/>
        </p:nvSpPr>
        <p:spPr>
          <a:xfrm>
            <a:off x="548640" y="594360"/>
            <a:ext cx="11155680" cy="731520"/>
          </a:xfrm>
          <a:prstGeom prst="rect">
            <a:avLst/>
          </a:prstGeom>
          <a:noFill/>
        </p:spPr>
        <p:txBody>
          <a:bodyPr wrap="square" anchor="t" lIns="45720" rIns="45720">
            <a:spAutoFit/>
          </a:bodyPr>
          <a:lstStyle/>
          <a:p>
            <a:pPr algn="l">
              <a:spcAft>
                <a:spcPts val="1170"/>
              </a:spcAft>
            </a:pPr>
            <a:r>
              <a:rPr sz="2600" b="1">
                <a:solidFill>
                  <a:srgbClr val="1F2937"/>
                </a:solidFill>
                <a:latin typeface="Calibri"/>
              </a:rPr>
              <a:t>XGBoost finds just over half of the households that stayed poor</a:t>
            </a:r>
          </a:p>
        </p:txBody>
      </p:sp>
      <p:sp>
        <p:nvSpPr>
          <p:cNvPr id="6" name="TextBox 5"/>
          <p:cNvSpPr txBox="1"/>
          <p:nvPr/>
        </p:nvSpPr>
        <p:spPr>
          <a:xfrm>
            <a:off x="11247120" y="6400800"/>
            <a:ext cx="731520" cy="320040"/>
          </a:xfrm>
          <a:prstGeom prst="rect">
            <a:avLst/>
          </a:prstGeom>
          <a:noFill/>
        </p:spPr>
        <p:txBody>
          <a:bodyPr wrap="square" anchor="t" lIns="45720" rIns="45720">
            <a:spAutoFit/>
          </a:bodyPr>
          <a:lstStyle/>
          <a:p>
            <a:pPr algn="r">
              <a:spcAft>
                <a:spcPts val="495"/>
              </a:spcAft>
            </a:pPr>
            <a:r>
              <a:rPr sz="1100" b="0">
                <a:solidFill>
                  <a:srgbClr val="5B6470"/>
                </a:solidFill>
                <a:latin typeface="Calibri"/>
              </a:rPr>
              <a:t>24</a:t>
            </a:r>
          </a:p>
        </p:txBody>
      </p:sp>
      <p:pic>
        <p:nvPicPr>
          <p:cNvPr id="7" name="Picture 6" descr="c18_confusion_all_models.png"/>
          <p:cNvPicPr>
            <a:picLocks noChangeAspect="1"/>
          </p:cNvPicPr>
          <p:nvPr/>
        </p:nvPicPr>
        <p:blipFill>
          <a:blip r:embed="rId2"/>
          <a:stretch>
            <a:fillRect/>
          </a:stretch>
        </p:blipFill>
        <p:spPr>
          <a:xfrm>
            <a:off x="274320" y="1371600"/>
            <a:ext cx="11612880" cy="3193542"/>
          </a:xfrm>
          <a:prstGeom prst="rect">
            <a:avLst/>
          </a:prstGeom>
        </p:spPr>
      </p:pic>
      <p:sp>
        <p:nvSpPr>
          <p:cNvPr id="8" name="TextBox 7"/>
          <p:cNvSpPr txBox="1"/>
          <p:nvPr/>
        </p:nvSpPr>
        <p:spPr>
          <a:xfrm>
            <a:off x="548640" y="4754880"/>
            <a:ext cx="11155680" cy="1554480"/>
          </a:xfrm>
          <a:prstGeom prst="rect">
            <a:avLst/>
          </a:prstGeom>
          <a:noFill/>
        </p:spPr>
        <p:txBody>
          <a:bodyPr wrap="square" anchor="t" lIns="45720" rIns="45720">
            <a:spAutoFit/>
          </a:bodyPr>
          <a:lstStyle/>
          <a:p>
            <a:pPr algn="l">
              <a:spcAft>
                <a:spcPts val="450"/>
              </a:spcAft>
            </a:pPr>
            <a:r>
              <a:rPr sz="1500" b="0">
                <a:solidFill>
                  <a:srgbClr val="1F2937"/>
                </a:solidFill>
                <a:latin typeface="Calibri"/>
              </a:rPr>
              <a:t>Take the XGBoost matrix as an example. Of the 693 households that stayed poor, the model found 391, and of the 1,559 that escaped, it found 1,177.</a:t>
            </a:r>
          </a:p>
          <a:p>
            <a:pPr algn="l">
              <a:spcAft>
                <a:spcPts val="450"/>
              </a:spcAft>
            </a:pPr>
            <a:r>
              <a:rPr sz="1500" b="0">
                <a:solidFill>
                  <a:srgbClr val="1F2937"/>
                </a:solidFill>
                <a:latin typeface="Calibri"/>
              </a:rPr>
              <a:t>The model misses many households, so we use it to rank households and not to decide about one family.</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AF7F0"/>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F6E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8229600" cy="365760"/>
          </a:xfrm>
          <a:prstGeom prst="rect">
            <a:avLst/>
          </a:prstGeom>
          <a:noFill/>
        </p:spPr>
        <p:txBody>
          <a:bodyPr wrap="square" anchor="t" lIns="45720" rIns="45720">
            <a:spAutoFit/>
          </a:bodyPr>
          <a:lstStyle/>
          <a:p>
            <a:pPr algn="l">
              <a:spcAft>
                <a:spcPts val="540"/>
              </a:spcAft>
            </a:pPr>
            <a:r>
              <a:rPr sz="1200" b="1">
                <a:solidFill>
                  <a:srgbClr val="0F6E6A"/>
                </a:solidFill>
                <a:latin typeface="Calibri"/>
              </a:rPr>
              <a:t>6. RESULTS AND EVALUATION</a:t>
            </a:r>
          </a:p>
        </p:txBody>
      </p:sp>
      <p:sp>
        <p:nvSpPr>
          <p:cNvPr id="4" name="Rounded Rectangle 3"/>
          <p:cNvSpPr/>
          <p:nvPr/>
        </p:nvSpPr>
        <p:spPr>
          <a:xfrm>
            <a:off x="9966960" y="292608"/>
            <a:ext cx="1920240" cy="384048"/>
          </a:xfrm>
          <a:prstGeom prst="roundRect">
            <a:avLst>
              <a:gd name="adj" fmla="val 50000"/>
            </a:avLst>
          </a:prstGeom>
          <a:solidFill>
            <a:srgbClr val="E6F2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0F6E6A"/>
                </a:solidFill>
                <a:latin typeface="Calibri"/>
              </a:rPr>
              <a:t>Presenter: Gokul</a:t>
            </a:r>
          </a:p>
        </p:txBody>
      </p:sp>
      <p:sp>
        <p:nvSpPr>
          <p:cNvPr id="5" name="TextBox 4"/>
          <p:cNvSpPr txBox="1"/>
          <p:nvPr/>
        </p:nvSpPr>
        <p:spPr>
          <a:xfrm>
            <a:off x="548640" y="594360"/>
            <a:ext cx="11155680" cy="731520"/>
          </a:xfrm>
          <a:prstGeom prst="rect">
            <a:avLst/>
          </a:prstGeom>
          <a:noFill/>
        </p:spPr>
        <p:txBody>
          <a:bodyPr wrap="square" anchor="t" lIns="45720" rIns="45720">
            <a:spAutoFit/>
          </a:bodyPr>
          <a:lstStyle/>
          <a:p>
            <a:pPr algn="l">
              <a:spcAft>
                <a:spcPts val="1170"/>
              </a:spcAft>
            </a:pPr>
            <a:r>
              <a:rPr sz="2600" b="1">
                <a:solidFill>
                  <a:srgbClr val="1F2937"/>
                </a:solidFill>
                <a:latin typeface="Calibri"/>
              </a:rPr>
              <a:t>The riskiest 20% of households stayed poor 57% of the time</a:t>
            </a:r>
          </a:p>
        </p:txBody>
      </p:sp>
      <p:sp>
        <p:nvSpPr>
          <p:cNvPr id="6" name="TextBox 5"/>
          <p:cNvSpPr txBox="1"/>
          <p:nvPr/>
        </p:nvSpPr>
        <p:spPr>
          <a:xfrm>
            <a:off x="11247120" y="6400800"/>
            <a:ext cx="731520" cy="320040"/>
          </a:xfrm>
          <a:prstGeom prst="rect">
            <a:avLst/>
          </a:prstGeom>
          <a:noFill/>
        </p:spPr>
        <p:txBody>
          <a:bodyPr wrap="square" anchor="t" lIns="45720" rIns="45720">
            <a:spAutoFit/>
          </a:bodyPr>
          <a:lstStyle/>
          <a:p>
            <a:pPr algn="r">
              <a:spcAft>
                <a:spcPts val="495"/>
              </a:spcAft>
            </a:pPr>
            <a:r>
              <a:rPr sz="1100" b="0">
                <a:solidFill>
                  <a:srgbClr val="5B6470"/>
                </a:solidFill>
                <a:latin typeface="Calibri"/>
              </a:rPr>
              <a:t>25</a:t>
            </a:r>
          </a:p>
        </p:txBody>
      </p:sp>
      <p:pic>
        <p:nvPicPr>
          <p:cNvPr id="7" name="Picture 6" descr="c07_risk_groups.png"/>
          <p:cNvPicPr>
            <a:picLocks noChangeAspect="1"/>
          </p:cNvPicPr>
          <p:nvPr/>
        </p:nvPicPr>
        <p:blipFill>
          <a:blip r:embed="rId2"/>
          <a:stretch>
            <a:fillRect/>
          </a:stretch>
        </p:blipFill>
        <p:spPr>
          <a:xfrm>
            <a:off x="457200" y="1371600"/>
            <a:ext cx="6766560" cy="4059936"/>
          </a:xfrm>
          <a:prstGeom prst="rect">
            <a:avLst/>
          </a:prstGeom>
        </p:spPr>
      </p:pic>
      <p:sp>
        <p:nvSpPr>
          <p:cNvPr id="8" name="TextBox 7"/>
          <p:cNvSpPr txBox="1"/>
          <p:nvPr/>
        </p:nvSpPr>
        <p:spPr>
          <a:xfrm>
            <a:off x="7498079" y="1463040"/>
            <a:ext cx="4206240" cy="4846320"/>
          </a:xfrm>
          <a:prstGeom prst="rect">
            <a:avLst/>
          </a:prstGeom>
          <a:noFill/>
        </p:spPr>
        <p:txBody>
          <a:bodyPr wrap="square" anchor="t" lIns="45720" rIns="45720">
            <a:spAutoFit/>
          </a:bodyPr>
          <a:lstStyle/>
          <a:p>
            <a:pPr algn="l">
              <a:spcAft>
                <a:spcPts val="450"/>
              </a:spcAft>
            </a:pPr>
            <a:r>
              <a:rPr sz="1500" b="1">
                <a:solidFill>
                  <a:srgbClr val="0F6E6A"/>
                </a:solidFill>
                <a:latin typeface="Calibri"/>
              </a:rPr>
              <a:t>What we did</a:t>
            </a:r>
          </a:p>
          <a:p>
            <a:pPr algn="l">
              <a:spcAft>
                <a:spcPts val="450"/>
              </a:spcAft>
            </a:pPr>
            <a:r>
              <a:rPr sz="1500" b="0">
                <a:solidFill>
                  <a:srgbClr val="1F2937"/>
                </a:solidFill>
                <a:latin typeface="Calibri"/>
              </a:rPr>
              <a:t>We sorted the test households by predicted risk and cut them into five equal groups.</a:t>
            </a:r>
          </a:p>
          <a:p>
            <a:pPr algn="l">
              <a:spcAft>
                <a:spcPts val="450"/>
              </a:spcAft>
            </a:pPr>
            <a:r>
              <a:rPr sz="1500" b="1">
                <a:solidFill>
                  <a:srgbClr val="0F6E6A"/>
                </a:solidFill>
                <a:latin typeface="Calibri"/>
              </a:rPr>
              <a:t>What we found</a:t>
            </a:r>
          </a:p>
          <a:p>
            <a:pPr algn="l">
              <a:spcAft>
                <a:spcPts val="450"/>
              </a:spcAft>
            </a:pPr>
            <a:r>
              <a:rPr sz="1500" b="0">
                <a:solidFill>
                  <a:srgbClr val="1F2937"/>
                </a:solidFill>
                <a:latin typeface="Calibri"/>
              </a:rPr>
              <a:t>In the highest-risk group 57% stayed poor, which is 1.9 times the average of 31%. In the lowest-risk group only 11% did.</a:t>
            </a:r>
          </a:p>
          <a:p>
            <a:pPr algn="l">
              <a:spcAft>
                <a:spcPts val="450"/>
              </a:spcAft>
            </a:pPr>
            <a:r>
              <a:rPr sz="1500" b="0">
                <a:solidFill>
                  <a:srgbClr val="1F2937"/>
                </a:solidFill>
                <a:latin typeface="Calibri"/>
              </a:rPr>
              <a:t>The riskiest 40% of households contain 63% of all the households that stayed poor.</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AF7F0"/>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F6E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8229600" cy="365760"/>
          </a:xfrm>
          <a:prstGeom prst="rect">
            <a:avLst/>
          </a:prstGeom>
          <a:noFill/>
        </p:spPr>
        <p:txBody>
          <a:bodyPr wrap="square" anchor="t" lIns="45720" rIns="45720">
            <a:spAutoFit/>
          </a:bodyPr>
          <a:lstStyle/>
          <a:p>
            <a:pPr algn="l">
              <a:spcAft>
                <a:spcPts val="540"/>
              </a:spcAft>
            </a:pPr>
            <a:r>
              <a:rPr sz="1200" b="1">
                <a:solidFill>
                  <a:srgbClr val="0F6E6A"/>
                </a:solidFill>
                <a:latin typeface="Calibri"/>
              </a:rPr>
              <a:t>7. INTERPRETATION OF THE MODEL</a:t>
            </a:r>
          </a:p>
        </p:txBody>
      </p:sp>
      <p:sp>
        <p:nvSpPr>
          <p:cNvPr id="4" name="Rounded Rectangle 3"/>
          <p:cNvSpPr/>
          <p:nvPr/>
        </p:nvSpPr>
        <p:spPr>
          <a:xfrm>
            <a:off x="9966960" y="292608"/>
            <a:ext cx="1920240" cy="384048"/>
          </a:xfrm>
          <a:prstGeom prst="roundRect">
            <a:avLst>
              <a:gd name="adj" fmla="val 50000"/>
            </a:avLst>
          </a:prstGeom>
          <a:solidFill>
            <a:srgbClr val="E6F2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0F6E6A"/>
                </a:solidFill>
                <a:latin typeface="Calibri"/>
              </a:rPr>
              <a:t>Presenter: Eshaan</a:t>
            </a:r>
          </a:p>
        </p:txBody>
      </p:sp>
      <p:sp>
        <p:nvSpPr>
          <p:cNvPr id="5" name="TextBox 4"/>
          <p:cNvSpPr txBox="1"/>
          <p:nvPr/>
        </p:nvSpPr>
        <p:spPr>
          <a:xfrm>
            <a:off x="548640" y="594360"/>
            <a:ext cx="11155680" cy="731520"/>
          </a:xfrm>
          <a:prstGeom prst="rect">
            <a:avLst/>
          </a:prstGeom>
          <a:noFill/>
        </p:spPr>
        <p:txBody>
          <a:bodyPr wrap="square" anchor="t" lIns="45720" rIns="45720">
            <a:spAutoFit/>
          </a:bodyPr>
          <a:lstStyle/>
          <a:p>
            <a:pPr algn="l">
              <a:spcAft>
                <a:spcPts val="1170"/>
              </a:spcAft>
            </a:pPr>
            <a:r>
              <a:rPr sz="2600" b="1">
                <a:solidFill>
                  <a:srgbClr val="1F2937"/>
                </a:solidFill>
                <a:latin typeface="Calibri"/>
              </a:rPr>
              <a:t>Young children, state and household assets matter most</a:t>
            </a:r>
          </a:p>
        </p:txBody>
      </p:sp>
      <p:sp>
        <p:nvSpPr>
          <p:cNvPr id="6" name="TextBox 5"/>
          <p:cNvSpPr txBox="1"/>
          <p:nvPr/>
        </p:nvSpPr>
        <p:spPr>
          <a:xfrm>
            <a:off x="11247120" y="6400800"/>
            <a:ext cx="731520" cy="320040"/>
          </a:xfrm>
          <a:prstGeom prst="rect">
            <a:avLst/>
          </a:prstGeom>
          <a:noFill/>
        </p:spPr>
        <p:txBody>
          <a:bodyPr wrap="square" anchor="t" lIns="45720" rIns="45720">
            <a:spAutoFit/>
          </a:bodyPr>
          <a:lstStyle/>
          <a:p>
            <a:pPr algn="r">
              <a:spcAft>
                <a:spcPts val="495"/>
              </a:spcAft>
            </a:pPr>
            <a:r>
              <a:rPr sz="1100" b="0">
                <a:solidFill>
                  <a:srgbClr val="5B6470"/>
                </a:solidFill>
                <a:latin typeface="Calibri"/>
              </a:rPr>
              <a:t>26</a:t>
            </a:r>
          </a:p>
        </p:txBody>
      </p:sp>
      <p:pic>
        <p:nvPicPr>
          <p:cNvPr id="7" name="Picture 6" descr="c08_shap_top10.png"/>
          <p:cNvPicPr>
            <a:picLocks noChangeAspect="1"/>
          </p:cNvPicPr>
          <p:nvPr/>
        </p:nvPicPr>
        <p:blipFill>
          <a:blip r:embed="rId2"/>
          <a:stretch>
            <a:fillRect/>
          </a:stretch>
        </p:blipFill>
        <p:spPr>
          <a:xfrm>
            <a:off x="365760" y="1371600"/>
            <a:ext cx="6949440" cy="4409651"/>
          </a:xfrm>
          <a:prstGeom prst="rect">
            <a:avLst/>
          </a:prstGeom>
        </p:spPr>
      </p:pic>
      <p:sp>
        <p:nvSpPr>
          <p:cNvPr id="8" name="TextBox 7"/>
          <p:cNvSpPr txBox="1"/>
          <p:nvPr/>
        </p:nvSpPr>
        <p:spPr>
          <a:xfrm>
            <a:off x="7589520" y="1463040"/>
            <a:ext cx="4114800" cy="4846320"/>
          </a:xfrm>
          <a:prstGeom prst="rect">
            <a:avLst/>
          </a:prstGeom>
          <a:noFill/>
        </p:spPr>
        <p:txBody>
          <a:bodyPr wrap="square" anchor="t" lIns="45720" rIns="45720">
            <a:spAutoFit/>
          </a:bodyPr>
          <a:lstStyle/>
          <a:p>
            <a:pPr algn="l">
              <a:spcAft>
                <a:spcPts val="420"/>
              </a:spcAft>
            </a:pPr>
            <a:r>
              <a:rPr sz="1400" b="1">
                <a:solidFill>
                  <a:srgbClr val="0F6E6A"/>
                </a:solidFill>
                <a:latin typeface="Calibri"/>
              </a:rPr>
              <a:t>What SHAP does</a:t>
            </a:r>
          </a:p>
          <a:p>
            <a:pPr algn="l">
              <a:spcAft>
                <a:spcPts val="420"/>
              </a:spcAft>
            </a:pPr>
            <a:r>
              <a:rPr sz="1400" b="0">
                <a:solidFill>
                  <a:srgbClr val="1F2937"/>
                </a:solidFill>
                <a:latin typeface="Calibri"/>
              </a:rPr>
              <a:t>SHAP splits a prediction into the push that each feature gave it, a little like splitting a bill between items. We average these pushes over many households.</a:t>
            </a:r>
          </a:p>
          <a:p>
            <a:pPr algn="l">
              <a:spcAft>
                <a:spcPts val="420"/>
              </a:spcAft>
            </a:pPr>
            <a:r>
              <a:rPr sz="1400" b="1">
                <a:solidFill>
                  <a:srgbClr val="0F6E6A"/>
                </a:solidFill>
                <a:latin typeface="Calibri"/>
              </a:rPr>
              <a:t>What it shows</a:t>
            </a:r>
          </a:p>
          <a:p>
            <a:pPr algn="l">
              <a:spcAft>
                <a:spcPts val="420"/>
              </a:spcAft>
            </a:pPr>
            <a:r>
              <a:rPr sz="1400" b="0">
                <a:solidFill>
                  <a:srgbClr val="1F2937"/>
                </a:solidFill>
                <a:latin typeface="Calibri"/>
              </a:rPr>
              <a:t>The model relies most on the number of young children, the state, household assets, the ration card type, and the caste and religion group.</a:t>
            </a:r>
          </a:p>
          <a:p>
            <a:pPr algn="l">
              <a:spcAft>
                <a:spcPts val="420"/>
              </a:spcAft>
            </a:pPr>
            <a:r>
              <a:rPr sz="1400" b="1">
                <a:solidFill>
                  <a:srgbClr val="0F6E6A"/>
                </a:solidFill>
                <a:latin typeface="Calibri"/>
              </a:rPr>
              <a:t>What to keep in mind</a:t>
            </a:r>
          </a:p>
          <a:p>
            <a:pPr algn="l">
              <a:spcAft>
                <a:spcPts val="420"/>
              </a:spcAft>
            </a:pPr>
            <a:r>
              <a:rPr sz="1400" b="0">
                <a:solidFill>
                  <a:srgbClr val="1F2937"/>
                </a:solidFill>
                <a:latin typeface="Calibri"/>
              </a:rPr>
              <a:t>SHAP shows what the model uses. It does not show what causes escape.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AF7F0"/>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F6E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8229600" cy="365760"/>
          </a:xfrm>
          <a:prstGeom prst="rect">
            <a:avLst/>
          </a:prstGeom>
          <a:noFill/>
        </p:spPr>
        <p:txBody>
          <a:bodyPr wrap="square" anchor="t" lIns="45720" rIns="45720">
            <a:spAutoFit/>
          </a:bodyPr>
          <a:lstStyle/>
          <a:p>
            <a:pPr algn="l">
              <a:spcAft>
                <a:spcPts val="540"/>
              </a:spcAft>
            </a:pPr>
            <a:r>
              <a:rPr sz="1200" b="1">
                <a:solidFill>
                  <a:srgbClr val="0F6E6A"/>
                </a:solidFill>
                <a:latin typeface="Calibri"/>
              </a:rPr>
              <a:t>7. INTERPRETATION OF THE MODEL</a:t>
            </a:r>
          </a:p>
        </p:txBody>
      </p:sp>
      <p:sp>
        <p:nvSpPr>
          <p:cNvPr id="4" name="Rounded Rectangle 3"/>
          <p:cNvSpPr/>
          <p:nvPr/>
        </p:nvSpPr>
        <p:spPr>
          <a:xfrm>
            <a:off x="9966960" y="292608"/>
            <a:ext cx="1920240" cy="384048"/>
          </a:xfrm>
          <a:prstGeom prst="roundRect">
            <a:avLst>
              <a:gd name="adj" fmla="val 50000"/>
            </a:avLst>
          </a:prstGeom>
          <a:solidFill>
            <a:srgbClr val="E6F2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0F6E6A"/>
                </a:solidFill>
                <a:latin typeface="Calibri"/>
              </a:rPr>
              <a:t>Presenter: Eshaan</a:t>
            </a:r>
          </a:p>
        </p:txBody>
      </p:sp>
      <p:sp>
        <p:nvSpPr>
          <p:cNvPr id="5" name="TextBox 4"/>
          <p:cNvSpPr txBox="1"/>
          <p:nvPr/>
        </p:nvSpPr>
        <p:spPr>
          <a:xfrm>
            <a:off x="548640" y="594360"/>
            <a:ext cx="11155680" cy="731520"/>
          </a:xfrm>
          <a:prstGeom prst="rect">
            <a:avLst/>
          </a:prstGeom>
          <a:noFill/>
        </p:spPr>
        <p:txBody>
          <a:bodyPr wrap="square" anchor="t" lIns="45720" rIns="45720">
            <a:spAutoFit/>
          </a:bodyPr>
          <a:lstStyle/>
          <a:p>
            <a:pPr algn="l">
              <a:spcAft>
                <a:spcPts val="1170"/>
              </a:spcAft>
            </a:pPr>
            <a:r>
              <a:rPr sz="2600" b="1">
                <a:solidFill>
                  <a:srgbClr val="1F2937"/>
                </a:solidFill>
                <a:latin typeface="Calibri"/>
              </a:rPr>
              <a:t>Fewer young children and more assets point towards escape</a:t>
            </a:r>
          </a:p>
        </p:txBody>
      </p:sp>
      <p:sp>
        <p:nvSpPr>
          <p:cNvPr id="6" name="TextBox 5"/>
          <p:cNvSpPr txBox="1"/>
          <p:nvPr/>
        </p:nvSpPr>
        <p:spPr>
          <a:xfrm>
            <a:off x="11247120" y="6400800"/>
            <a:ext cx="731520" cy="320040"/>
          </a:xfrm>
          <a:prstGeom prst="rect">
            <a:avLst/>
          </a:prstGeom>
          <a:noFill/>
        </p:spPr>
        <p:txBody>
          <a:bodyPr wrap="square" anchor="t" lIns="45720" rIns="45720">
            <a:spAutoFit/>
          </a:bodyPr>
          <a:lstStyle/>
          <a:p>
            <a:pPr algn="r">
              <a:spcAft>
                <a:spcPts val="495"/>
              </a:spcAft>
            </a:pPr>
            <a:r>
              <a:rPr sz="1100" b="0">
                <a:solidFill>
                  <a:srgbClr val="5B6470"/>
                </a:solidFill>
                <a:latin typeface="Calibri"/>
              </a:rPr>
              <a:t>27</a:t>
            </a:r>
          </a:p>
        </p:txBody>
      </p:sp>
      <p:pic>
        <p:nvPicPr>
          <p:cNvPr id="7" name="Picture 6" descr="c10_shap_children.png"/>
          <p:cNvPicPr>
            <a:picLocks noChangeAspect="1"/>
          </p:cNvPicPr>
          <p:nvPr/>
        </p:nvPicPr>
        <p:blipFill>
          <a:blip r:embed="rId2"/>
          <a:stretch>
            <a:fillRect/>
          </a:stretch>
        </p:blipFill>
        <p:spPr>
          <a:xfrm>
            <a:off x="731520" y="1371600"/>
            <a:ext cx="4663440" cy="3456211"/>
          </a:xfrm>
          <a:prstGeom prst="rect">
            <a:avLst/>
          </a:prstGeom>
        </p:spPr>
      </p:pic>
      <p:pic>
        <p:nvPicPr>
          <p:cNvPr id="8" name="Picture 7" descr="c11_shap_assets.png"/>
          <p:cNvPicPr>
            <a:picLocks noChangeAspect="1"/>
          </p:cNvPicPr>
          <p:nvPr/>
        </p:nvPicPr>
        <p:blipFill>
          <a:blip r:embed="rId3"/>
          <a:stretch>
            <a:fillRect/>
          </a:stretch>
        </p:blipFill>
        <p:spPr>
          <a:xfrm>
            <a:off x="6492240" y="1371600"/>
            <a:ext cx="4663440" cy="3456211"/>
          </a:xfrm>
          <a:prstGeom prst="rect">
            <a:avLst/>
          </a:prstGeom>
        </p:spPr>
      </p:pic>
      <p:sp>
        <p:nvSpPr>
          <p:cNvPr id="9" name="TextBox 8"/>
          <p:cNvSpPr txBox="1"/>
          <p:nvPr/>
        </p:nvSpPr>
        <p:spPr>
          <a:xfrm>
            <a:off x="548640" y="5074920"/>
            <a:ext cx="5394960" cy="1280160"/>
          </a:xfrm>
          <a:prstGeom prst="rect">
            <a:avLst/>
          </a:prstGeom>
          <a:noFill/>
        </p:spPr>
        <p:txBody>
          <a:bodyPr wrap="square" anchor="t" lIns="45720" rIns="45720">
            <a:spAutoFit/>
          </a:bodyPr>
          <a:lstStyle/>
          <a:p>
            <a:pPr algn="l">
              <a:spcAft>
                <a:spcPts val="675"/>
              </a:spcAft>
            </a:pPr>
            <a:r>
              <a:rPr sz="1500" b="0">
                <a:solidFill>
                  <a:srgbClr val="1F2937"/>
                </a:solidFill>
                <a:latin typeface="Calibri"/>
              </a:rPr>
              <a:t>Households with no child under 6 are pushed towards escape, and households with two or more are pushed towards staying poor.</a:t>
            </a:r>
          </a:p>
        </p:txBody>
      </p:sp>
      <p:sp>
        <p:nvSpPr>
          <p:cNvPr id="10" name="TextBox 9"/>
          <p:cNvSpPr txBox="1"/>
          <p:nvPr/>
        </p:nvSpPr>
        <p:spPr>
          <a:xfrm>
            <a:off x="6309360" y="5074920"/>
            <a:ext cx="5394960" cy="1280160"/>
          </a:xfrm>
          <a:prstGeom prst="rect">
            <a:avLst/>
          </a:prstGeom>
          <a:noFill/>
        </p:spPr>
        <p:txBody>
          <a:bodyPr wrap="square" anchor="t" lIns="45720" rIns="45720">
            <a:spAutoFit/>
          </a:bodyPr>
          <a:lstStyle/>
          <a:p>
            <a:pPr algn="l">
              <a:spcAft>
                <a:spcPts val="675"/>
              </a:spcAft>
            </a:pPr>
            <a:r>
              <a:rPr sz="1500" b="0">
                <a:solidFill>
                  <a:srgbClr val="1F2937"/>
                </a:solidFill>
                <a:latin typeface="Calibri"/>
              </a:rPr>
              <a:t>Households with more assets per person are generally pushed towards escape.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AF7F0"/>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F6E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8229600" cy="365760"/>
          </a:xfrm>
          <a:prstGeom prst="rect">
            <a:avLst/>
          </a:prstGeom>
          <a:noFill/>
        </p:spPr>
        <p:txBody>
          <a:bodyPr wrap="square" anchor="t" lIns="45720" rIns="45720">
            <a:spAutoFit/>
          </a:bodyPr>
          <a:lstStyle/>
          <a:p>
            <a:pPr algn="l">
              <a:spcAft>
                <a:spcPts val="540"/>
              </a:spcAft>
            </a:pPr>
            <a:r>
              <a:rPr sz="1200" b="1">
                <a:solidFill>
                  <a:srgbClr val="0F6E6A"/>
                </a:solidFill>
                <a:latin typeface="Calibri"/>
              </a:rPr>
              <a:t>7. INTERPRETATION OF THE MODEL</a:t>
            </a:r>
          </a:p>
        </p:txBody>
      </p:sp>
      <p:sp>
        <p:nvSpPr>
          <p:cNvPr id="4" name="Rounded Rectangle 3"/>
          <p:cNvSpPr/>
          <p:nvPr/>
        </p:nvSpPr>
        <p:spPr>
          <a:xfrm>
            <a:off x="9966960" y="292608"/>
            <a:ext cx="1920240" cy="384048"/>
          </a:xfrm>
          <a:prstGeom prst="roundRect">
            <a:avLst>
              <a:gd name="adj" fmla="val 50000"/>
            </a:avLst>
          </a:prstGeom>
          <a:solidFill>
            <a:srgbClr val="E6F2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0F6E6A"/>
                </a:solidFill>
                <a:latin typeface="Calibri"/>
              </a:rPr>
              <a:t>Presenter: Eshaan</a:t>
            </a:r>
          </a:p>
        </p:txBody>
      </p:sp>
      <p:sp>
        <p:nvSpPr>
          <p:cNvPr id="5" name="TextBox 4"/>
          <p:cNvSpPr txBox="1"/>
          <p:nvPr/>
        </p:nvSpPr>
        <p:spPr>
          <a:xfrm>
            <a:off x="548640" y="594360"/>
            <a:ext cx="11155680" cy="731520"/>
          </a:xfrm>
          <a:prstGeom prst="rect">
            <a:avLst/>
          </a:prstGeom>
          <a:noFill/>
        </p:spPr>
        <p:txBody>
          <a:bodyPr wrap="square" anchor="t" lIns="45720" rIns="45720">
            <a:spAutoFit/>
          </a:bodyPr>
          <a:lstStyle/>
          <a:p>
            <a:pPr algn="l">
              <a:spcAft>
                <a:spcPts val="1170"/>
              </a:spcAft>
            </a:pPr>
            <a:r>
              <a:rPr sz="2600" b="1">
                <a:solidFill>
                  <a:srgbClr val="1F2937"/>
                </a:solidFill>
                <a:latin typeface="Calibri"/>
              </a:rPr>
              <a:t>Households with an educated adult escaped more often</a:t>
            </a:r>
          </a:p>
        </p:txBody>
      </p:sp>
      <p:sp>
        <p:nvSpPr>
          <p:cNvPr id="6" name="TextBox 5"/>
          <p:cNvSpPr txBox="1"/>
          <p:nvPr/>
        </p:nvSpPr>
        <p:spPr>
          <a:xfrm>
            <a:off x="11247120" y="6400800"/>
            <a:ext cx="731520" cy="320040"/>
          </a:xfrm>
          <a:prstGeom prst="rect">
            <a:avLst/>
          </a:prstGeom>
          <a:noFill/>
        </p:spPr>
        <p:txBody>
          <a:bodyPr wrap="square" anchor="t" lIns="45720" rIns="45720">
            <a:spAutoFit/>
          </a:bodyPr>
          <a:lstStyle/>
          <a:p>
            <a:pPr algn="r">
              <a:spcAft>
                <a:spcPts val="495"/>
              </a:spcAft>
            </a:pPr>
            <a:r>
              <a:rPr sz="1100" b="0">
                <a:solidFill>
                  <a:srgbClr val="5B6470"/>
                </a:solidFill>
                <a:latin typeface="Calibri"/>
              </a:rPr>
              <a:t>28</a:t>
            </a:r>
          </a:p>
        </p:txBody>
      </p:sp>
      <p:pic>
        <p:nvPicPr>
          <p:cNvPr id="7" name="Picture 6" descr="c19_education_simple.png"/>
          <p:cNvPicPr>
            <a:picLocks noChangeAspect="1"/>
          </p:cNvPicPr>
          <p:nvPr/>
        </p:nvPicPr>
        <p:blipFill>
          <a:blip r:embed="rId2"/>
          <a:stretch>
            <a:fillRect/>
          </a:stretch>
        </p:blipFill>
        <p:spPr>
          <a:xfrm>
            <a:off x="365760" y="1371600"/>
            <a:ext cx="6035040" cy="3648817"/>
          </a:xfrm>
          <a:prstGeom prst="rect">
            <a:avLst/>
          </a:prstGeom>
        </p:spPr>
      </p:pic>
      <p:sp>
        <p:nvSpPr>
          <p:cNvPr id="8" name="TextBox 7"/>
          <p:cNvSpPr txBox="1"/>
          <p:nvPr/>
        </p:nvSpPr>
        <p:spPr>
          <a:xfrm>
            <a:off x="6583680" y="1371600"/>
            <a:ext cx="5120640" cy="4937760"/>
          </a:xfrm>
          <a:prstGeom prst="rect">
            <a:avLst/>
          </a:prstGeom>
          <a:noFill/>
        </p:spPr>
        <p:txBody>
          <a:bodyPr wrap="square" anchor="t" lIns="45720" rIns="45720">
            <a:spAutoFit/>
          </a:bodyPr>
          <a:lstStyle/>
          <a:p>
            <a:pPr algn="l">
              <a:spcAft>
                <a:spcPts val="450"/>
              </a:spcAft>
            </a:pPr>
            <a:r>
              <a:rPr sz="1500" b="1">
                <a:solidFill>
                  <a:srgbClr val="0F6E6A"/>
                </a:solidFill>
                <a:latin typeface="Calibri"/>
              </a:rPr>
              <a:t>The question</a:t>
            </a:r>
          </a:p>
          <a:p>
            <a:pPr algn="l">
              <a:spcAft>
                <a:spcPts val="450"/>
              </a:spcAft>
            </a:pPr>
            <a:r>
              <a:rPr sz="1500" b="0">
                <a:solidFill>
                  <a:srgbClr val="1F2937"/>
                </a:solidFill>
                <a:latin typeface="Calibri"/>
              </a:rPr>
              <a:t>Among poor households, do those with an adult who has 10 or more years of schooling (2,205 households) escape more often?</a:t>
            </a:r>
          </a:p>
          <a:p>
            <a:pPr algn="l">
              <a:spcAft>
                <a:spcPts val="450"/>
              </a:spcAft>
            </a:pPr>
            <a:r>
              <a:rPr sz="1500" b="1">
                <a:solidFill>
                  <a:srgbClr val="0F6E6A"/>
                </a:solidFill>
                <a:latin typeface="Calibri"/>
              </a:rPr>
              <a:t>The answer</a:t>
            </a:r>
          </a:p>
          <a:p>
            <a:pPr algn="l">
              <a:spcAft>
                <a:spcPts val="450"/>
              </a:spcAft>
            </a:pPr>
            <a:r>
              <a:rPr sz="1500" b="0">
                <a:solidFill>
                  <a:srgbClr val="1F2937"/>
                </a:solidFill>
                <a:latin typeface="Calibri"/>
              </a:rPr>
              <a:t>Yes. They escaped 11.1 percentage points more often. After comparing them with similar households (same state, caste, area, family structure and land), the gap is about 6 points.</a:t>
            </a:r>
          </a:p>
          <a:p>
            <a:pPr algn="l">
              <a:spcAft>
                <a:spcPts val="450"/>
              </a:spcAft>
            </a:pPr>
            <a:r>
              <a:rPr sz="1500" b="1">
                <a:solidFill>
                  <a:srgbClr val="0F6E6A"/>
                </a:solidFill>
                <a:latin typeface="Calibri"/>
              </a:rPr>
              <a:t>What to keep in mind</a:t>
            </a:r>
          </a:p>
          <a:p>
            <a:pPr algn="l">
              <a:spcAft>
                <a:spcPts val="450"/>
              </a:spcAft>
            </a:pPr>
            <a:r>
              <a:rPr sz="1500" b="0">
                <a:solidFill>
                  <a:srgbClr val="1F2937"/>
                </a:solidFill>
                <a:latin typeface="Calibri"/>
              </a:rPr>
              <a:t>This is a link between education and escape. It does not prove that education causes escape.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AF7F0"/>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F6E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8229600" cy="365760"/>
          </a:xfrm>
          <a:prstGeom prst="rect">
            <a:avLst/>
          </a:prstGeom>
          <a:noFill/>
        </p:spPr>
        <p:txBody>
          <a:bodyPr wrap="square" anchor="t" lIns="45720" rIns="45720">
            <a:spAutoFit/>
          </a:bodyPr>
          <a:lstStyle/>
          <a:p>
            <a:pPr algn="l">
              <a:spcAft>
                <a:spcPts val="540"/>
              </a:spcAft>
            </a:pPr>
            <a:r>
              <a:rPr sz="1200" b="1">
                <a:solidFill>
                  <a:srgbClr val="0F6E6A"/>
                </a:solidFill>
                <a:latin typeface="Calibri"/>
              </a:rPr>
              <a:t>8. CONCLUSION</a:t>
            </a:r>
          </a:p>
        </p:txBody>
      </p:sp>
      <p:sp>
        <p:nvSpPr>
          <p:cNvPr id="4" name="Rounded Rectangle 3"/>
          <p:cNvSpPr/>
          <p:nvPr/>
        </p:nvSpPr>
        <p:spPr>
          <a:xfrm>
            <a:off x="9966960" y="292608"/>
            <a:ext cx="1920240" cy="384048"/>
          </a:xfrm>
          <a:prstGeom prst="roundRect">
            <a:avLst>
              <a:gd name="adj" fmla="val 50000"/>
            </a:avLst>
          </a:prstGeom>
          <a:solidFill>
            <a:srgbClr val="E6F2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0F6E6A"/>
                </a:solidFill>
                <a:latin typeface="Calibri"/>
              </a:rPr>
              <a:t>Presenter: Anhad</a:t>
            </a:r>
          </a:p>
        </p:txBody>
      </p:sp>
      <p:sp>
        <p:nvSpPr>
          <p:cNvPr id="5" name="TextBox 4"/>
          <p:cNvSpPr txBox="1"/>
          <p:nvPr/>
        </p:nvSpPr>
        <p:spPr>
          <a:xfrm>
            <a:off x="548640" y="594360"/>
            <a:ext cx="11155680" cy="731520"/>
          </a:xfrm>
          <a:prstGeom prst="rect">
            <a:avLst/>
          </a:prstGeom>
          <a:noFill/>
        </p:spPr>
        <p:txBody>
          <a:bodyPr wrap="square" anchor="t" lIns="45720" rIns="45720">
            <a:spAutoFit/>
          </a:bodyPr>
          <a:lstStyle/>
          <a:p>
            <a:pPr algn="l">
              <a:spcAft>
                <a:spcPts val="1170"/>
              </a:spcAft>
            </a:pPr>
            <a:r>
              <a:rPr sz="2600" b="1">
                <a:solidFill>
                  <a:srgbClr val="1F2937"/>
                </a:solidFill>
                <a:latin typeface="Calibri"/>
              </a:rPr>
              <a:t>The model is modest, and the data have limits</a:t>
            </a:r>
          </a:p>
        </p:txBody>
      </p:sp>
      <p:sp>
        <p:nvSpPr>
          <p:cNvPr id="6" name="TextBox 5"/>
          <p:cNvSpPr txBox="1"/>
          <p:nvPr/>
        </p:nvSpPr>
        <p:spPr>
          <a:xfrm>
            <a:off x="11247120" y="6400800"/>
            <a:ext cx="731520" cy="320040"/>
          </a:xfrm>
          <a:prstGeom prst="rect">
            <a:avLst/>
          </a:prstGeom>
          <a:noFill/>
        </p:spPr>
        <p:txBody>
          <a:bodyPr wrap="square" anchor="t" lIns="45720" rIns="45720">
            <a:spAutoFit/>
          </a:bodyPr>
          <a:lstStyle/>
          <a:p>
            <a:pPr algn="r">
              <a:spcAft>
                <a:spcPts val="495"/>
              </a:spcAft>
            </a:pPr>
            <a:r>
              <a:rPr sz="1100" b="0">
                <a:solidFill>
                  <a:srgbClr val="5B6470"/>
                </a:solidFill>
                <a:latin typeface="Calibri"/>
              </a:rPr>
              <a:t>29</a:t>
            </a:r>
          </a:p>
        </p:txBody>
      </p:sp>
      <p:sp>
        <p:nvSpPr>
          <p:cNvPr id="7" name="Rounded Rectangle 6"/>
          <p:cNvSpPr/>
          <p:nvPr/>
        </p:nvSpPr>
        <p:spPr>
          <a:xfrm>
            <a:off x="548640" y="1371600"/>
            <a:ext cx="5486400" cy="1508760"/>
          </a:xfrm>
          <a:prstGeom prst="roundRect">
            <a:avLst>
              <a:gd name="adj" fmla="val 6000"/>
            </a:avLst>
          </a:prstGeom>
          <a:solidFill>
            <a:srgbClr val="FFFFFF"/>
          </a:solidFill>
          <a:ln>
            <a:solidFill>
              <a:srgbClr val="E3DE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481328"/>
            <a:ext cx="5120640" cy="411480"/>
          </a:xfrm>
          <a:prstGeom prst="rect">
            <a:avLst/>
          </a:prstGeom>
          <a:noFill/>
        </p:spPr>
        <p:txBody>
          <a:bodyPr wrap="square" anchor="t" lIns="45720" rIns="45720">
            <a:spAutoFit/>
          </a:bodyPr>
          <a:lstStyle/>
          <a:p>
            <a:pPr algn="l">
              <a:spcAft>
                <a:spcPts val="720"/>
              </a:spcAft>
            </a:pPr>
            <a:r>
              <a:rPr sz="1600" b="1">
                <a:solidFill>
                  <a:srgbClr val="0F6E6A"/>
                </a:solidFill>
                <a:latin typeface="Calibri"/>
              </a:rPr>
              <a:t>Modest accuracy</a:t>
            </a:r>
          </a:p>
        </p:txBody>
      </p:sp>
      <p:sp>
        <p:nvSpPr>
          <p:cNvPr id="9" name="TextBox 8"/>
          <p:cNvSpPr txBox="1"/>
          <p:nvPr/>
        </p:nvSpPr>
        <p:spPr>
          <a:xfrm>
            <a:off x="731520" y="1901952"/>
            <a:ext cx="5120640" cy="914400"/>
          </a:xfrm>
          <a:prstGeom prst="rect">
            <a:avLst/>
          </a:prstGeom>
          <a:noFill/>
        </p:spPr>
        <p:txBody>
          <a:bodyPr wrap="square" anchor="t" lIns="45720" rIns="45720">
            <a:spAutoFit/>
          </a:bodyPr>
          <a:lstStyle/>
          <a:p>
            <a:pPr algn="l">
              <a:spcAft>
                <a:spcPts val="630"/>
              </a:spcAft>
            </a:pPr>
            <a:r>
              <a:rPr sz="1400" b="0">
                <a:solidFill>
                  <a:srgbClr val="1F2937"/>
                </a:solidFill>
                <a:latin typeface="Calibri"/>
              </a:rPr>
              <a:t>A ROC-AUC of about 0.7 ranks households reasonably well, but many single predictions are wrong.</a:t>
            </a:r>
          </a:p>
        </p:txBody>
      </p:sp>
      <p:sp>
        <p:nvSpPr>
          <p:cNvPr id="10" name="Rounded Rectangle 9"/>
          <p:cNvSpPr/>
          <p:nvPr/>
        </p:nvSpPr>
        <p:spPr>
          <a:xfrm>
            <a:off x="6172200" y="1371600"/>
            <a:ext cx="5486400" cy="1508760"/>
          </a:xfrm>
          <a:prstGeom prst="roundRect">
            <a:avLst>
              <a:gd name="adj" fmla="val 6000"/>
            </a:avLst>
          </a:prstGeom>
          <a:solidFill>
            <a:srgbClr val="FFFFFF"/>
          </a:solidFill>
          <a:ln>
            <a:solidFill>
              <a:srgbClr val="E3DE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5080" y="1481328"/>
            <a:ext cx="5120640" cy="411480"/>
          </a:xfrm>
          <a:prstGeom prst="rect">
            <a:avLst/>
          </a:prstGeom>
          <a:noFill/>
        </p:spPr>
        <p:txBody>
          <a:bodyPr wrap="square" anchor="t" lIns="45720" rIns="45720">
            <a:spAutoFit/>
          </a:bodyPr>
          <a:lstStyle/>
          <a:p>
            <a:pPr algn="l">
              <a:spcAft>
                <a:spcPts val="720"/>
              </a:spcAft>
            </a:pPr>
            <a:r>
              <a:rPr sz="1600" b="1">
                <a:solidFill>
                  <a:srgbClr val="0F6E6A"/>
                </a:solidFill>
                <a:latin typeface="Calibri"/>
              </a:rPr>
              <a:t>A noisy poverty line</a:t>
            </a:r>
          </a:p>
        </p:txBody>
      </p:sp>
      <p:sp>
        <p:nvSpPr>
          <p:cNvPr id="12" name="TextBox 11"/>
          <p:cNvSpPr txBox="1"/>
          <p:nvPr/>
        </p:nvSpPr>
        <p:spPr>
          <a:xfrm>
            <a:off x="6355080" y="1901952"/>
            <a:ext cx="5120640" cy="914400"/>
          </a:xfrm>
          <a:prstGeom prst="rect">
            <a:avLst/>
          </a:prstGeom>
          <a:noFill/>
        </p:spPr>
        <p:txBody>
          <a:bodyPr wrap="square" anchor="t" lIns="45720" rIns="45720">
            <a:spAutoFit/>
          </a:bodyPr>
          <a:lstStyle/>
          <a:p>
            <a:pPr algn="l">
              <a:spcAft>
                <a:spcPts val="630"/>
              </a:spcAft>
            </a:pPr>
            <a:r>
              <a:rPr sz="1400" b="0">
                <a:solidFill>
                  <a:srgbClr val="1F2937"/>
                </a:solidFill>
                <a:latin typeface="Calibri"/>
              </a:rPr>
              <a:t>Escaping is partly a matter of crossing a line. One in five poor households were within 10% of it.</a:t>
            </a:r>
          </a:p>
        </p:txBody>
      </p:sp>
      <p:sp>
        <p:nvSpPr>
          <p:cNvPr id="13" name="Rounded Rectangle 12"/>
          <p:cNvSpPr/>
          <p:nvPr/>
        </p:nvSpPr>
        <p:spPr>
          <a:xfrm>
            <a:off x="548640" y="3017520"/>
            <a:ext cx="5486400" cy="1508760"/>
          </a:xfrm>
          <a:prstGeom prst="roundRect">
            <a:avLst>
              <a:gd name="adj" fmla="val 6000"/>
            </a:avLst>
          </a:prstGeom>
          <a:solidFill>
            <a:srgbClr val="FFFFFF"/>
          </a:solidFill>
          <a:ln>
            <a:solidFill>
              <a:srgbClr val="E3DE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127248"/>
            <a:ext cx="5120640" cy="411480"/>
          </a:xfrm>
          <a:prstGeom prst="rect">
            <a:avLst/>
          </a:prstGeom>
          <a:noFill/>
        </p:spPr>
        <p:txBody>
          <a:bodyPr wrap="square" anchor="t" lIns="45720" rIns="45720">
            <a:spAutoFit/>
          </a:bodyPr>
          <a:lstStyle/>
          <a:p>
            <a:pPr algn="l">
              <a:spcAft>
                <a:spcPts val="720"/>
              </a:spcAft>
            </a:pPr>
            <a:r>
              <a:rPr sz="1600" b="1">
                <a:solidFill>
                  <a:srgbClr val="0F6E6A"/>
                </a:solidFill>
                <a:latin typeface="Calibri"/>
              </a:rPr>
              <a:t>Households we lost</a:t>
            </a:r>
          </a:p>
        </p:txBody>
      </p:sp>
      <p:sp>
        <p:nvSpPr>
          <p:cNvPr id="15" name="TextBox 14"/>
          <p:cNvSpPr txBox="1"/>
          <p:nvPr/>
        </p:nvSpPr>
        <p:spPr>
          <a:xfrm>
            <a:off x="731520" y="3547872"/>
            <a:ext cx="5120640" cy="914400"/>
          </a:xfrm>
          <a:prstGeom prst="rect">
            <a:avLst/>
          </a:prstGeom>
          <a:noFill/>
        </p:spPr>
        <p:txBody>
          <a:bodyPr wrap="square" anchor="t" lIns="45720" rIns="45720">
            <a:spAutoFit/>
          </a:bodyPr>
          <a:lstStyle/>
          <a:p>
            <a:pPr algn="l">
              <a:spcAft>
                <a:spcPts val="630"/>
              </a:spcAft>
            </a:pPr>
            <a:r>
              <a:rPr sz="1400" b="0">
                <a:solidFill>
                  <a:srgbClr val="1F2937"/>
                </a:solidFill>
                <a:latin typeface="Calibri"/>
              </a:rPr>
              <a:t>About 11% of poor households could not be followed up, for example because they moved.</a:t>
            </a:r>
          </a:p>
        </p:txBody>
      </p:sp>
      <p:sp>
        <p:nvSpPr>
          <p:cNvPr id="16" name="Rounded Rectangle 15"/>
          <p:cNvSpPr/>
          <p:nvPr/>
        </p:nvSpPr>
        <p:spPr>
          <a:xfrm>
            <a:off x="6172200" y="3017520"/>
            <a:ext cx="5486400" cy="1508760"/>
          </a:xfrm>
          <a:prstGeom prst="roundRect">
            <a:avLst>
              <a:gd name="adj" fmla="val 6000"/>
            </a:avLst>
          </a:prstGeom>
          <a:solidFill>
            <a:srgbClr val="FFFFFF"/>
          </a:solidFill>
          <a:ln>
            <a:solidFill>
              <a:srgbClr val="E3DE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55080" y="3127248"/>
            <a:ext cx="5120640" cy="411480"/>
          </a:xfrm>
          <a:prstGeom prst="rect">
            <a:avLst/>
          </a:prstGeom>
          <a:noFill/>
        </p:spPr>
        <p:txBody>
          <a:bodyPr wrap="square" anchor="t" lIns="45720" rIns="45720">
            <a:spAutoFit/>
          </a:bodyPr>
          <a:lstStyle/>
          <a:p>
            <a:pPr algn="l">
              <a:spcAft>
                <a:spcPts val="720"/>
              </a:spcAft>
            </a:pPr>
            <a:r>
              <a:rPr sz="1600" b="1">
                <a:solidFill>
                  <a:srgbClr val="0F6E6A"/>
                </a:solidFill>
                <a:latin typeface="Calibri"/>
              </a:rPr>
              <a:t>Old data</a:t>
            </a:r>
          </a:p>
        </p:txBody>
      </p:sp>
      <p:sp>
        <p:nvSpPr>
          <p:cNvPr id="18" name="TextBox 17"/>
          <p:cNvSpPr txBox="1"/>
          <p:nvPr/>
        </p:nvSpPr>
        <p:spPr>
          <a:xfrm>
            <a:off x="6355080" y="3547872"/>
            <a:ext cx="5120640" cy="914400"/>
          </a:xfrm>
          <a:prstGeom prst="rect">
            <a:avLst/>
          </a:prstGeom>
          <a:noFill/>
        </p:spPr>
        <p:txBody>
          <a:bodyPr wrap="square" anchor="t" lIns="45720" rIns="45720">
            <a:spAutoFit/>
          </a:bodyPr>
          <a:lstStyle/>
          <a:p>
            <a:pPr algn="l">
              <a:spcAft>
                <a:spcPts val="630"/>
              </a:spcAft>
            </a:pPr>
            <a:r>
              <a:rPr sz="1400" b="0">
                <a:solidFill>
                  <a:srgbClr val="1F2937"/>
                </a:solidFill>
                <a:latin typeface="Calibri"/>
              </a:rPr>
              <a:t>The survey covers 2004 to 2012, so newer data is needed before any real use.</a:t>
            </a:r>
          </a:p>
        </p:txBody>
      </p:sp>
      <p:sp>
        <p:nvSpPr>
          <p:cNvPr id="19" name="Rounded Rectangle 18"/>
          <p:cNvSpPr/>
          <p:nvPr/>
        </p:nvSpPr>
        <p:spPr>
          <a:xfrm>
            <a:off x="548640" y="4663440"/>
            <a:ext cx="5486400" cy="1508760"/>
          </a:xfrm>
          <a:prstGeom prst="roundRect">
            <a:avLst>
              <a:gd name="adj" fmla="val 6000"/>
            </a:avLst>
          </a:prstGeom>
          <a:solidFill>
            <a:srgbClr val="FFFFFF"/>
          </a:solidFill>
          <a:ln>
            <a:solidFill>
              <a:srgbClr val="E3DE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4773168"/>
            <a:ext cx="5120640" cy="411480"/>
          </a:xfrm>
          <a:prstGeom prst="rect">
            <a:avLst/>
          </a:prstGeom>
          <a:noFill/>
        </p:spPr>
        <p:txBody>
          <a:bodyPr wrap="square" anchor="t" lIns="45720" rIns="45720">
            <a:spAutoFit/>
          </a:bodyPr>
          <a:lstStyle/>
          <a:p>
            <a:pPr algn="l">
              <a:spcAft>
                <a:spcPts val="720"/>
              </a:spcAft>
            </a:pPr>
            <a:r>
              <a:rPr sz="1600" b="1">
                <a:solidFill>
                  <a:srgbClr val="0F6E6A"/>
                </a:solidFill>
                <a:latin typeface="Calibri"/>
              </a:rPr>
              <a:t>Patterns, not causes</a:t>
            </a:r>
          </a:p>
        </p:txBody>
      </p:sp>
      <p:sp>
        <p:nvSpPr>
          <p:cNvPr id="21" name="TextBox 20"/>
          <p:cNvSpPr txBox="1"/>
          <p:nvPr/>
        </p:nvSpPr>
        <p:spPr>
          <a:xfrm>
            <a:off x="731520" y="5193792"/>
            <a:ext cx="5120640" cy="914400"/>
          </a:xfrm>
          <a:prstGeom prst="rect">
            <a:avLst/>
          </a:prstGeom>
          <a:noFill/>
        </p:spPr>
        <p:txBody>
          <a:bodyPr wrap="square" anchor="t" lIns="45720" rIns="45720">
            <a:spAutoFit/>
          </a:bodyPr>
          <a:lstStyle/>
          <a:p>
            <a:pPr algn="l">
              <a:spcAft>
                <a:spcPts val="630"/>
              </a:spcAft>
            </a:pPr>
            <a:r>
              <a:rPr sz="1400" b="0">
                <a:solidFill>
                  <a:srgbClr val="1F2937"/>
                </a:solidFill>
                <a:latin typeface="Calibri"/>
              </a:rPr>
              <a:t>SHAP and the education result describe patterns. They do not show what causes escape.</a:t>
            </a:r>
          </a:p>
        </p:txBody>
      </p:sp>
      <p:sp>
        <p:nvSpPr>
          <p:cNvPr id="22" name="Rounded Rectangle 21"/>
          <p:cNvSpPr/>
          <p:nvPr/>
        </p:nvSpPr>
        <p:spPr>
          <a:xfrm>
            <a:off x="6172200" y="4663440"/>
            <a:ext cx="5486400" cy="1508760"/>
          </a:xfrm>
          <a:prstGeom prst="roundRect">
            <a:avLst>
              <a:gd name="adj" fmla="val 6000"/>
            </a:avLst>
          </a:prstGeom>
          <a:solidFill>
            <a:srgbClr val="FFFFFF"/>
          </a:solidFill>
          <a:ln>
            <a:solidFill>
              <a:srgbClr val="E3DE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55080" y="4773168"/>
            <a:ext cx="5120640" cy="411480"/>
          </a:xfrm>
          <a:prstGeom prst="rect">
            <a:avLst/>
          </a:prstGeom>
          <a:noFill/>
        </p:spPr>
        <p:txBody>
          <a:bodyPr wrap="square" anchor="t" lIns="45720" rIns="45720">
            <a:spAutoFit/>
          </a:bodyPr>
          <a:lstStyle/>
          <a:p>
            <a:pPr algn="l">
              <a:spcAft>
                <a:spcPts val="720"/>
              </a:spcAft>
            </a:pPr>
            <a:r>
              <a:rPr sz="1600" b="1">
                <a:solidFill>
                  <a:srgbClr val="0F6E6A"/>
                </a:solidFill>
                <a:latin typeface="Calibri"/>
              </a:rPr>
              <a:t>Fairness</a:t>
            </a:r>
          </a:p>
        </p:txBody>
      </p:sp>
      <p:sp>
        <p:nvSpPr>
          <p:cNvPr id="24" name="TextBox 23"/>
          <p:cNvSpPr txBox="1"/>
          <p:nvPr/>
        </p:nvSpPr>
        <p:spPr>
          <a:xfrm>
            <a:off x="6355080" y="5193792"/>
            <a:ext cx="5120640" cy="914400"/>
          </a:xfrm>
          <a:prstGeom prst="rect">
            <a:avLst/>
          </a:prstGeom>
          <a:noFill/>
        </p:spPr>
        <p:txBody>
          <a:bodyPr wrap="square" anchor="t" lIns="45720" rIns="45720">
            <a:spAutoFit/>
          </a:bodyPr>
          <a:lstStyle/>
          <a:p>
            <a:pPr algn="l">
              <a:spcAft>
                <a:spcPts val="630"/>
              </a:spcAft>
            </a:pPr>
            <a:r>
              <a:rPr sz="1400" b="0">
                <a:solidFill>
                  <a:srgbClr val="1F2937"/>
                </a:solidFill>
                <a:latin typeface="Calibri"/>
              </a:rPr>
              <a:t>State and caste are strong predictors, so the score should support groups and never be used to leave them out.</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AF7F0"/>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F6E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8229600" cy="365760"/>
          </a:xfrm>
          <a:prstGeom prst="rect">
            <a:avLst/>
          </a:prstGeom>
          <a:noFill/>
        </p:spPr>
        <p:txBody>
          <a:bodyPr wrap="square" anchor="t" lIns="45720" rIns="45720">
            <a:spAutoFit/>
          </a:bodyPr>
          <a:lstStyle/>
          <a:p>
            <a:pPr algn="l">
              <a:spcAft>
                <a:spcPts val="540"/>
              </a:spcAft>
            </a:pPr>
            <a:r>
              <a:rPr sz="1200" b="1">
                <a:solidFill>
                  <a:srgbClr val="0F6E6A"/>
                </a:solidFill>
                <a:latin typeface="Calibri"/>
              </a:rPr>
              <a:t>8. CONCLUSION</a:t>
            </a:r>
          </a:p>
        </p:txBody>
      </p:sp>
      <p:sp>
        <p:nvSpPr>
          <p:cNvPr id="4" name="Rounded Rectangle 3"/>
          <p:cNvSpPr/>
          <p:nvPr/>
        </p:nvSpPr>
        <p:spPr>
          <a:xfrm>
            <a:off x="9966960" y="292608"/>
            <a:ext cx="1920240" cy="384048"/>
          </a:xfrm>
          <a:prstGeom prst="roundRect">
            <a:avLst>
              <a:gd name="adj" fmla="val 50000"/>
            </a:avLst>
          </a:prstGeom>
          <a:solidFill>
            <a:srgbClr val="E6F2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0F6E6A"/>
                </a:solidFill>
                <a:latin typeface="Calibri"/>
              </a:rPr>
              <a:t>Presenter: Anhad</a:t>
            </a:r>
          </a:p>
        </p:txBody>
      </p:sp>
      <p:sp>
        <p:nvSpPr>
          <p:cNvPr id="5" name="TextBox 4"/>
          <p:cNvSpPr txBox="1"/>
          <p:nvPr/>
        </p:nvSpPr>
        <p:spPr>
          <a:xfrm>
            <a:off x="548640" y="594360"/>
            <a:ext cx="11155680" cy="731520"/>
          </a:xfrm>
          <a:prstGeom prst="rect">
            <a:avLst/>
          </a:prstGeom>
          <a:noFill/>
        </p:spPr>
        <p:txBody>
          <a:bodyPr wrap="square" anchor="t" lIns="45720" rIns="45720">
            <a:spAutoFit/>
          </a:bodyPr>
          <a:lstStyle/>
          <a:p>
            <a:pPr algn="l">
              <a:spcAft>
                <a:spcPts val="1170"/>
              </a:spcAft>
            </a:pPr>
            <a:r>
              <a:rPr sz="2600" b="1">
                <a:solidFill>
                  <a:srgbClr val="1F2937"/>
                </a:solidFill>
                <a:latin typeface="Calibri"/>
              </a:rPr>
              <a:t>Conclusion and future scope</a:t>
            </a:r>
          </a:p>
        </p:txBody>
      </p:sp>
      <p:sp>
        <p:nvSpPr>
          <p:cNvPr id="6" name="TextBox 5"/>
          <p:cNvSpPr txBox="1"/>
          <p:nvPr/>
        </p:nvSpPr>
        <p:spPr>
          <a:xfrm>
            <a:off x="11247120" y="6400800"/>
            <a:ext cx="731520" cy="320040"/>
          </a:xfrm>
          <a:prstGeom prst="rect">
            <a:avLst/>
          </a:prstGeom>
          <a:noFill/>
        </p:spPr>
        <p:txBody>
          <a:bodyPr wrap="square" anchor="t" lIns="45720" rIns="45720">
            <a:spAutoFit/>
          </a:bodyPr>
          <a:lstStyle/>
          <a:p>
            <a:pPr algn="r">
              <a:spcAft>
                <a:spcPts val="495"/>
              </a:spcAft>
            </a:pPr>
            <a:r>
              <a:rPr sz="1100" b="0">
                <a:solidFill>
                  <a:srgbClr val="5B6470"/>
                </a:solidFill>
                <a:latin typeface="Calibri"/>
              </a:rPr>
              <a:t>30</a:t>
            </a:r>
          </a:p>
        </p:txBody>
      </p:sp>
      <p:sp>
        <p:nvSpPr>
          <p:cNvPr id="7" name="Rounded Rectangle 6"/>
          <p:cNvSpPr/>
          <p:nvPr/>
        </p:nvSpPr>
        <p:spPr>
          <a:xfrm>
            <a:off x="548640" y="1371600"/>
            <a:ext cx="6949440" cy="4846320"/>
          </a:xfrm>
          <a:prstGeom prst="roundRect">
            <a:avLst>
              <a:gd name="adj" fmla="val 6000"/>
            </a:avLst>
          </a:prstGeom>
          <a:solidFill>
            <a:srgbClr val="FFFFFF"/>
          </a:solidFill>
          <a:ln>
            <a:solidFill>
              <a:srgbClr val="E3DE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481328"/>
            <a:ext cx="6583680" cy="411480"/>
          </a:xfrm>
          <a:prstGeom prst="rect">
            <a:avLst/>
          </a:prstGeom>
          <a:noFill/>
        </p:spPr>
        <p:txBody>
          <a:bodyPr wrap="square" anchor="t" lIns="45720" rIns="45720">
            <a:spAutoFit/>
          </a:bodyPr>
          <a:lstStyle/>
          <a:p>
            <a:pPr algn="l">
              <a:spcAft>
                <a:spcPts val="765"/>
              </a:spcAft>
            </a:pPr>
            <a:r>
              <a:rPr sz="1700" b="1">
                <a:solidFill>
                  <a:srgbClr val="0F6E6A"/>
                </a:solidFill>
                <a:latin typeface="Calibri"/>
              </a:rPr>
              <a:t>Conclusion</a:t>
            </a:r>
          </a:p>
        </p:txBody>
      </p:sp>
      <p:sp>
        <p:nvSpPr>
          <p:cNvPr id="9" name="TextBox 8"/>
          <p:cNvSpPr txBox="1"/>
          <p:nvPr/>
        </p:nvSpPr>
        <p:spPr>
          <a:xfrm>
            <a:off x="731520" y="1901952"/>
            <a:ext cx="6583680" cy="4251960"/>
          </a:xfrm>
          <a:prstGeom prst="rect">
            <a:avLst/>
          </a:prstGeom>
          <a:noFill/>
        </p:spPr>
        <p:txBody>
          <a:bodyPr wrap="square" anchor="t" lIns="45720" rIns="45720">
            <a:spAutoFit/>
          </a:bodyPr>
          <a:lstStyle/>
          <a:p>
            <a:pPr algn="l">
              <a:spcAft>
                <a:spcPts val="675"/>
              </a:spcAft>
            </a:pPr>
            <a:r>
              <a:rPr sz="1500" b="0">
                <a:solidFill>
                  <a:srgbClr val="1F2937"/>
                </a:solidFill>
                <a:latin typeface="Calibri"/>
              </a:rPr>
              <a:t>1. About 7 in 10 poor households in 2004-05 had escaped by 2011-12 (69.4%).</a:t>
            </a:r>
          </a:p>
          <a:p>
            <a:pPr algn="l">
              <a:spcAft>
                <a:spcPts val="675"/>
              </a:spcAft>
            </a:pPr>
            <a:r>
              <a:rPr sz="1500" b="0">
                <a:solidFill>
                  <a:srgbClr val="1F2937"/>
                </a:solidFill>
                <a:latin typeface="Calibri"/>
              </a:rPr>
              <a:t>2. Our best model, XGBoost, scores a ROC-AUC of 0.722 on villages it has never seen. That is a modest score.</a:t>
            </a:r>
          </a:p>
          <a:p>
            <a:pPr algn="l">
              <a:spcAft>
                <a:spcPts val="675"/>
              </a:spcAft>
            </a:pPr>
            <a:r>
              <a:rPr sz="1500" b="0">
                <a:solidFill>
                  <a:srgbClr val="1F2937"/>
                </a:solidFill>
                <a:latin typeface="Calibri"/>
              </a:rPr>
              <a:t>3. The 20% of households rated riskiest stayed poor 57% of the time, against 31% on average.</a:t>
            </a:r>
          </a:p>
          <a:p>
            <a:pPr algn="l">
              <a:spcAft>
                <a:spcPts val="675"/>
              </a:spcAft>
            </a:pPr>
            <a:r>
              <a:rPr sz="1500" b="0">
                <a:solidFill>
                  <a:srgbClr val="1F2937"/>
                </a:solidFill>
                <a:latin typeface="Calibri"/>
              </a:rPr>
              <a:t>4. Young children, state, assets, the ration card and the caste and religion group matter most to the model.</a:t>
            </a:r>
          </a:p>
          <a:p>
            <a:pPr algn="l">
              <a:spcAft>
                <a:spcPts val="675"/>
              </a:spcAft>
            </a:pPr>
            <a:r>
              <a:rPr sz="1500" b="0">
                <a:solidFill>
                  <a:srgbClr val="1F2937"/>
                </a:solidFill>
                <a:latin typeface="Calibri"/>
              </a:rPr>
              <a:t>5. Adult education goes together with a 5 to 6 point higher escape rate, but this does not prove that education is the cause.</a:t>
            </a:r>
          </a:p>
        </p:txBody>
      </p:sp>
      <p:sp>
        <p:nvSpPr>
          <p:cNvPr id="10" name="Rounded Rectangle 9"/>
          <p:cNvSpPr/>
          <p:nvPr/>
        </p:nvSpPr>
        <p:spPr>
          <a:xfrm>
            <a:off x="7680960" y="1371600"/>
            <a:ext cx="4023360" cy="4846320"/>
          </a:xfrm>
          <a:prstGeom prst="roundRect">
            <a:avLst>
              <a:gd name="adj" fmla="val 6000"/>
            </a:avLst>
          </a:prstGeom>
          <a:solidFill>
            <a:srgbClr val="FFFFFF"/>
          </a:solidFill>
          <a:ln>
            <a:solidFill>
              <a:srgbClr val="E3DE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63840" y="1481328"/>
            <a:ext cx="3657600" cy="411480"/>
          </a:xfrm>
          <a:prstGeom prst="rect">
            <a:avLst/>
          </a:prstGeom>
          <a:noFill/>
        </p:spPr>
        <p:txBody>
          <a:bodyPr wrap="square" anchor="t" lIns="45720" rIns="45720">
            <a:spAutoFit/>
          </a:bodyPr>
          <a:lstStyle/>
          <a:p>
            <a:pPr algn="l">
              <a:spcAft>
                <a:spcPts val="765"/>
              </a:spcAft>
            </a:pPr>
            <a:r>
              <a:rPr sz="1700" b="1">
                <a:solidFill>
                  <a:srgbClr val="0F6E6A"/>
                </a:solidFill>
                <a:latin typeface="Calibri"/>
              </a:rPr>
              <a:t>Future scope</a:t>
            </a:r>
          </a:p>
        </p:txBody>
      </p:sp>
      <p:sp>
        <p:nvSpPr>
          <p:cNvPr id="12" name="TextBox 11"/>
          <p:cNvSpPr txBox="1"/>
          <p:nvPr/>
        </p:nvSpPr>
        <p:spPr>
          <a:xfrm>
            <a:off x="7863840" y="1901952"/>
            <a:ext cx="3657600" cy="4251960"/>
          </a:xfrm>
          <a:prstGeom prst="rect">
            <a:avLst/>
          </a:prstGeom>
          <a:noFill/>
        </p:spPr>
        <p:txBody>
          <a:bodyPr wrap="square" anchor="t" lIns="45720" rIns="45720">
            <a:spAutoFit/>
          </a:bodyPr>
          <a:lstStyle/>
          <a:p>
            <a:pPr algn="l">
              <a:spcAft>
                <a:spcPts val="750"/>
              </a:spcAft>
            </a:pPr>
            <a:r>
              <a:rPr sz="1500" b="0">
                <a:solidFill>
                  <a:srgbClr val="1F2937"/>
                </a:solidFill>
                <a:latin typeface="Calibri"/>
              </a:rPr>
              <a:t>Retrain on newer panel data.</a:t>
            </a:r>
          </a:p>
          <a:p>
            <a:pPr algn="l">
              <a:spcAft>
                <a:spcPts val="750"/>
              </a:spcAft>
            </a:pPr>
            <a:r>
              <a:rPr sz="1500" b="0">
                <a:solidFill>
                  <a:srgbClr val="1F2937"/>
                </a:solidFill>
                <a:latin typeface="Calibri"/>
              </a:rPr>
              <a:t>Add satellite or village data.</a:t>
            </a:r>
          </a:p>
          <a:p>
            <a:pPr algn="l">
              <a:spcAft>
                <a:spcPts val="750"/>
              </a:spcAft>
            </a:pPr>
            <a:r>
              <a:rPr sz="1500" b="0">
                <a:solidFill>
                  <a:srgbClr val="1F2937"/>
                </a:solidFill>
                <a:latin typeface="Calibri"/>
              </a:rPr>
              <a:t>Predict falling into poverty.</a:t>
            </a:r>
          </a:p>
          <a:p>
            <a:pPr algn="l">
              <a:spcAft>
                <a:spcPts val="750"/>
              </a:spcAft>
            </a:pPr>
            <a:r>
              <a:rPr sz="1500" b="0">
                <a:solidFill>
                  <a:srgbClr val="1F2937"/>
                </a:solidFill>
                <a:latin typeface="Calibri"/>
              </a:rPr>
              <a:t>Check fairness for each group.</a:t>
            </a:r>
          </a:p>
          <a:p>
            <a:pPr algn="l">
              <a:spcAft>
                <a:spcPts val="750"/>
              </a:spcAft>
            </a:pPr>
            <a:r>
              <a:rPr sz="1500" b="0">
                <a:solidFill>
                  <a:srgbClr val="1F2937"/>
                </a:solidFill>
                <a:latin typeface="Calibri"/>
              </a:rPr>
              <a:t>Extend the app for field workers.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AF7F0"/>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F6E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8229600" cy="365760"/>
          </a:xfrm>
          <a:prstGeom prst="rect">
            <a:avLst/>
          </a:prstGeom>
          <a:noFill/>
        </p:spPr>
        <p:txBody>
          <a:bodyPr wrap="square" anchor="t" lIns="45720" rIns="45720">
            <a:spAutoFit/>
          </a:bodyPr>
          <a:lstStyle/>
          <a:p>
            <a:pPr algn="l">
              <a:spcAft>
                <a:spcPts val="540"/>
              </a:spcAft>
            </a:pPr>
            <a:r>
              <a:rPr sz="1200" b="1">
                <a:solidFill>
                  <a:srgbClr val="0F6E6A"/>
                </a:solidFill>
                <a:latin typeface="Calibri"/>
              </a:rPr>
              <a:t>8. CONCLUSION</a:t>
            </a:r>
          </a:p>
        </p:txBody>
      </p:sp>
      <p:sp>
        <p:nvSpPr>
          <p:cNvPr id="4" name="Rounded Rectangle 3"/>
          <p:cNvSpPr/>
          <p:nvPr/>
        </p:nvSpPr>
        <p:spPr>
          <a:xfrm>
            <a:off x="9966960" y="292608"/>
            <a:ext cx="1920240" cy="384048"/>
          </a:xfrm>
          <a:prstGeom prst="roundRect">
            <a:avLst>
              <a:gd name="adj" fmla="val 50000"/>
            </a:avLst>
          </a:prstGeom>
          <a:solidFill>
            <a:srgbClr val="E6F2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0F6E6A"/>
                </a:solidFill>
                <a:latin typeface="Calibri"/>
              </a:rPr>
              <a:t>Presenter: Anhad</a:t>
            </a:r>
          </a:p>
        </p:txBody>
      </p:sp>
      <p:sp>
        <p:nvSpPr>
          <p:cNvPr id="5" name="TextBox 4"/>
          <p:cNvSpPr txBox="1"/>
          <p:nvPr/>
        </p:nvSpPr>
        <p:spPr>
          <a:xfrm>
            <a:off x="548640" y="594360"/>
            <a:ext cx="11155680" cy="731520"/>
          </a:xfrm>
          <a:prstGeom prst="rect">
            <a:avLst/>
          </a:prstGeom>
          <a:noFill/>
        </p:spPr>
        <p:txBody>
          <a:bodyPr wrap="square" anchor="t" lIns="45720" rIns="45720">
            <a:spAutoFit/>
          </a:bodyPr>
          <a:lstStyle/>
          <a:p>
            <a:pPr algn="l">
              <a:spcAft>
                <a:spcPts val="1170"/>
              </a:spcAft>
            </a:pPr>
            <a:r>
              <a:rPr sz="2600" b="1">
                <a:solidFill>
                  <a:srgbClr val="1F2937"/>
                </a:solidFill>
                <a:latin typeface="Calibri"/>
              </a:rPr>
              <a:t>Demo: the poverty risk app</a:t>
            </a:r>
          </a:p>
        </p:txBody>
      </p:sp>
      <p:sp>
        <p:nvSpPr>
          <p:cNvPr id="6" name="TextBox 5"/>
          <p:cNvSpPr txBox="1"/>
          <p:nvPr/>
        </p:nvSpPr>
        <p:spPr>
          <a:xfrm>
            <a:off x="11247120" y="6400800"/>
            <a:ext cx="731520" cy="320040"/>
          </a:xfrm>
          <a:prstGeom prst="rect">
            <a:avLst/>
          </a:prstGeom>
          <a:noFill/>
        </p:spPr>
        <p:txBody>
          <a:bodyPr wrap="square" anchor="t" lIns="45720" rIns="45720">
            <a:spAutoFit/>
          </a:bodyPr>
          <a:lstStyle/>
          <a:p>
            <a:pPr algn="r">
              <a:spcAft>
                <a:spcPts val="495"/>
              </a:spcAft>
            </a:pPr>
            <a:r>
              <a:rPr sz="1100" b="0">
                <a:solidFill>
                  <a:srgbClr val="5B6470"/>
                </a:solidFill>
                <a:latin typeface="Calibri"/>
              </a:rPr>
              <a:t>31</a:t>
            </a:r>
          </a:p>
        </p:txBody>
      </p:sp>
      <p:pic>
        <p:nvPicPr>
          <p:cNvPr id="7" name="Picture 6" descr="app_screenshot.png"/>
          <p:cNvPicPr>
            <a:picLocks noChangeAspect="1"/>
          </p:cNvPicPr>
          <p:nvPr/>
        </p:nvPicPr>
        <p:blipFill>
          <a:blip r:embed="rId2"/>
          <a:stretch>
            <a:fillRect/>
          </a:stretch>
        </p:blipFill>
        <p:spPr>
          <a:xfrm>
            <a:off x="457200" y="1325880"/>
            <a:ext cx="7223760" cy="4289108"/>
          </a:xfrm>
          <a:prstGeom prst="rect">
            <a:avLst/>
          </a:prstGeom>
        </p:spPr>
      </p:pic>
      <p:sp>
        <p:nvSpPr>
          <p:cNvPr id="8" name="TextBox 7"/>
          <p:cNvSpPr txBox="1"/>
          <p:nvPr/>
        </p:nvSpPr>
        <p:spPr>
          <a:xfrm>
            <a:off x="7863840" y="1371600"/>
            <a:ext cx="3840480" cy="4937760"/>
          </a:xfrm>
          <a:prstGeom prst="rect">
            <a:avLst/>
          </a:prstGeom>
          <a:noFill/>
        </p:spPr>
        <p:txBody>
          <a:bodyPr wrap="square" anchor="t" lIns="45720" rIns="45720">
            <a:spAutoFit/>
          </a:bodyPr>
          <a:lstStyle/>
          <a:p>
            <a:pPr algn="l">
              <a:spcAft>
                <a:spcPts val="350"/>
              </a:spcAft>
            </a:pPr>
            <a:r>
              <a:rPr sz="1400" b="1">
                <a:solidFill>
                  <a:srgbClr val="0F6E6A"/>
                </a:solidFill>
                <a:latin typeface="Calibri"/>
              </a:rPr>
              <a:t>Step 1</a:t>
            </a:r>
          </a:p>
          <a:p>
            <a:pPr algn="l">
              <a:spcAft>
                <a:spcPts val="350"/>
              </a:spcAft>
            </a:pPr>
            <a:r>
              <a:rPr sz="1400" b="0">
                <a:solidFill>
                  <a:srgbClr val="1F2937"/>
                </a:solidFill>
                <a:latin typeface="Calibri"/>
              </a:rPr>
              <a:t>Enter a household's 2004-05 details, or start from a real test household.</a:t>
            </a:r>
          </a:p>
          <a:p>
            <a:pPr algn="l">
              <a:spcAft>
                <a:spcPts val="350"/>
              </a:spcAft>
            </a:pPr>
            <a:r>
              <a:rPr sz="1400" b="1">
                <a:solidFill>
                  <a:srgbClr val="0F6E6A"/>
                </a:solidFill>
                <a:latin typeface="Calibri"/>
              </a:rPr>
              <a:t>Step 2</a:t>
            </a:r>
          </a:p>
          <a:p>
            <a:pPr algn="l">
              <a:spcAft>
                <a:spcPts val="350"/>
              </a:spcAft>
            </a:pPr>
            <a:r>
              <a:rPr sz="1400" b="0">
                <a:solidFill>
                  <a:srgbClr val="1F2937"/>
                </a:solidFill>
                <a:latin typeface="Calibri"/>
              </a:rPr>
              <a:t>See the chance that the household escapes, and its risk group.</a:t>
            </a:r>
          </a:p>
          <a:p>
            <a:pPr algn="l">
              <a:spcAft>
                <a:spcPts val="350"/>
              </a:spcAft>
            </a:pPr>
            <a:r>
              <a:rPr sz="1400" b="1">
                <a:solidFill>
                  <a:srgbClr val="0F6E6A"/>
                </a:solidFill>
                <a:latin typeface="Calibri"/>
              </a:rPr>
              <a:t>Step 3</a:t>
            </a:r>
          </a:p>
          <a:p>
            <a:pPr algn="l">
              <a:spcAft>
                <a:spcPts val="350"/>
              </a:spcAft>
            </a:pPr>
            <a:r>
              <a:rPr sz="1400" b="0">
                <a:solidFill>
                  <a:srgbClr val="1F2937"/>
                </a:solidFill>
                <a:latin typeface="Calibri"/>
              </a:rPr>
              <a:t>See which facts raised or lowered the estimate (SHAP).</a:t>
            </a:r>
          </a:p>
          <a:p>
            <a:pPr algn="l">
              <a:spcAft>
                <a:spcPts val="350"/>
              </a:spcAft>
            </a:pPr>
            <a:r>
              <a:rPr sz="1400" b="1">
                <a:solidFill>
                  <a:srgbClr val="0F6E6A"/>
                </a:solidFill>
                <a:latin typeface="Calibri"/>
              </a:rPr>
              <a:t>A caution</a:t>
            </a:r>
          </a:p>
          <a:p>
            <a:pPr algn="l">
              <a:spcAft>
                <a:spcPts val="350"/>
              </a:spcAft>
            </a:pPr>
            <a:r>
              <a:rPr sz="1400" b="0">
                <a:solidFill>
                  <a:srgbClr val="1F2937"/>
                </a:solidFill>
                <a:latin typeface="Calibri"/>
              </a:rPr>
              <a:t>The app is a screening aid. It should not be used to decide about one household.</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AF7F0"/>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F6E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94360"/>
            <a:ext cx="11155680" cy="731520"/>
          </a:xfrm>
          <a:prstGeom prst="rect">
            <a:avLst/>
          </a:prstGeom>
          <a:noFill/>
        </p:spPr>
        <p:txBody>
          <a:bodyPr wrap="square" anchor="t" lIns="45720" rIns="45720">
            <a:spAutoFit/>
          </a:bodyPr>
          <a:lstStyle/>
          <a:p>
            <a:pPr algn="l">
              <a:spcAft>
                <a:spcPts val="1170"/>
              </a:spcAft>
            </a:pPr>
            <a:r>
              <a:rPr sz="2600" b="1">
                <a:solidFill>
                  <a:srgbClr val="1F2937"/>
                </a:solidFill>
                <a:latin typeface="Calibri"/>
              </a:rPr>
              <a:t>References</a:t>
            </a:r>
          </a:p>
        </p:txBody>
      </p:sp>
      <p:sp>
        <p:nvSpPr>
          <p:cNvPr id="4" name="TextBox 3"/>
          <p:cNvSpPr txBox="1"/>
          <p:nvPr/>
        </p:nvSpPr>
        <p:spPr>
          <a:xfrm>
            <a:off x="11247120" y="6400800"/>
            <a:ext cx="731520" cy="320040"/>
          </a:xfrm>
          <a:prstGeom prst="rect">
            <a:avLst/>
          </a:prstGeom>
          <a:noFill/>
        </p:spPr>
        <p:txBody>
          <a:bodyPr wrap="square" anchor="t" lIns="45720" rIns="45720">
            <a:spAutoFit/>
          </a:bodyPr>
          <a:lstStyle/>
          <a:p>
            <a:pPr algn="r">
              <a:spcAft>
                <a:spcPts val="495"/>
              </a:spcAft>
            </a:pPr>
            <a:r>
              <a:rPr sz="1100" b="0">
                <a:solidFill>
                  <a:srgbClr val="5B6470"/>
                </a:solidFill>
                <a:latin typeface="Calibri"/>
              </a:rPr>
              <a:t>32</a:t>
            </a:r>
          </a:p>
        </p:txBody>
      </p:sp>
      <p:sp>
        <p:nvSpPr>
          <p:cNvPr id="5" name="TextBox 4"/>
          <p:cNvSpPr txBox="1"/>
          <p:nvPr/>
        </p:nvSpPr>
        <p:spPr>
          <a:xfrm>
            <a:off x="548640" y="1188720"/>
            <a:ext cx="11155680" cy="5212080"/>
          </a:xfrm>
          <a:prstGeom prst="rect">
            <a:avLst/>
          </a:prstGeom>
          <a:noFill/>
        </p:spPr>
        <p:txBody>
          <a:bodyPr wrap="square" anchor="t" lIns="45720" rIns="45720">
            <a:spAutoFit/>
          </a:bodyPr>
          <a:lstStyle/>
          <a:p>
            <a:pPr algn="l">
              <a:spcAft>
                <a:spcPts val="315"/>
              </a:spcAft>
            </a:pPr>
            <a:r>
              <a:rPr sz="1050" b="0">
                <a:solidFill>
                  <a:srgbClr val="1F2937"/>
                </a:solidFill>
                <a:latin typeface="Calibri"/>
              </a:rPr>
              <a:t>1. Krishna, A. (2004). Escaping poverty and becoming poor: Who gains, who loses, and why? World Development, 32(1), 121-136. </a:t>
            </a:r>
            <a:r>
              <a:rPr sz="1050" b="0">
                <a:solidFill>
                  <a:srgbClr val="0F6E6A"/>
                </a:solidFill>
                <a:latin typeface="Calibri"/>
                <a:hlinkClick r:id="rId2"/>
              </a:rPr>
              <a:t>https://doi.org/10.1016/j.worlddev.2003.08.002</a:t>
            </a:r>
          </a:p>
          <a:p>
            <a:pPr algn="l">
              <a:spcAft>
                <a:spcPts val="315"/>
              </a:spcAft>
            </a:pPr>
            <a:r>
              <a:rPr sz="1050" b="0">
                <a:solidFill>
                  <a:srgbClr val="1F2937"/>
                </a:solidFill>
                <a:latin typeface="Calibri"/>
              </a:rPr>
              <a:t>2. Thorat, A., Vanneman, R., Desai, S., and Dubey, A. (2017). Escaping and falling into poverty in India today. World Development, 93, 413-426. </a:t>
            </a:r>
            <a:r>
              <a:rPr sz="1050" b="0">
                <a:solidFill>
                  <a:srgbClr val="0F6E6A"/>
                </a:solidFill>
                <a:latin typeface="Calibri"/>
                <a:hlinkClick r:id="rId3"/>
              </a:rPr>
              <a:t>https://doi.org/10.1016/j.worlddev.2017.01.004</a:t>
            </a:r>
          </a:p>
          <a:p>
            <a:pPr algn="l">
              <a:spcAft>
                <a:spcPts val="315"/>
              </a:spcAft>
            </a:pPr>
            <a:r>
              <a:rPr sz="1050" b="0">
                <a:solidFill>
                  <a:srgbClr val="1F2937"/>
                </a:solidFill>
                <a:latin typeface="Calibri"/>
              </a:rPr>
              <a:t>3. Narendranath, S., Khare, S., Gupta, D., and Jyotishi, A. (2018). Characteristics of Escaping and Falling into Poverty in India: An Analysis of IHDS Panel Data using machine learning approach. ICACCI 2018, 1391-1397. </a:t>
            </a:r>
            <a:r>
              <a:rPr sz="1050" b="0">
                <a:solidFill>
                  <a:srgbClr val="0F6E6A"/>
                </a:solidFill>
                <a:latin typeface="Calibri"/>
                <a:hlinkClick r:id="rId4"/>
              </a:rPr>
              <a:t>https://doi.org/10.1109/ICACCI.2018.8554571</a:t>
            </a:r>
          </a:p>
          <a:p>
            <a:pPr algn="l">
              <a:spcAft>
                <a:spcPts val="315"/>
              </a:spcAft>
            </a:pPr>
            <a:r>
              <a:rPr sz="1050" b="0">
                <a:solidFill>
                  <a:srgbClr val="1F2937"/>
                </a:solidFill>
                <a:latin typeface="Calibri"/>
              </a:rPr>
              <a:t>4. McBride, L., and Nichols, A. (2018). Retooling poverty targeting using out-of-sample validation and machine learning. World Bank Economic Review, 32(3), 531-550. </a:t>
            </a:r>
            <a:r>
              <a:rPr sz="1050" b="0">
                <a:solidFill>
                  <a:srgbClr val="0F6E6A"/>
                </a:solidFill>
                <a:latin typeface="Calibri"/>
                <a:hlinkClick r:id="rId5"/>
              </a:rPr>
              <a:t>https://doi.org/10.1093/wber/lhw056</a:t>
            </a:r>
          </a:p>
          <a:p>
            <a:pPr algn="l">
              <a:spcAft>
                <a:spcPts val="315"/>
              </a:spcAft>
            </a:pPr>
            <a:r>
              <a:rPr sz="1050" b="0">
                <a:solidFill>
                  <a:srgbClr val="1F2937"/>
                </a:solidFill>
                <a:latin typeface="Calibri"/>
              </a:rPr>
              <a:t>5. Aiken, E., Bellue, S., Karlan, D., Udry, C., and Blumenstock, J. E. (2022). Machine learning and phone data can improve targeting of humanitarian aid. Nature, 603, 864-870. </a:t>
            </a:r>
            <a:r>
              <a:rPr sz="1050" b="0">
                <a:solidFill>
                  <a:srgbClr val="0F6E6A"/>
                </a:solidFill>
                <a:latin typeface="Calibri"/>
                <a:hlinkClick r:id="rId6"/>
              </a:rPr>
              <a:t>https://doi.org/10.1038/s41586-022-04484-9</a:t>
            </a:r>
          </a:p>
          <a:p>
            <a:pPr algn="l">
              <a:spcAft>
                <a:spcPts val="315"/>
              </a:spcAft>
            </a:pPr>
            <a:r>
              <a:rPr sz="1050" b="0">
                <a:solidFill>
                  <a:srgbClr val="1F2937"/>
                </a:solidFill>
                <a:latin typeface="Calibri"/>
              </a:rPr>
              <a:t>6. Jean, N., Burke, M., Xie, M., Davis, W. M., Lobell, D. B., and Ermon, S. (2016). Combining satellite imagery and machine learning to predict poverty. Science, 353(6301), 790-794. </a:t>
            </a:r>
            <a:r>
              <a:rPr sz="1050" b="0">
                <a:solidFill>
                  <a:srgbClr val="0F6E6A"/>
                </a:solidFill>
                <a:latin typeface="Calibri"/>
                <a:hlinkClick r:id="rId7"/>
              </a:rPr>
              <a:t>https://doi.org/10.1126/science.aaf7894</a:t>
            </a:r>
          </a:p>
          <a:p>
            <a:pPr algn="l">
              <a:spcAft>
                <a:spcPts val="315"/>
              </a:spcAft>
            </a:pPr>
            <a:r>
              <a:rPr sz="1050" b="0">
                <a:solidFill>
                  <a:srgbClr val="1F2937"/>
                </a:solidFill>
                <a:latin typeface="Calibri"/>
              </a:rPr>
              <a:t>7. Breiman, L. (2001). Random forests. Machine Learning, 45, 5-32. </a:t>
            </a:r>
            <a:r>
              <a:rPr sz="1050" b="0">
                <a:solidFill>
                  <a:srgbClr val="0F6E6A"/>
                </a:solidFill>
                <a:latin typeface="Calibri"/>
                <a:hlinkClick r:id="rId8"/>
              </a:rPr>
              <a:t>https://doi.org/10.1023/A:1010933404324</a:t>
            </a:r>
          </a:p>
          <a:p>
            <a:pPr algn="l">
              <a:spcAft>
                <a:spcPts val="315"/>
              </a:spcAft>
            </a:pPr>
            <a:r>
              <a:rPr sz="1050" b="0">
                <a:solidFill>
                  <a:srgbClr val="1F2937"/>
                </a:solidFill>
                <a:latin typeface="Calibri"/>
              </a:rPr>
              <a:t>8. Chen, T., and Guestrin, C. (2016). XGBoost: A scalable tree boosting system. KDD 2016, 785-794. </a:t>
            </a:r>
            <a:r>
              <a:rPr sz="1050" b="0">
                <a:solidFill>
                  <a:srgbClr val="0F6E6A"/>
                </a:solidFill>
                <a:latin typeface="Calibri"/>
                <a:hlinkClick r:id="rId9"/>
              </a:rPr>
              <a:t>https://doi.org/10.1145/2939672.2939785</a:t>
            </a:r>
          </a:p>
          <a:p>
            <a:pPr algn="l">
              <a:spcAft>
                <a:spcPts val="315"/>
              </a:spcAft>
            </a:pPr>
            <a:r>
              <a:rPr sz="1050" b="0">
                <a:solidFill>
                  <a:srgbClr val="1F2937"/>
                </a:solidFill>
                <a:latin typeface="Calibri"/>
              </a:rPr>
              <a:t>9. Lundberg, S. M., and Lee, S.-I. (2017). A unified approach to interpreting model predictions. NeurIPS 30. </a:t>
            </a:r>
            <a:r>
              <a:rPr sz="1050" b="0">
                <a:solidFill>
                  <a:srgbClr val="0F6E6A"/>
                </a:solidFill>
                <a:latin typeface="Calibri"/>
                <a:hlinkClick r:id="rId10"/>
              </a:rPr>
              <a:t>https://arxiv.org/abs/1705.07874</a:t>
            </a:r>
          </a:p>
          <a:p>
            <a:pPr algn="l">
              <a:spcAft>
                <a:spcPts val="315"/>
              </a:spcAft>
            </a:pPr>
            <a:r>
              <a:rPr sz="1050" b="0">
                <a:solidFill>
                  <a:srgbClr val="1F2937"/>
                </a:solidFill>
                <a:latin typeface="Calibri"/>
              </a:rPr>
              <a:t>10. VanderWeele, T. J., and Ding, P. (2017). Sensitivity analysis in observational research: introducing the E-value. Annals of Internal Medicine, 167(4), 268-274. </a:t>
            </a:r>
            <a:r>
              <a:rPr sz="1050" b="0">
                <a:solidFill>
                  <a:srgbClr val="0F6E6A"/>
                </a:solidFill>
                <a:latin typeface="Calibri"/>
                <a:hlinkClick r:id="rId11"/>
              </a:rPr>
              <a:t>https://doi.org/10.7326/M16-2607</a:t>
            </a:r>
          </a:p>
          <a:p>
            <a:pPr algn="l">
              <a:spcAft>
                <a:spcPts val="315"/>
              </a:spcAft>
            </a:pPr>
            <a:r>
              <a:rPr sz="1050" b="0">
                <a:solidFill>
                  <a:srgbClr val="1F2937"/>
                </a:solidFill>
                <a:latin typeface="Calibri"/>
              </a:rPr>
              <a:t>11. Planning Commission (2009). Report of the Expert Group to Review the Methodology for Estimation of Poverty (Tendulkar Committee). Government of India.</a:t>
            </a:r>
          </a:p>
          <a:p>
            <a:pPr algn="l">
              <a:spcAft>
                <a:spcPts val="315"/>
              </a:spcAft>
            </a:pPr>
            <a:r>
              <a:rPr sz="1050" b="0">
                <a:solidFill>
                  <a:srgbClr val="1F2937"/>
                </a:solidFill>
                <a:latin typeface="Calibri"/>
              </a:rPr>
              <a:t>12. Desai, S., Vanneman, R., and NCAER. India Human Development Survey (IHDS), ICPSR 22626 (2004-05) and IHDS-II, ICPSR 36151 (2011-12). </a:t>
            </a:r>
            <a:r>
              <a:rPr sz="1050" b="0">
                <a:solidFill>
                  <a:srgbClr val="0F6E6A"/>
                </a:solidFill>
                <a:latin typeface="Calibri"/>
                <a:hlinkClick r:id="rId12"/>
              </a:rPr>
              <a:t>https://ihds.umd.edu</a:t>
            </a:r>
          </a:p>
          <a:p>
            <a:pPr algn="l">
              <a:spcAft>
                <a:spcPts val="315"/>
              </a:spcAft>
            </a:pPr>
            <a:r>
              <a:rPr sz="1050" b="0">
                <a:solidFill>
                  <a:srgbClr val="1F2937"/>
                </a:solidFill>
                <a:latin typeface="Calibri"/>
              </a:rPr>
              <a:t>13. United Nations. Sustainable Development Goals 1 and 10. </a:t>
            </a:r>
            <a:r>
              <a:rPr sz="1050" b="0">
                <a:solidFill>
                  <a:srgbClr val="0F6E6A"/>
                </a:solidFill>
                <a:latin typeface="Calibri"/>
                <a:hlinkClick r:id="rId13"/>
              </a:rPr>
              <a:t>https://sdgs.un.org/goals/goal1</a:t>
            </a:r>
            <a:r>
              <a:rPr sz="1050" b="0">
                <a:solidFill>
                  <a:srgbClr val="1F2937"/>
                </a:solidFill>
                <a:latin typeface="Calibri"/>
              </a:rPr>
              <a:t> and </a:t>
            </a:r>
            <a:r>
              <a:rPr sz="1050" b="0">
                <a:solidFill>
                  <a:srgbClr val="0F6E6A"/>
                </a:solidFill>
                <a:latin typeface="Calibri"/>
                <a:hlinkClick r:id="rId14"/>
              </a:rPr>
              <a:t>https://sdgs.un.org/goals/goal10</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AF7F0"/>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F6E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94360"/>
            <a:ext cx="11155680" cy="731520"/>
          </a:xfrm>
          <a:prstGeom prst="rect">
            <a:avLst/>
          </a:prstGeom>
          <a:noFill/>
        </p:spPr>
        <p:txBody>
          <a:bodyPr wrap="square" anchor="t" lIns="45720" rIns="45720">
            <a:spAutoFit/>
          </a:bodyPr>
          <a:lstStyle/>
          <a:p>
            <a:pPr algn="l">
              <a:spcAft>
                <a:spcPts val="1170"/>
              </a:spcAft>
            </a:pPr>
            <a:r>
              <a:rPr sz="2600" b="1">
                <a:solidFill>
                  <a:srgbClr val="1F2937"/>
                </a:solidFill>
                <a:latin typeface="Calibri"/>
              </a:rPr>
              <a:t>Backup slides</a:t>
            </a:r>
          </a:p>
        </p:txBody>
      </p:sp>
      <p:sp>
        <p:nvSpPr>
          <p:cNvPr id="4" name="TextBox 3"/>
          <p:cNvSpPr txBox="1"/>
          <p:nvPr/>
        </p:nvSpPr>
        <p:spPr>
          <a:xfrm>
            <a:off x="11247120" y="6400800"/>
            <a:ext cx="731520" cy="320040"/>
          </a:xfrm>
          <a:prstGeom prst="rect">
            <a:avLst/>
          </a:prstGeom>
          <a:noFill/>
        </p:spPr>
        <p:txBody>
          <a:bodyPr wrap="square" anchor="t" lIns="45720" rIns="45720">
            <a:spAutoFit/>
          </a:bodyPr>
          <a:lstStyle/>
          <a:p>
            <a:pPr algn="r">
              <a:spcAft>
                <a:spcPts val="495"/>
              </a:spcAft>
            </a:pPr>
            <a:r>
              <a:rPr sz="1100" b="0">
                <a:solidFill>
                  <a:srgbClr val="5B6470"/>
                </a:solidFill>
                <a:latin typeface="Calibri"/>
              </a:rPr>
              <a:t>33</a:t>
            </a:r>
          </a:p>
        </p:txBody>
      </p:sp>
      <p:sp>
        <p:nvSpPr>
          <p:cNvPr id="5" name="Rounded Rectangle 4"/>
          <p:cNvSpPr/>
          <p:nvPr/>
        </p:nvSpPr>
        <p:spPr>
          <a:xfrm>
            <a:off x="548640" y="1463040"/>
            <a:ext cx="11155680" cy="4389120"/>
          </a:xfrm>
          <a:prstGeom prst="roundRect">
            <a:avLst>
              <a:gd name="adj" fmla="val 6000"/>
            </a:avLst>
          </a:prstGeom>
          <a:solidFill>
            <a:srgbClr val="FF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828800"/>
            <a:ext cx="10424160" cy="3840480"/>
          </a:xfrm>
          <a:prstGeom prst="rect">
            <a:avLst/>
          </a:prstGeom>
          <a:noFill/>
        </p:spPr>
        <p:txBody>
          <a:bodyPr wrap="square" anchor="t" lIns="45720" rIns="45720">
            <a:spAutoFit/>
          </a:bodyPr>
          <a:lstStyle/>
          <a:p>
            <a:pPr algn="l">
              <a:spcAft>
                <a:spcPts val="1000"/>
              </a:spcAft>
            </a:pPr>
            <a:r>
              <a:rPr sz="2000" b="1">
                <a:solidFill>
                  <a:srgbClr val="0F6E6A"/>
                </a:solidFill>
                <a:latin typeface="Calibri"/>
              </a:rPr>
              <a:t>The slides after this one are for questions only</a:t>
            </a:r>
          </a:p>
          <a:p>
            <a:pPr algn="l">
              <a:spcAft>
                <a:spcPts val="1000"/>
              </a:spcAft>
            </a:pPr>
            <a:r>
              <a:rPr sz="2000" b="0">
                <a:solidFill>
                  <a:srgbClr val="1F2937"/>
                </a:solidFill>
                <a:latin typeface="Calibri"/>
              </a:rPr>
              <a:t>They hold the extra checks, such as how we linked the rounds and the households we lost, calibration, how stable the ranking is, robustness checks, the education analysis in detail, SHAP by group and a short glossary.</a:t>
            </a:r>
          </a:p>
          <a:p>
            <a:pPr algn="l">
              <a:spcAft>
                <a:spcPts val="1000"/>
              </a:spcAft>
            </a:pPr>
            <a:r>
              <a:rPr sz="2000" b="0">
                <a:solidFill>
                  <a:srgbClr val="1F2937"/>
                </a:solidFill>
                <a:latin typeface="Calibri"/>
              </a:rPr>
              <a:t>We do not present them. We use them if an examiner asks.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AF7F0"/>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F6E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94360"/>
            <a:ext cx="11155680" cy="731520"/>
          </a:xfrm>
          <a:prstGeom prst="rect">
            <a:avLst/>
          </a:prstGeom>
          <a:noFill/>
        </p:spPr>
        <p:txBody>
          <a:bodyPr wrap="square" anchor="t" lIns="45720" rIns="45720">
            <a:spAutoFit/>
          </a:bodyPr>
          <a:lstStyle/>
          <a:p>
            <a:pPr algn="l">
              <a:spcAft>
                <a:spcPts val="1170"/>
              </a:spcAft>
            </a:pPr>
            <a:r>
              <a:rPr sz="2600" b="1">
                <a:solidFill>
                  <a:srgbClr val="1F2937"/>
                </a:solidFill>
                <a:latin typeface="Calibri"/>
              </a:rPr>
              <a:t>Linking the rounds and the households we lost</a:t>
            </a:r>
          </a:p>
        </p:txBody>
      </p:sp>
      <p:sp>
        <p:nvSpPr>
          <p:cNvPr id="4" name="TextBox 3"/>
          <p:cNvSpPr txBox="1"/>
          <p:nvPr/>
        </p:nvSpPr>
        <p:spPr>
          <a:xfrm>
            <a:off x="11247120" y="6400800"/>
            <a:ext cx="731520" cy="320040"/>
          </a:xfrm>
          <a:prstGeom prst="rect">
            <a:avLst/>
          </a:prstGeom>
          <a:noFill/>
        </p:spPr>
        <p:txBody>
          <a:bodyPr wrap="square" anchor="t" lIns="45720" rIns="45720">
            <a:spAutoFit/>
          </a:bodyPr>
          <a:lstStyle/>
          <a:p>
            <a:pPr algn="r">
              <a:spcAft>
                <a:spcPts val="495"/>
              </a:spcAft>
            </a:pPr>
            <a:r>
              <a:rPr sz="1100" b="0">
                <a:solidFill>
                  <a:srgbClr val="5B6470"/>
                </a:solidFill>
                <a:latin typeface="Calibri"/>
              </a:rPr>
              <a:t>34</a:t>
            </a:r>
          </a:p>
        </p:txBody>
      </p:sp>
      <p:sp>
        <p:nvSpPr>
          <p:cNvPr id="5" name="Rounded Rectangle 4"/>
          <p:cNvSpPr/>
          <p:nvPr/>
        </p:nvSpPr>
        <p:spPr>
          <a:xfrm>
            <a:off x="9966960" y="292608"/>
            <a:ext cx="1920240" cy="384048"/>
          </a:xfrm>
          <a:prstGeom prst="roundRect">
            <a:avLst>
              <a:gd name="adj" fmla="val 50000"/>
            </a:avLst>
          </a:prstGeom>
          <a:solidFill>
            <a:srgbClr val="FF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C2410C"/>
                </a:solidFill>
                <a:latin typeface="Calibri"/>
              </a:rPr>
              <a:t>Backup (if asked)</a:t>
            </a:r>
          </a:p>
        </p:txBody>
      </p:sp>
      <p:pic>
        <p:nvPicPr>
          <p:cNvPr id="6" name="Picture 5" descr="c01_transitions.png"/>
          <p:cNvPicPr>
            <a:picLocks noChangeAspect="1"/>
          </p:cNvPicPr>
          <p:nvPr/>
        </p:nvPicPr>
        <p:blipFill>
          <a:blip r:embed="rId2"/>
          <a:stretch>
            <a:fillRect/>
          </a:stretch>
        </p:blipFill>
        <p:spPr>
          <a:xfrm>
            <a:off x="365760" y="1371600"/>
            <a:ext cx="5852160" cy="2633472"/>
          </a:xfrm>
          <a:prstGeom prst="rect">
            <a:avLst/>
          </a:prstGeom>
        </p:spPr>
      </p:pic>
      <p:sp>
        <p:nvSpPr>
          <p:cNvPr id="7" name="TextBox 6"/>
          <p:cNvSpPr txBox="1"/>
          <p:nvPr/>
        </p:nvSpPr>
        <p:spPr>
          <a:xfrm>
            <a:off x="6400800" y="1371600"/>
            <a:ext cx="5303520" cy="4937760"/>
          </a:xfrm>
          <a:prstGeom prst="rect">
            <a:avLst/>
          </a:prstGeom>
          <a:noFill/>
        </p:spPr>
        <p:txBody>
          <a:bodyPr wrap="square" anchor="t" lIns="45720" rIns="45720">
            <a:spAutoFit/>
          </a:bodyPr>
          <a:lstStyle/>
          <a:p>
            <a:pPr algn="l">
              <a:spcAft>
                <a:spcPts val="420"/>
              </a:spcAft>
            </a:pPr>
            <a:r>
              <a:rPr sz="1400" b="1">
                <a:solidFill>
                  <a:srgbClr val="0F6E6A"/>
                </a:solidFill>
                <a:latin typeface="Calibri"/>
              </a:rPr>
              <a:t>The link</a:t>
            </a:r>
          </a:p>
          <a:p>
            <a:pPr algn="l">
              <a:spcAft>
                <a:spcPts val="420"/>
              </a:spcAft>
            </a:pPr>
            <a:r>
              <a:rPr sz="1400" b="0">
                <a:solidFill>
                  <a:srgbClr val="1F2937"/>
                </a:solidFill>
                <a:latin typeface="Calibri"/>
              </a:rPr>
              <a:t>We rebuilt it from state, district, village, household and split codes. Following the 2005 head of household instead gives the same outcome for 99.9% of the 86% of households where the head can be tracked.</a:t>
            </a:r>
          </a:p>
          <a:p>
            <a:pPr algn="l">
              <a:spcAft>
                <a:spcPts val="420"/>
              </a:spcAft>
            </a:pPr>
            <a:r>
              <a:rPr sz="1400" b="1">
                <a:solidFill>
                  <a:srgbClr val="0F6E6A"/>
                </a:solidFill>
                <a:latin typeface="Calibri"/>
              </a:rPr>
              <a:t>The households we lost</a:t>
            </a:r>
          </a:p>
          <a:p>
            <a:pPr algn="l">
              <a:spcAft>
                <a:spcPts val="420"/>
              </a:spcAft>
            </a:pPr>
            <a:r>
              <a:rPr sz="1400" b="0">
                <a:solidFill>
                  <a:srgbClr val="1F2937"/>
                </a:solidFill>
                <a:latin typeface="Calibri"/>
              </a:rPr>
              <a:t>11% of poor households could not be followed. They are more often urban and own less land. When we give extra weight to the households we did follow, the escape rate moves from 69.4% to 69.7%.</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AF7F0"/>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F6E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94360"/>
            <a:ext cx="11155680" cy="731520"/>
          </a:xfrm>
          <a:prstGeom prst="rect">
            <a:avLst/>
          </a:prstGeom>
          <a:noFill/>
        </p:spPr>
        <p:txBody>
          <a:bodyPr wrap="square" anchor="t" lIns="45720" rIns="45720">
            <a:spAutoFit/>
          </a:bodyPr>
          <a:lstStyle/>
          <a:p>
            <a:pPr algn="l">
              <a:spcAft>
                <a:spcPts val="1170"/>
              </a:spcAft>
            </a:pPr>
            <a:r>
              <a:rPr sz="2600" b="1">
                <a:solidFill>
                  <a:srgbClr val="1F2937"/>
                </a:solidFill>
                <a:latin typeface="Calibri"/>
              </a:rPr>
              <a:t>Can the predicted probabilities be trusted?</a:t>
            </a:r>
          </a:p>
        </p:txBody>
      </p:sp>
      <p:sp>
        <p:nvSpPr>
          <p:cNvPr id="4" name="TextBox 3"/>
          <p:cNvSpPr txBox="1"/>
          <p:nvPr/>
        </p:nvSpPr>
        <p:spPr>
          <a:xfrm>
            <a:off x="11247120" y="6400800"/>
            <a:ext cx="731520" cy="320040"/>
          </a:xfrm>
          <a:prstGeom prst="rect">
            <a:avLst/>
          </a:prstGeom>
          <a:noFill/>
        </p:spPr>
        <p:txBody>
          <a:bodyPr wrap="square" anchor="t" lIns="45720" rIns="45720">
            <a:spAutoFit/>
          </a:bodyPr>
          <a:lstStyle/>
          <a:p>
            <a:pPr algn="r">
              <a:spcAft>
                <a:spcPts val="495"/>
              </a:spcAft>
            </a:pPr>
            <a:r>
              <a:rPr sz="1100" b="0">
                <a:solidFill>
                  <a:srgbClr val="5B6470"/>
                </a:solidFill>
                <a:latin typeface="Calibri"/>
              </a:rPr>
              <a:t>35</a:t>
            </a:r>
          </a:p>
        </p:txBody>
      </p:sp>
      <p:sp>
        <p:nvSpPr>
          <p:cNvPr id="5" name="Rounded Rectangle 4"/>
          <p:cNvSpPr/>
          <p:nvPr/>
        </p:nvSpPr>
        <p:spPr>
          <a:xfrm>
            <a:off x="9966960" y="292608"/>
            <a:ext cx="1920240" cy="384048"/>
          </a:xfrm>
          <a:prstGeom prst="roundRect">
            <a:avLst>
              <a:gd name="adj" fmla="val 50000"/>
            </a:avLst>
          </a:prstGeom>
          <a:solidFill>
            <a:srgbClr val="FF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C2410C"/>
                </a:solidFill>
                <a:latin typeface="Calibri"/>
              </a:rPr>
              <a:t>Backup (if asked)</a:t>
            </a:r>
          </a:p>
        </p:txBody>
      </p:sp>
      <p:pic>
        <p:nvPicPr>
          <p:cNvPr id="6" name="Picture 5" descr="c14_calibration.png"/>
          <p:cNvPicPr>
            <a:picLocks noChangeAspect="1"/>
          </p:cNvPicPr>
          <p:nvPr/>
        </p:nvPicPr>
        <p:blipFill>
          <a:blip r:embed="rId2"/>
          <a:stretch>
            <a:fillRect/>
          </a:stretch>
        </p:blipFill>
        <p:spPr>
          <a:xfrm>
            <a:off x="457200" y="1371600"/>
            <a:ext cx="5669280" cy="4572000"/>
          </a:xfrm>
          <a:prstGeom prst="rect">
            <a:avLst/>
          </a:prstGeom>
        </p:spPr>
      </p:pic>
      <p:sp>
        <p:nvSpPr>
          <p:cNvPr id="7" name="TextBox 6"/>
          <p:cNvSpPr txBox="1"/>
          <p:nvPr/>
        </p:nvSpPr>
        <p:spPr>
          <a:xfrm>
            <a:off x="6035040" y="1463040"/>
            <a:ext cx="5669280" cy="4846320"/>
          </a:xfrm>
          <a:prstGeom prst="rect">
            <a:avLst/>
          </a:prstGeom>
          <a:noFill/>
        </p:spPr>
        <p:txBody>
          <a:bodyPr wrap="square" anchor="t" lIns="45720" rIns="45720">
            <a:spAutoFit/>
          </a:bodyPr>
          <a:lstStyle/>
          <a:p>
            <a:pPr algn="l">
              <a:spcAft>
                <a:spcPts val="420"/>
              </a:spcAft>
            </a:pPr>
            <a:r>
              <a:rPr sz="1400" b="1">
                <a:solidFill>
                  <a:srgbClr val="0F6E6A"/>
                </a:solidFill>
                <a:latin typeface="Calibri"/>
              </a:rPr>
              <a:t>What it shows</a:t>
            </a:r>
          </a:p>
          <a:p>
            <a:pPr algn="l">
              <a:spcAft>
                <a:spcPts val="420"/>
              </a:spcAft>
            </a:pPr>
            <a:r>
              <a:rPr sz="1400" b="0">
                <a:solidFill>
                  <a:srgbClr val="1F2937"/>
                </a:solidFill>
                <a:latin typeface="Calibri"/>
              </a:rPr>
              <a:t>We group households by their predicted chance of escaping and compare it with the share that really escaped. Points on the dashed line mean the probability is exactly right.</a:t>
            </a:r>
          </a:p>
          <a:p>
            <a:pPr algn="l">
              <a:spcAft>
                <a:spcPts val="420"/>
              </a:spcAft>
            </a:pPr>
            <a:r>
              <a:rPr sz="1400" b="1">
                <a:solidFill>
                  <a:srgbClr val="0F6E6A"/>
                </a:solidFill>
                <a:latin typeface="Calibri"/>
              </a:rPr>
              <a:t>What we found</a:t>
            </a:r>
          </a:p>
          <a:p>
            <a:pPr algn="l">
              <a:spcAft>
                <a:spcPts val="420"/>
              </a:spcAft>
            </a:pPr>
            <a:r>
              <a:rPr sz="1400" b="0">
                <a:solidFill>
                  <a:srgbClr val="1F2937"/>
                </a:solidFill>
                <a:latin typeface="Calibri"/>
              </a:rPr>
              <a:t>Average predicted chance 69.0%, real rate 69.2%. Brier score 0.183 (average squared error of the probabilities, lower is better). So a predicted 70% means that roughly 70 in 100 similar households escaped.</a:t>
            </a:r>
          </a:p>
          <a:p>
            <a:pPr algn="l">
              <a:spcAft>
                <a:spcPts val="420"/>
              </a:spcAft>
            </a:pPr>
            <a:r>
              <a:rPr sz="1400" b="0">
                <a:solidFill>
                  <a:srgbClr val="1F2937"/>
                </a:solidFill>
                <a:latin typeface="Calibri"/>
              </a:rPr>
              <a:t>We did not use class weights because they pull the predicted chances away from the real rates.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AF7F0"/>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F6E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94360"/>
            <a:ext cx="11155680" cy="731520"/>
          </a:xfrm>
          <a:prstGeom prst="rect">
            <a:avLst/>
          </a:prstGeom>
          <a:noFill/>
        </p:spPr>
        <p:txBody>
          <a:bodyPr wrap="square" anchor="t" lIns="45720" rIns="45720">
            <a:spAutoFit/>
          </a:bodyPr>
          <a:lstStyle/>
          <a:p>
            <a:pPr algn="l">
              <a:spcAft>
                <a:spcPts val="1170"/>
              </a:spcAft>
            </a:pPr>
            <a:r>
              <a:rPr sz="2600" b="1">
                <a:solidFill>
                  <a:srgbClr val="1F2937"/>
                </a:solidFill>
                <a:latin typeface="Calibri"/>
              </a:rPr>
              <a:t>Stability of the ranking and overfitting check</a:t>
            </a:r>
          </a:p>
        </p:txBody>
      </p:sp>
      <p:sp>
        <p:nvSpPr>
          <p:cNvPr id="4" name="TextBox 3"/>
          <p:cNvSpPr txBox="1"/>
          <p:nvPr/>
        </p:nvSpPr>
        <p:spPr>
          <a:xfrm>
            <a:off x="11247120" y="6400800"/>
            <a:ext cx="731520" cy="320040"/>
          </a:xfrm>
          <a:prstGeom prst="rect">
            <a:avLst/>
          </a:prstGeom>
          <a:noFill/>
        </p:spPr>
        <p:txBody>
          <a:bodyPr wrap="square" anchor="t" lIns="45720" rIns="45720">
            <a:spAutoFit/>
          </a:bodyPr>
          <a:lstStyle/>
          <a:p>
            <a:pPr algn="r">
              <a:spcAft>
                <a:spcPts val="495"/>
              </a:spcAft>
            </a:pPr>
            <a:r>
              <a:rPr sz="1100" b="0">
                <a:solidFill>
                  <a:srgbClr val="5B6470"/>
                </a:solidFill>
                <a:latin typeface="Calibri"/>
              </a:rPr>
              <a:t>36</a:t>
            </a:r>
          </a:p>
        </p:txBody>
      </p:sp>
      <p:sp>
        <p:nvSpPr>
          <p:cNvPr id="5" name="Rounded Rectangle 4"/>
          <p:cNvSpPr/>
          <p:nvPr/>
        </p:nvSpPr>
        <p:spPr>
          <a:xfrm>
            <a:off x="9966960" y="292608"/>
            <a:ext cx="1920240" cy="384048"/>
          </a:xfrm>
          <a:prstGeom prst="roundRect">
            <a:avLst>
              <a:gd name="adj" fmla="val 50000"/>
            </a:avLst>
          </a:prstGeom>
          <a:solidFill>
            <a:srgbClr val="FF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C2410C"/>
                </a:solidFill>
                <a:latin typeface="Calibri"/>
              </a:rPr>
              <a:t>Backup (if asked)</a:t>
            </a:r>
          </a:p>
        </p:txBody>
      </p:sp>
      <p:pic>
        <p:nvPicPr>
          <p:cNvPr id="6" name="Picture 5" descr="c15_repeated_splits.png"/>
          <p:cNvPicPr>
            <a:picLocks noChangeAspect="1"/>
          </p:cNvPicPr>
          <p:nvPr/>
        </p:nvPicPr>
        <p:blipFill>
          <a:blip r:embed="rId2"/>
          <a:stretch>
            <a:fillRect/>
          </a:stretch>
        </p:blipFill>
        <p:spPr>
          <a:xfrm>
            <a:off x="365760" y="1371600"/>
            <a:ext cx="6035040" cy="3534862"/>
          </a:xfrm>
          <a:prstGeom prst="rect">
            <a:avLst/>
          </a:prstGeom>
        </p:spPr>
      </p:pic>
      <p:graphicFrame>
        <p:nvGraphicFramePr>
          <p:cNvPr id="7" name="Table 6"/>
          <p:cNvGraphicFramePr>
            <a:graphicFrameLocks noGrp="1"/>
          </p:cNvGraphicFramePr>
          <p:nvPr/>
        </p:nvGraphicFramePr>
        <p:xfrm>
          <a:off x="6583680" y="1371600"/>
          <a:ext cx="5120640" cy="1828800"/>
        </p:xfrm>
        <a:graphic>
          <a:graphicData uri="http://schemas.openxmlformats.org/drawingml/2006/table">
            <a:tbl>
              <a:tblPr firstRow="1" bandRow="1">
                <a:tableStyleId>{5C22544A-7EE6-4342-B048-85BDC9FD1C3A}</a:tableStyleId>
              </a:tblPr>
              <a:tblGrid>
                <a:gridCol w="2194560"/>
                <a:gridCol w="914400"/>
                <a:gridCol w="1097280"/>
                <a:gridCol w="914400"/>
              </a:tblGrid>
              <a:tr h="457200">
                <a:tc>
                  <a:txBody>
                    <a:bodyPr/>
                    <a:lstStyle/>
                    <a:p>
                      <a:pPr algn="l"/>
                      <a:r>
                        <a:rPr sz="1300" b="1">
                          <a:solidFill>
                            <a:srgbClr val="FFFFFF"/>
                          </a:solidFill>
                          <a:latin typeface="Calibri"/>
                        </a:rPr>
                        <a:t>Model</a:t>
                      </a:r>
                    </a:p>
                  </a:txBody>
                  <a:tcPr marT="45720" marB="45720" anchor="ctr">
                    <a:solidFill>
                      <a:srgbClr val="0F6E6A"/>
                    </a:solidFill>
                  </a:tcPr>
                </a:tc>
                <a:tc>
                  <a:txBody>
                    <a:bodyPr/>
                    <a:lstStyle/>
                    <a:p>
                      <a:pPr algn="l"/>
                      <a:r>
                        <a:rPr sz="1300" b="1">
                          <a:solidFill>
                            <a:srgbClr val="FFFFFF"/>
                          </a:solidFill>
                          <a:latin typeface="Calibri"/>
                        </a:rPr>
                        <a:t>Train</a:t>
                      </a:r>
                    </a:p>
                  </a:txBody>
                  <a:tcPr marT="45720" marB="45720" anchor="ctr">
                    <a:solidFill>
                      <a:srgbClr val="0F6E6A"/>
                    </a:solidFill>
                  </a:tcPr>
                </a:tc>
                <a:tc>
                  <a:txBody>
                    <a:bodyPr/>
                    <a:lstStyle/>
                    <a:p>
                      <a:pPr algn="l"/>
                      <a:r>
                        <a:rPr sz="1300" b="1">
                          <a:solidFill>
                            <a:srgbClr val="FFFFFF"/>
                          </a:solidFill>
                          <a:latin typeface="Calibri"/>
                        </a:rPr>
                        <a:t>Cross-val.</a:t>
                      </a:r>
                    </a:p>
                  </a:txBody>
                  <a:tcPr marT="45720" marB="45720" anchor="ctr">
                    <a:solidFill>
                      <a:srgbClr val="0F6E6A"/>
                    </a:solidFill>
                  </a:tcPr>
                </a:tc>
                <a:tc>
                  <a:txBody>
                    <a:bodyPr/>
                    <a:lstStyle/>
                    <a:p>
                      <a:pPr algn="l"/>
                      <a:r>
                        <a:rPr sz="1300" b="1">
                          <a:solidFill>
                            <a:srgbClr val="FFFFFF"/>
                          </a:solidFill>
                          <a:latin typeface="Calibri"/>
                        </a:rPr>
                        <a:t>Test</a:t>
                      </a:r>
                    </a:p>
                  </a:txBody>
                  <a:tcPr marT="45720" marB="45720" anchor="ctr">
                    <a:solidFill>
                      <a:srgbClr val="0F6E6A"/>
                    </a:solidFill>
                  </a:tcPr>
                </a:tc>
              </a:tr>
              <a:tr h="457200">
                <a:tc>
                  <a:txBody>
                    <a:bodyPr/>
                    <a:lstStyle/>
                    <a:p>
                      <a:pPr algn="l"/>
                      <a:r>
                        <a:rPr sz="1300" b="1">
                          <a:solidFill>
                            <a:srgbClr val="1F2937"/>
                          </a:solidFill>
                          <a:latin typeface="Calibri"/>
                        </a:rPr>
                        <a:t>Logistic Regression</a:t>
                      </a:r>
                    </a:p>
                  </a:txBody>
                  <a:tcPr marT="45720" marB="45720" anchor="ctr">
                    <a:solidFill>
                      <a:srgbClr val="FFFFFF"/>
                    </a:solidFill>
                  </a:tcPr>
                </a:tc>
                <a:tc>
                  <a:txBody>
                    <a:bodyPr/>
                    <a:lstStyle/>
                    <a:p>
                      <a:pPr algn="l"/>
                      <a:r>
                        <a:rPr sz="1300" b="0">
                          <a:solidFill>
                            <a:srgbClr val="1F2937"/>
                          </a:solidFill>
                          <a:latin typeface="Calibri"/>
                        </a:rPr>
                        <a:t>0.731</a:t>
                      </a:r>
                    </a:p>
                  </a:txBody>
                  <a:tcPr marT="45720" marB="45720" anchor="ctr">
                    <a:solidFill>
                      <a:srgbClr val="FFFFFF"/>
                    </a:solidFill>
                  </a:tcPr>
                </a:tc>
                <a:tc>
                  <a:txBody>
                    <a:bodyPr/>
                    <a:lstStyle/>
                    <a:p>
                      <a:pPr algn="l"/>
                      <a:r>
                        <a:rPr sz="1300" b="0">
                          <a:solidFill>
                            <a:srgbClr val="1F2937"/>
                          </a:solidFill>
                          <a:latin typeface="Calibri"/>
                        </a:rPr>
                        <a:t>0.688</a:t>
                      </a:r>
                    </a:p>
                  </a:txBody>
                  <a:tcPr marT="45720" marB="45720" anchor="ctr">
                    <a:solidFill>
                      <a:srgbClr val="FFFFFF"/>
                    </a:solidFill>
                  </a:tcPr>
                </a:tc>
                <a:tc>
                  <a:txBody>
                    <a:bodyPr/>
                    <a:lstStyle/>
                    <a:p>
                      <a:pPr algn="l"/>
                      <a:r>
                        <a:rPr sz="1300" b="0">
                          <a:solidFill>
                            <a:srgbClr val="1F2937"/>
                          </a:solidFill>
                          <a:latin typeface="Calibri"/>
                        </a:rPr>
                        <a:t>0.700</a:t>
                      </a:r>
                    </a:p>
                  </a:txBody>
                  <a:tcPr marT="45720" marB="45720" anchor="ctr">
                    <a:solidFill>
                      <a:srgbClr val="FFFFFF"/>
                    </a:solidFill>
                  </a:tcPr>
                </a:tc>
              </a:tr>
              <a:tr h="457200">
                <a:tc>
                  <a:txBody>
                    <a:bodyPr/>
                    <a:lstStyle/>
                    <a:p>
                      <a:pPr algn="l"/>
                      <a:r>
                        <a:rPr sz="1300" b="1">
                          <a:solidFill>
                            <a:srgbClr val="1F2937"/>
                          </a:solidFill>
                          <a:latin typeface="Calibri"/>
                        </a:rPr>
                        <a:t>Random Forest</a:t>
                      </a:r>
                    </a:p>
                  </a:txBody>
                  <a:tcPr marT="45720" marB="45720" anchor="ctr">
                    <a:solidFill>
                      <a:srgbClr val="FFFFFF"/>
                    </a:solidFill>
                  </a:tcPr>
                </a:tc>
                <a:tc>
                  <a:txBody>
                    <a:bodyPr/>
                    <a:lstStyle/>
                    <a:p>
                      <a:pPr algn="l"/>
                      <a:r>
                        <a:rPr sz="1300" b="0">
                          <a:solidFill>
                            <a:srgbClr val="1F2937"/>
                          </a:solidFill>
                          <a:latin typeface="Calibri"/>
                        </a:rPr>
                        <a:t>0.988</a:t>
                      </a:r>
                    </a:p>
                  </a:txBody>
                  <a:tcPr marT="45720" marB="45720" anchor="ctr">
                    <a:solidFill>
                      <a:srgbClr val="FFFFFF"/>
                    </a:solidFill>
                  </a:tcPr>
                </a:tc>
                <a:tc>
                  <a:txBody>
                    <a:bodyPr/>
                    <a:lstStyle/>
                    <a:p>
                      <a:pPr algn="l"/>
                      <a:r>
                        <a:rPr sz="1300" b="0">
                          <a:solidFill>
                            <a:srgbClr val="1F2937"/>
                          </a:solidFill>
                          <a:latin typeface="Calibri"/>
                        </a:rPr>
                        <a:t>0.685</a:t>
                      </a:r>
                    </a:p>
                  </a:txBody>
                  <a:tcPr marT="45720" marB="45720" anchor="ctr">
                    <a:solidFill>
                      <a:srgbClr val="FFFFFF"/>
                    </a:solidFill>
                  </a:tcPr>
                </a:tc>
                <a:tc>
                  <a:txBody>
                    <a:bodyPr/>
                    <a:lstStyle/>
                    <a:p>
                      <a:pPr algn="l"/>
                      <a:r>
                        <a:rPr sz="1300" b="0">
                          <a:solidFill>
                            <a:srgbClr val="1F2937"/>
                          </a:solidFill>
                          <a:latin typeface="Calibri"/>
                        </a:rPr>
                        <a:t>0.709</a:t>
                      </a:r>
                    </a:p>
                  </a:txBody>
                  <a:tcPr marT="45720" marB="45720" anchor="ctr">
                    <a:solidFill>
                      <a:srgbClr val="FFFFFF"/>
                    </a:solidFill>
                  </a:tcPr>
                </a:tc>
              </a:tr>
              <a:tr h="457200">
                <a:tc>
                  <a:txBody>
                    <a:bodyPr/>
                    <a:lstStyle/>
                    <a:p>
                      <a:pPr algn="l"/>
                      <a:r>
                        <a:rPr sz="1300" b="1">
                          <a:solidFill>
                            <a:srgbClr val="1F2937"/>
                          </a:solidFill>
                          <a:latin typeface="Calibri"/>
                        </a:rPr>
                        <a:t>XGBoost</a:t>
                      </a:r>
                    </a:p>
                  </a:txBody>
                  <a:tcPr marT="45720" marB="45720" anchor="ctr">
                    <a:solidFill>
                      <a:srgbClr val="FFFFFF"/>
                    </a:solidFill>
                  </a:tcPr>
                </a:tc>
                <a:tc>
                  <a:txBody>
                    <a:bodyPr/>
                    <a:lstStyle/>
                    <a:p>
                      <a:pPr algn="l"/>
                      <a:r>
                        <a:rPr sz="1300" b="0">
                          <a:solidFill>
                            <a:srgbClr val="1F2937"/>
                          </a:solidFill>
                          <a:latin typeface="Calibri"/>
                        </a:rPr>
                        <a:t>0.851</a:t>
                      </a:r>
                    </a:p>
                  </a:txBody>
                  <a:tcPr marT="45720" marB="45720" anchor="ctr">
                    <a:solidFill>
                      <a:srgbClr val="FFFFFF"/>
                    </a:solidFill>
                  </a:tcPr>
                </a:tc>
                <a:tc>
                  <a:txBody>
                    <a:bodyPr/>
                    <a:lstStyle/>
                    <a:p>
                      <a:pPr algn="l"/>
                      <a:r>
                        <a:rPr sz="1300" b="0">
                          <a:solidFill>
                            <a:srgbClr val="1F2937"/>
                          </a:solidFill>
                          <a:latin typeface="Calibri"/>
                        </a:rPr>
                        <a:t>0.696</a:t>
                      </a:r>
                    </a:p>
                  </a:txBody>
                  <a:tcPr marT="45720" marB="45720" anchor="ctr">
                    <a:solidFill>
                      <a:srgbClr val="FFFFFF"/>
                    </a:solidFill>
                  </a:tcPr>
                </a:tc>
                <a:tc>
                  <a:txBody>
                    <a:bodyPr/>
                    <a:lstStyle/>
                    <a:p>
                      <a:pPr algn="l"/>
                      <a:r>
                        <a:rPr sz="1300" b="0">
                          <a:solidFill>
                            <a:srgbClr val="1F2937"/>
                          </a:solidFill>
                          <a:latin typeface="Calibri"/>
                        </a:rPr>
                        <a:t>0.722</a:t>
                      </a:r>
                    </a:p>
                  </a:txBody>
                  <a:tcPr marT="45720" marB="45720" anchor="ctr">
                    <a:solidFill>
                      <a:srgbClr val="FFFFFF"/>
                    </a:solidFill>
                  </a:tcPr>
                </a:tc>
              </a:tr>
            </a:tbl>
          </a:graphicData>
        </a:graphic>
      </p:graphicFrame>
      <p:sp>
        <p:nvSpPr>
          <p:cNvPr id="8" name="TextBox 7"/>
          <p:cNvSpPr txBox="1"/>
          <p:nvPr/>
        </p:nvSpPr>
        <p:spPr>
          <a:xfrm>
            <a:off x="6583680" y="3474720"/>
            <a:ext cx="5120640" cy="2834640"/>
          </a:xfrm>
          <a:prstGeom prst="rect">
            <a:avLst/>
          </a:prstGeom>
          <a:noFill/>
        </p:spPr>
        <p:txBody>
          <a:bodyPr wrap="square" anchor="t" lIns="45720" rIns="45720">
            <a:spAutoFit/>
          </a:bodyPr>
          <a:lstStyle/>
          <a:p>
            <a:pPr algn="l">
              <a:spcAft>
                <a:spcPts val="420"/>
              </a:spcAft>
            </a:pPr>
            <a:r>
              <a:rPr sz="1400" b="0">
                <a:solidFill>
                  <a:srgbClr val="1F2937"/>
                </a:solidFill>
                <a:latin typeface="Calibri"/>
              </a:rPr>
              <a:t>The chart on the left shows the test ROC-AUC over 20 different village splits. The ensemble and XGBoost lead and are very close, and one split can move a score by about 0.015.</a:t>
            </a:r>
          </a:p>
          <a:p>
            <a:pPr algn="l">
              <a:spcAft>
                <a:spcPts val="420"/>
              </a:spcAft>
            </a:pPr>
            <a:r>
              <a:rPr sz="1400" b="0">
                <a:solidFill>
                  <a:srgbClr val="1F2937"/>
                </a:solidFill>
                <a:latin typeface="Calibri"/>
              </a:rPr>
              <a:t>The table above shows that Random Forest fits the households it learned from almost perfectly (0.988), so we judge models on cross-validation and test villages only.</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AF7F0"/>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F6E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94360"/>
            <a:ext cx="11155680" cy="731520"/>
          </a:xfrm>
          <a:prstGeom prst="rect">
            <a:avLst/>
          </a:prstGeom>
          <a:noFill/>
        </p:spPr>
        <p:txBody>
          <a:bodyPr wrap="square" anchor="t" lIns="45720" rIns="45720">
            <a:spAutoFit/>
          </a:bodyPr>
          <a:lstStyle/>
          <a:p>
            <a:pPr algn="l">
              <a:spcAft>
                <a:spcPts val="1170"/>
              </a:spcAft>
            </a:pPr>
            <a:r>
              <a:rPr sz="2600" b="1">
                <a:solidFill>
                  <a:srgbClr val="1F2937"/>
                </a:solidFill>
                <a:latin typeface="Calibri"/>
              </a:rPr>
              <a:t>Robustness checks</a:t>
            </a:r>
          </a:p>
        </p:txBody>
      </p:sp>
      <p:sp>
        <p:nvSpPr>
          <p:cNvPr id="4" name="TextBox 3"/>
          <p:cNvSpPr txBox="1"/>
          <p:nvPr/>
        </p:nvSpPr>
        <p:spPr>
          <a:xfrm>
            <a:off x="11247120" y="6400800"/>
            <a:ext cx="731520" cy="320040"/>
          </a:xfrm>
          <a:prstGeom prst="rect">
            <a:avLst/>
          </a:prstGeom>
          <a:noFill/>
        </p:spPr>
        <p:txBody>
          <a:bodyPr wrap="square" anchor="t" lIns="45720" rIns="45720">
            <a:spAutoFit/>
          </a:bodyPr>
          <a:lstStyle/>
          <a:p>
            <a:pPr algn="r">
              <a:spcAft>
                <a:spcPts val="495"/>
              </a:spcAft>
            </a:pPr>
            <a:r>
              <a:rPr sz="1100" b="0">
                <a:solidFill>
                  <a:srgbClr val="5B6470"/>
                </a:solidFill>
                <a:latin typeface="Calibri"/>
              </a:rPr>
              <a:t>37</a:t>
            </a:r>
          </a:p>
        </p:txBody>
      </p:sp>
      <p:sp>
        <p:nvSpPr>
          <p:cNvPr id="5" name="Rounded Rectangle 4"/>
          <p:cNvSpPr/>
          <p:nvPr/>
        </p:nvSpPr>
        <p:spPr>
          <a:xfrm>
            <a:off x="9966960" y="292608"/>
            <a:ext cx="1920240" cy="384048"/>
          </a:xfrm>
          <a:prstGeom prst="roundRect">
            <a:avLst>
              <a:gd name="adj" fmla="val 50000"/>
            </a:avLst>
          </a:prstGeom>
          <a:solidFill>
            <a:srgbClr val="FF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C2410C"/>
                </a:solidFill>
                <a:latin typeface="Calibri"/>
              </a:rPr>
              <a:t>Backup (if asked)</a:t>
            </a:r>
          </a:p>
        </p:txBody>
      </p:sp>
      <p:graphicFrame>
        <p:nvGraphicFramePr>
          <p:cNvPr id="6" name="Table 5"/>
          <p:cNvGraphicFramePr>
            <a:graphicFrameLocks noGrp="1"/>
          </p:cNvGraphicFramePr>
          <p:nvPr/>
        </p:nvGraphicFramePr>
        <p:xfrm>
          <a:off x="548640" y="1371600"/>
          <a:ext cx="11155680" cy="4114800"/>
        </p:xfrm>
        <a:graphic>
          <a:graphicData uri="http://schemas.openxmlformats.org/drawingml/2006/table">
            <a:tbl>
              <a:tblPr firstRow="1" bandRow="1">
                <a:tableStyleId>{5C22544A-7EE6-4342-B048-85BDC9FD1C3A}</a:tableStyleId>
              </a:tblPr>
              <a:tblGrid>
                <a:gridCol w="5669280"/>
                <a:gridCol w="5486400"/>
              </a:tblGrid>
              <a:tr h="457200">
                <a:tc>
                  <a:txBody>
                    <a:bodyPr/>
                    <a:lstStyle/>
                    <a:p>
                      <a:pPr algn="l"/>
                      <a:r>
                        <a:rPr sz="1300" b="1">
                          <a:solidFill>
                            <a:srgbClr val="FFFFFF"/>
                          </a:solidFill>
                          <a:latin typeface="Calibri"/>
                        </a:rPr>
                        <a:t>Check</a:t>
                      </a:r>
                    </a:p>
                  </a:txBody>
                  <a:tcPr marT="45720" marB="45720" anchor="ctr">
                    <a:solidFill>
                      <a:srgbClr val="0F6E6A"/>
                    </a:solidFill>
                  </a:tcPr>
                </a:tc>
                <a:tc>
                  <a:txBody>
                    <a:bodyPr/>
                    <a:lstStyle/>
                    <a:p>
                      <a:pPr algn="l"/>
                      <a:r>
                        <a:rPr sz="1300" b="1">
                          <a:solidFill>
                            <a:srgbClr val="FFFFFF"/>
                          </a:solidFill>
                          <a:latin typeface="Calibri"/>
                        </a:rPr>
                        <a:t>Result on test villages</a:t>
                      </a:r>
                    </a:p>
                  </a:txBody>
                  <a:tcPr marT="45720" marB="45720" anchor="ctr">
                    <a:solidFill>
                      <a:srgbClr val="0F6E6A"/>
                    </a:solidFill>
                  </a:tcPr>
                </a:tc>
              </a:tr>
              <a:tr h="457200">
                <a:tc>
                  <a:txBody>
                    <a:bodyPr/>
                    <a:lstStyle/>
                    <a:p>
                      <a:pPr algn="l"/>
                      <a:r>
                        <a:rPr sz="1300" b="1">
                          <a:solidFill>
                            <a:srgbClr val="1F2937"/>
                          </a:solidFill>
                          <a:latin typeface="Calibri"/>
                        </a:rPr>
                        <a:t>Add village infrastructure data</a:t>
                      </a:r>
                    </a:p>
                  </a:txBody>
                  <a:tcPr marT="45720" marB="45720" anchor="ctr">
                    <a:solidFill>
                      <a:srgbClr val="FFFFFF"/>
                    </a:solidFill>
                  </a:tcPr>
                </a:tc>
                <a:tc>
                  <a:txBody>
                    <a:bodyPr/>
                    <a:lstStyle/>
                    <a:p>
                      <a:pPr algn="l"/>
                      <a:r>
                        <a:rPr sz="1300" b="0">
                          <a:solidFill>
                            <a:srgbClr val="1F2937"/>
                          </a:solidFill>
                          <a:latin typeface="Calibri"/>
                        </a:rPr>
                        <a:t>ROC-AUC: LR 0.699, XGBoost 0.722</a:t>
                      </a:r>
                    </a:p>
                  </a:txBody>
                  <a:tcPr marT="45720" marB="45720" anchor="ctr">
                    <a:solidFill>
                      <a:srgbClr val="FFFFFF"/>
                    </a:solidFill>
                  </a:tcPr>
                </a:tc>
              </a:tr>
              <a:tr h="457200">
                <a:tc>
                  <a:txBody>
                    <a:bodyPr/>
                    <a:lstStyle/>
                    <a:p>
                      <a:pPr algn="l"/>
                      <a:r>
                        <a:rPr sz="1300" b="1">
                          <a:solidFill>
                            <a:srgbClr val="1F2937"/>
                          </a:solidFill>
                          <a:latin typeface="Calibri"/>
                        </a:rPr>
                        <a:t>Add average traits of other households in the village</a:t>
                      </a:r>
                    </a:p>
                  </a:txBody>
                  <a:tcPr marT="45720" marB="45720" anchor="ctr">
                    <a:solidFill>
                      <a:srgbClr val="FFFFFF"/>
                    </a:solidFill>
                  </a:tcPr>
                </a:tc>
                <a:tc>
                  <a:txBody>
                    <a:bodyPr/>
                    <a:lstStyle/>
                    <a:p>
                      <a:pPr algn="l"/>
                      <a:r>
                        <a:rPr sz="1300" b="0">
                          <a:solidFill>
                            <a:srgbClr val="1F2937"/>
                          </a:solidFill>
                          <a:latin typeface="Calibri"/>
                        </a:rPr>
                        <a:t>ROC-AUC: LR 0.700, XGBoost 0.716</a:t>
                      </a:r>
                    </a:p>
                  </a:txBody>
                  <a:tcPr marT="45720" marB="45720" anchor="ctr">
                    <a:solidFill>
                      <a:srgbClr val="FFFFFF"/>
                    </a:solidFill>
                  </a:tcPr>
                </a:tc>
              </a:tr>
              <a:tr h="457200">
                <a:tc>
                  <a:txBody>
                    <a:bodyPr/>
                    <a:lstStyle/>
                    <a:p>
                      <a:pPr algn="l"/>
                      <a:r>
                        <a:rPr sz="1300" b="1">
                          <a:solidFill>
                            <a:srgbClr val="1F2937"/>
                          </a:solidFill>
                          <a:latin typeface="Calibri"/>
                        </a:rPr>
                        <a:t>Add back spending and income</a:t>
                      </a:r>
                    </a:p>
                  </a:txBody>
                  <a:tcPr marT="45720" marB="45720" anchor="ctr">
                    <a:solidFill>
                      <a:srgbClr val="FFFFFF"/>
                    </a:solidFill>
                  </a:tcPr>
                </a:tc>
                <a:tc>
                  <a:txBody>
                    <a:bodyPr/>
                    <a:lstStyle/>
                    <a:p>
                      <a:pPr algn="l"/>
                      <a:r>
                        <a:rPr sz="1300" b="0">
                          <a:solidFill>
                            <a:srgbClr val="1F2937"/>
                          </a:solidFill>
                          <a:latin typeface="Calibri"/>
                        </a:rPr>
                        <a:t>ROC-AUC: LR 0.700, XGBoost 0.719</a:t>
                      </a:r>
                    </a:p>
                  </a:txBody>
                  <a:tcPr marT="45720" marB="45720" anchor="ctr">
                    <a:solidFill>
                      <a:srgbClr val="FFFFFF"/>
                    </a:solidFill>
                  </a:tcPr>
                </a:tc>
              </a:tr>
              <a:tr h="457200">
                <a:tc>
                  <a:txBody>
                    <a:bodyPr/>
                    <a:lstStyle/>
                    <a:p>
                      <a:pPr algn="l"/>
                      <a:r>
                        <a:rPr sz="1300" b="1">
                          <a:solidFill>
                            <a:srgbClr val="1F2937"/>
                          </a:solidFill>
                          <a:latin typeface="Calibri"/>
                        </a:rPr>
                        <a:t>Escape only if all split-off families are non-poor</a:t>
                      </a:r>
                    </a:p>
                  </a:txBody>
                  <a:tcPr marT="45720" marB="45720" anchor="ctr">
                    <a:solidFill>
                      <a:srgbClr val="FFFFFF"/>
                    </a:solidFill>
                  </a:tcPr>
                </a:tc>
                <a:tc>
                  <a:txBody>
                    <a:bodyPr/>
                    <a:lstStyle/>
                    <a:p>
                      <a:pPr algn="l"/>
                      <a:r>
                        <a:rPr sz="1300" b="0">
                          <a:solidFill>
                            <a:srgbClr val="1F2937"/>
                          </a:solidFill>
                          <a:latin typeface="Calibri"/>
                        </a:rPr>
                        <a:t>Escape rate 66.6%, ROC-AUC 0.727</a:t>
                      </a:r>
                    </a:p>
                  </a:txBody>
                  <a:tcPr marT="45720" marB="45720" anchor="ctr">
                    <a:solidFill>
                      <a:srgbClr val="FFFFFF"/>
                    </a:solidFill>
                  </a:tcPr>
                </a:tc>
              </a:tr>
              <a:tr h="457200">
                <a:tc>
                  <a:txBody>
                    <a:bodyPr/>
                    <a:lstStyle/>
                    <a:p>
                      <a:pPr algn="l"/>
                      <a:r>
                        <a:rPr sz="1300" b="1">
                          <a:solidFill>
                            <a:srgbClr val="1F2937"/>
                          </a:solidFill>
                          <a:latin typeface="Calibri"/>
                        </a:rPr>
                        <a:t>Escape if any split-off family is non-poor</a:t>
                      </a:r>
                    </a:p>
                  </a:txBody>
                  <a:tcPr marT="45720" marB="45720" anchor="ctr">
                    <a:solidFill>
                      <a:srgbClr val="FFFFFF"/>
                    </a:solidFill>
                  </a:tcPr>
                </a:tc>
                <a:tc>
                  <a:txBody>
                    <a:bodyPr/>
                    <a:lstStyle/>
                    <a:p>
                      <a:pPr algn="l"/>
                      <a:r>
                        <a:rPr sz="1300" b="0">
                          <a:solidFill>
                            <a:srgbClr val="1F2937"/>
                          </a:solidFill>
                          <a:latin typeface="Calibri"/>
                        </a:rPr>
                        <a:t>Escape rate 71.6%, ROC-AUC 0.721</a:t>
                      </a:r>
                    </a:p>
                  </a:txBody>
                  <a:tcPr marT="45720" marB="45720" anchor="ctr">
                    <a:solidFill>
                      <a:srgbClr val="FFFFFF"/>
                    </a:solidFill>
                  </a:tcPr>
                </a:tc>
              </a:tr>
              <a:tr h="457200">
                <a:tc>
                  <a:txBody>
                    <a:bodyPr/>
                    <a:lstStyle/>
                    <a:p>
                      <a:pPr algn="l"/>
                      <a:r>
                        <a:rPr sz="1300" b="1">
                          <a:solidFill>
                            <a:srgbClr val="1F2937"/>
                          </a:solidFill>
                          <a:latin typeface="Calibri"/>
                        </a:rPr>
                        <a:t>Only households also poor on the older line</a:t>
                      </a:r>
                    </a:p>
                  </a:txBody>
                  <a:tcPr marT="45720" marB="45720" anchor="ctr">
                    <a:solidFill>
                      <a:srgbClr val="FFFFFF"/>
                    </a:solidFill>
                  </a:tcPr>
                </a:tc>
                <a:tc>
                  <a:txBody>
                    <a:bodyPr/>
                    <a:lstStyle/>
                    <a:p>
                      <a:pPr algn="l"/>
                      <a:r>
                        <a:rPr sz="1300" b="0">
                          <a:solidFill>
                            <a:srgbClr val="1F2937"/>
                          </a:solidFill>
                          <a:latin typeface="Calibri"/>
                        </a:rPr>
                        <a:t>7,080 households, ROC-AUC (XGBoost) 0.714</a:t>
                      </a:r>
                    </a:p>
                  </a:txBody>
                  <a:tcPr marT="45720" marB="45720" anchor="ctr">
                    <a:solidFill>
                      <a:srgbClr val="FFFFFF"/>
                    </a:solidFill>
                  </a:tcPr>
                </a:tc>
              </a:tr>
              <a:tr h="457200">
                <a:tc>
                  <a:txBody>
                    <a:bodyPr/>
                    <a:lstStyle/>
                    <a:p>
                      <a:pPr algn="l"/>
                      <a:r>
                        <a:rPr sz="1300" b="1">
                          <a:solidFill>
                            <a:srgbClr val="1F2937"/>
                          </a:solidFill>
                          <a:latin typeface="Calibri"/>
                        </a:rPr>
                        <a:t>Survey weights</a:t>
                      </a:r>
                    </a:p>
                  </a:txBody>
                  <a:tcPr marT="45720" marB="45720" anchor="ctr">
                    <a:solidFill>
                      <a:srgbClr val="FFFFFF"/>
                    </a:solidFill>
                  </a:tcPr>
                </a:tc>
                <a:tc>
                  <a:txBody>
                    <a:bodyPr/>
                    <a:lstStyle/>
                    <a:p>
                      <a:pPr algn="l"/>
                      <a:r>
                        <a:rPr sz="1300" b="0">
                          <a:solidFill>
                            <a:srgbClr val="1F2937"/>
                          </a:solidFill>
                          <a:latin typeface="Calibri"/>
                        </a:rPr>
                        <a:t>Weighted escape rate 68.2%, weighted ROC-AUC (XGBoost) 0.701</a:t>
                      </a:r>
                    </a:p>
                  </a:txBody>
                  <a:tcPr marT="45720" marB="45720" anchor="ctr">
                    <a:solidFill>
                      <a:srgbClr val="FFFFFF"/>
                    </a:solidFill>
                  </a:tcPr>
                </a:tc>
              </a:tr>
              <a:tr h="457200">
                <a:tc>
                  <a:txBody>
                    <a:bodyPr/>
                    <a:lstStyle/>
                    <a:p>
                      <a:pPr algn="l"/>
                      <a:r>
                        <a:rPr sz="1300" b="1">
                          <a:solidFill>
                            <a:srgbClr val="1F2937"/>
                          </a:solidFill>
                          <a:latin typeface="Calibri"/>
                        </a:rPr>
                        <a:t>Without the ration card</a:t>
                      </a:r>
                    </a:p>
                  </a:txBody>
                  <a:tcPr marT="45720" marB="45720" anchor="ctr">
                    <a:solidFill>
                      <a:srgbClr val="FFFFFF"/>
                    </a:solidFill>
                  </a:tcPr>
                </a:tc>
                <a:tc>
                  <a:txBody>
                    <a:bodyPr/>
                    <a:lstStyle/>
                    <a:p>
                      <a:pPr algn="l"/>
                      <a:r>
                        <a:rPr sz="1300" b="0">
                          <a:solidFill>
                            <a:srgbClr val="1F2937"/>
                          </a:solidFill>
                          <a:latin typeface="Calibri"/>
                        </a:rPr>
                        <a:t>ROC-AUC (XGBoost) 0.715 instead of 0.722</a:t>
                      </a:r>
                    </a:p>
                  </a:txBody>
                  <a:tcPr marT="45720" marB="45720" anchor="ctr">
                    <a:solidFill>
                      <a:srgbClr val="FFFFFF"/>
                    </a:solidFill>
                  </a:tcPr>
                </a:tc>
              </a:tr>
            </a:tbl>
          </a:graphicData>
        </a:graphic>
      </p:graphicFrame>
      <p:sp>
        <p:nvSpPr>
          <p:cNvPr id="7" name="TextBox 6"/>
          <p:cNvSpPr txBox="1"/>
          <p:nvPr/>
        </p:nvSpPr>
        <p:spPr>
          <a:xfrm>
            <a:off x="548640" y="5669280"/>
            <a:ext cx="11155680" cy="731520"/>
          </a:xfrm>
          <a:prstGeom prst="rect">
            <a:avLst/>
          </a:prstGeom>
          <a:noFill/>
        </p:spPr>
        <p:txBody>
          <a:bodyPr wrap="square" anchor="t" lIns="45720" rIns="45720">
            <a:spAutoFit/>
          </a:bodyPr>
          <a:lstStyle/>
          <a:p>
            <a:pPr algn="l">
              <a:spcAft>
                <a:spcPts val="630"/>
              </a:spcAft>
            </a:pPr>
            <a:r>
              <a:rPr sz="1400" b="0">
                <a:solidFill>
                  <a:srgbClr val="1F2937"/>
                </a:solidFill>
                <a:latin typeface="Calibri"/>
              </a:rPr>
              <a:t>Adding spending and income back changes the score by less than 0.01, so leaving them out costs almost nothing.</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AF7F0"/>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F6E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94360"/>
            <a:ext cx="11155680" cy="731520"/>
          </a:xfrm>
          <a:prstGeom prst="rect">
            <a:avLst/>
          </a:prstGeom>
          <a:noFill/>
        </p:spPr>
        <p:txBody>
          <a:bodyPr wrap="square" anchor="t" lIns="45720" rIns="45720">
            <a:spAutoFit/>
          </a:bodyPr>
          <a:lstStyle/>
          <a:p>
            <a:pPr algn="l">
              <a:spcAft>
                <a:spcPts val="1170"/>
              </a:spcAft>
            </a:pPr>
            <a:r>
              <a:rPr sz="2600" b="1">
                <a:solidFill>
                  <a:srgbClr val="1F2937"/>
                </a:solidFill>
                <a:latin typeface="Calibri"/>
              </a:rPr>
              <a:t>Education analysis in detail</a:t>
            </a:r>
          </a:p>
        </p:txBody>
      </p:sp>
      <p:sp>
        <p:nvSpPr>
          <p:cNvPr id="4" name="TextBox 3"/>
          <p:cNvSpPr txBox="1"/>
          <p:nvPr/>
        </p:nvSpPr>
        <p:spPr>
          <a:xfrm>
            <a:off x="11247120" y="6400800"/>
            <a:ext cx="731520" cy="320040"/>
          </a:xfrm>
          <a:prstGeom prst="rect">
            <a:avLst/>
          </a:prstGeom>
          <a:noFill/>
        </p:spPr>
        <p:txBody>
          <a:bodyPr wrap="square" anchor="t" lIns="45720" rIns="45720">
            <a:spAutoFit/>
          </a:bodyPr>
          <a:lstStyle/>
          <a:p>
            <a:pPr algn="r">
              <a:spcAft>
                <a:spcPts val="495"/>
              </a:spcAft>
            </a:pPr>
            <a:r>
              <a:rPr sz="1100" b="0">
                <a:solidFill>
                  <a:srgbClr val="5B6470"/>
                </a:solidFill>
                <a:latin typeface="Calibri"/>
              </a:rPr>
              <a:t>38</a:t>
            </a:r>
          </a:p>
        </p:txBody>
      </p:sp>
      <p:sp>
        <p:nvSpPr>
          <p:cNvPr id="5" name="Rounded Rectangle 4"/>
          <p:cNvSpPr/>
          <p:nvPr/>
        </p:nvSpPr>
        <p:spPr>
          <a:xfrm>
            <a:off x="9966960" y="292608"/>
            <a:ext cx="1920240" cy="384048"/>
          </a:xfrm>
          <a:prstGeom prst="roundRect">
            <a:avLst>
              <a:gd name="adj" fmla="val 50000"/>
            </a:avLst>
          </a:prstGeom>
          <a:solidFill>
            <a:srgbClr val="FF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C2410C"/>
                </a:solidFill>
                <a:latin typeface="Calibri"/>
              </a:rPr>
              <a:t>Backup (if asked)</a:t>
            </a:r>
          </a:p>
        </p:txBody>
      </p:sp>
      <p:pic>
        <p:nvPicPr>
          <p:cNvPr id="6" name="Picture 5" descr="c12_education_effect.png"/>
          <p:cNvPicPr>
            <a:picLocks noChangeAspect="1"/>
          </p:cNvPicPr>
          <p:nvPr/>
        </p:nvPicPr>
        <p:blipFill>
          <a:blip r:embed="rId2"/>
          <a:stretch>
            <a:fillRect/>
          </a:stretch>
        </p:blipFill>
        <p:spPr>
          <a:xfrm>
            <a:off x="365760" y="1371600"/>
            <a:ext cx="6949440" cy="3472831"/>
          </a:xfrm>
          <a:prstGeom prst="rect">
            <a:avLst/>
          </a:prstGeom>
        </p:spPr>
      </p:pic>
      <p:sp>
        <p:nvSpPr>
          <p:cNvPr id="7" name="TextBox 6"/>
          <p:cNvSpPr txBox="1"/>
          <p:nvPr/>
        </p:nvSpPr>
        <p:spPr>
          <a:xfrm>
            <a:off x="7498079" y="1371600"/>
            <a:ext cx="4206240" cy="4937760"/>
          </a:xfrm>
          <a:prstGeom prst="rect">
            <a:avLst/>
          </a:prstGeom>
          <a:noFill/>
        </p:spPr>
        <p:txBody>
          <a:bodyPr wrap="square" anchor="t" lIns="45720" rIns="45720">
            <a:spAutoFit/>
          </a:bodyPr>
          <a:lstStyle/>
          <a:p>
            <a:pPr algn="l">
              <a:spcAft>
                <a:spcPts val="364"/>
              </a:spcAft>
            </a:pPr>
            <a:r>
              <a:rPr sz="1300" b="1">
                <a:solidFill>
                  <a:srgbClr val="0F6E6A"/>
                </a:solidFill>
                <a:latin typeface="Calibri"/>
              </a:rPr>
              <a:t>Three ways of comparing similar households</a:t>
            </a:r>
          </a:p>
          <a:p>
            <a:pPr algn="l">
              <a:spcAft>
                <a:spcPts val="364"/>
              </a:spcAft>
            </a:pPr>
            <a:r>
              <a:rPr sz="1300" b="0">
                <a:solidFill>
                  <a:srgbClr val="1F2937"/>
                </a:solidFill>
                <a:latin typeface="Calibri"/>
              </a:rPr>
              <a:t>Regression, weighting by propensity scores and a mix of the two (called doubly robust) give 6.4, 6.4 and 6.3 points. The intervals come from re-drawing whole villages.</a:t>
            </a:r>
          </a:p>
          <a:p>
            <a:pPr algn="l">
              <a:spcAft>
                <a:spcPts val="364"/>
              </a:spcAft>
            </a:pPr>
            <a:r>
              <a:rPr sz="1300" b="1">
                <a:solidFill>
                  <a:srgbClr val="0F6E6A"/>
                </a:solidFill>
                <a:latin typeface="Calibri"/>
              </a:rPr>
              <a:t>The E-value</a:t>
            </a:r>
          </a:p>
          <a:p>
            <a:pPr algn="l">
              <a:spcAft>
                <a:spcPts val="364"/>
              </a:spcAft>
            </a:pPr>
            <a:r>
              <a:rPr sz="1300" b="0">
                <a:solidFill>
                  <a:srgbClr val="1F2937"/>
                </a:solidFill>
                <a:latin typeface="Calibri"/>
              </a:rPr>
              <a:t>The E-value is 1.4. A hidden factor that raised both education and escape by that much could explain the gap away, so the result is only suggestive.</a:t>
            </a:r>
          </a:p>
          <a:p>
            <a:pPr algn="l">
              <a:spcAft>
                <a:spcPts val="364"/>
              </a:spcAft>
            </a:pPr>
            <a:r>
              <a:rPr sz="1300" b="0">
                <a:solidFill>
                  <a:srgbClr val="1F2937"/>
                </a:solidFill>
                <a:latin typeface="Calibri"/>
              </a:rPr>
              <a:t>2,205 treated and 8,927 comparison households (14 had no education value).</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AF7F0"/>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F6E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94360"/>
            <a:ext cx="11155680" cy="731520"/>
          </a:xfrm>
          <a:prstGeom prst="rect">
            <a:avLst/>
          </a:prstGeom>
          <a:noFill/>
        </p:spPr>
        <p:txBody>
          <a:bodyPr wrap="square" anchor="t" lIns="45720" rIns="45720">
            <a:spAutoFit/>
          </a:bodyPr>
          <a:lstStyle/>
          <a:p>
            <a:pPr algn="l">
              <a:spcAft>
                <a:spcPts val="1170"/>
              </a:spcAft>
            </a:pPr>
            <a:r>
              <a:rPr sz="2600" b="1">
                <a:solidFill>
                  <a:srgbClr val="1F2937"/>
                </a:solidFill>
                <a:latin typeface="Calibri"/>
              </a:rPr>
              <a:t>SHAP importance by factor group</a:t>
            </a:r>
          </a:p>
        </p:txBody>
      </p:sp>
      <p:sp>
        <p:nvSpPr>
          <p:cNvPr id="4" name="TextBox 3"/>
          <p:cNvSpPr txBox="1"/>
          <p:nvPr/>
        </p:nvSpPr>
        <p:spPr>
          <a:xfrm>
            <a:off x="11247120" y="6400800"/>
            <a:ext cx="731520" cy="320040"/>
          </a:xfrm>
          <a:prstGeom prst="rect">
            <a:avLst/>
          </a:prstGeom>
          <a:noFill/>
        </p:spPr>
        <p:txBody>
          <a:bodyPr wrap="square" anchor="t" lIns="45720" rIns="45720">
            <a:spAutoFit/>
          </a:bodyPr>
          <a:lstStyle/>
          <a:p>
            <a:pPr algn="r">
              <a:spcAft>
                <a:spcPts val="495"/>
              </a:spcAft>
            </a:pPr>
            <a:r>
              <a:rPr sz="1100" b="0">
                <a:solidFill>
                  <a:srgbClr val="5B6470"/>
                </a:solidFill>
                <a:latin typeface="Calibri"/>
              </a:rPr>
              <a:t>39</a:t>
            </a:r>
          </a:p>
        </p:txBody>
      </p:sp>
      <p:sp>
        <p:nvSpPr>
          <p:cNvPr id="5" name="Rounded Rectangle 4"/>
          <p:cNvSpPr/>
          <p:nvPr/>
        </p:nvSpPr>
        <p:spPr>
          <a:xfrm>
            <a:off x="9966960" y="292608"/>
            <a:ext cx="1920240" cy="384048"/>
          </a:xfrm>
          <a:prstGeom prst="roundRect">
            <a:avLst>
              <a:gd name="adj" fmla="val 50000"/>
            </a:avLst>
          </a:prstGeom>
          <a:solidFill>
            <a:srgbClr val="FF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C2410C"/>
                </a:solidFill>
                <a:latin typeface="Calibri"/>
              </a:rPr>
              <a:t>Backup (if asked)</a:t>
            </a:r>
          </a:p>
        </p:txBody>
      </p:sp>
      <p:pic>
        <p:nvPicPr>
          <p:cNvPr id="6" name="Picture 5" descr="c09_shap_groups.png"/>
          <p:cNvPicPr>
            <a:picLocks noChangeAspect="1"/>
          </p:cNvPicPr>
          <p:nvPr/>
        </p:nvPicPr>
        <p:blipFill>
          <a:blip r:embed="rId2"/>
          <a:stretch>
            <a:fillRect/>
          </a:stretch>
        </p:blipFill>
        <p:spPr>
          <a:xfrm>
            <a:off x="365760" y="1371600"/>
            <a:ext cx="6949440" cy="4409651"/>
          </a:xfrm>
          <a:prstGeom prst="rect">
            <a:avLst/>
          </a:prstGeom>
        </p:spPr>
      </p:pic>
      <p:sp>
        <p:nvSpPr>
          <p:cNvPr id="7" name="TextBox 6"/>
          <p:cNvSpPr txBox="1"/>
          <p:nvPr/>
        </p:nvSpPr>
        <p:spPr>
          <a:xfrm>
            <a:off x="7589520" y="1463040"/>
            <a:ext cx="4114800" cy="4846320"/>
          </a:xfrm>
          <a:prstGeom prst="rect">
            <a:avLst/>
          </a:prstGeom>
          <a:noFill/>
        </p:spPr>
        <p:txBody>
          <a:bodyPr wrap="square" anchor="t" lIns="45720" rIns="45720">
            <a:spAutoFit/>
          </a:bodyPr>
          <a:lstStyle/>
          <a:p>
            <a:pPr algn="l">
              <a:spcAft>
                <a:spcPts val="420"/>
              </a:spcAft>
            </a:pPr>
            <a:r>
              <a:rPr sz="1400" b="1">
                <a:solidFill>
                  <a:srgbClr val="0F6E6A"/>
                </a:solidFill>
                <a:latin typeface="Calibri"/>
              </a:rPr>
              <a:t>What it shows</a:t>
            </a:r>
          </a:p>
          <a:p>
            <a:pPr algn="l">
              <a:spcAft>
                <a:spcPts val="420"/>
              </a:spcAft>
            </a:pPr>
            <a:r>
              <a:rPr sz="1400" b="0">
                <a:solidFill>
                  <a:srgbClr val="1F2937"/>
                </a:solidFill>
                <a:latin typeface="Calibri"/>
              </a:rPr>
              <a:t>Household structure (23%) and assets and housing (23%) lead. Education is 7% and health 1.2%.</a:t>
            </a:r>
          </a:p>
          <a:p>
            <a:pPr algn="l">
              <a:spcAft>
                <a:spcPts val="420"/>
              </a:spcAft>
            </a:pPr>
            <a:r>
              <a:rPr sz="1400" b="1">
                <a:solidFill>
                  <a:srgbClr val="0F6E6A"/>
                </a:solidFill>
                <a:latin typeface="Calibri"/>
              </a:rPr>
              <a:t>What to keep in mind</a:t>
            </a:r>
          </a:p>
          <a:p>
            <a:pPr algn="l">
              <a:spcAft>
                <a:spcPts val="420"/>
              </a:spcAft>
            </a:pPr>
            <a:r>
              <a:rPr sz="1400" b="0">
                <a:solidFill>
                  <a:srgbClr val="1F2937"/>
                </a:solidFill>
                <a:latin typeface="Calibri"/>
              </a:rPr>
              <a:t>A group with many features collects more importance, and features that move together share credit. So a small share does not mean that a group is unimportant.</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AF7F0"/>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F6E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94360"/>
            <a:ext cx="11155680" cy="731520"/>
          </a:xfrm>
          <a:prstGeom prst="rect">
            <a:avLst/>
          </a:prstGeom>
          <a:noFill/>
        </p:spPr>
        <p:txBody>
          <a:bodyPr wrap="square" anchor="t" lIns="45720" rIns="45720">
            <a:spAutoFit/>
          </a:bodyPr>
          <a:lstStyle/>
          <a:p>
            <a:pPr algn="l">
              <a:spcAft>
                <a:spcPts val="1170"/>
              </a:spcAft>
            </a:pPr>
            <a:r>
              <a:rPr sz="2600" b="1">
                <a:solidFill>
                  <a:srgbClr val="1F2937"/>
                </a:solidFill>
                <a:latin typeface="Calibri"/>
              </a:rPr>
              <a:t>Glossary</a:t>
            </a:r>
          </a:p>
        </p:txBody>
      </p:sp>
      <p:sp>
        <p:nvSpPr>
          <p:cNvPr id="4" name="TextBox 3"/>
          <p:cNvSpPr txBox="1"/>
          <p:nvPr/>
        </p:nvSpPr>
        <p:spPr>
          <a:xfrm>
            <a:off x="11247120" y="6400800"/>
            <a:ext cx="731520" cy="320040"/>
          </a:xfrm>
          <a:prstGeom prst="rect">
            <a:avLst/>
          </a:prstGeom>
          <a:noFill/>
        </p:spPr>
        <p:txBody>
          <a:bodyPr wrap="square" anchor="t" lIns="45720" rIns="45720">
            <a:spAutoFit/>
          </a:bodyPr>
          <a:lstStyle/>
          <a:p>
            <a:pPr algn="r">
              <a:spcAft>
                <a:spcPts val="495"/>
              </a:spcAft>
            </a:pPr>
            <a:r>
              <a:rPr sz="1100" b="0">
                <a:solidFill>
                  <a:srgbClr val="5B6470"/>
                </a:solidFill>
                <a:latin typeface="Calibri"/>
              </a:rPr>
              <a:t>40</a:t>
            </a:r>
          </a:p>
        </p:txBody>
      </p:sp>
      <p:sp>
        <p:nvSpPr>
          <p:cNvPr id="5" name="Rounded Rectangle 4"/>
          <p:cNvSpPr/>
          <p:nvPr/>
        </p:nvSpPr>
        <p:spPr>
          <a:xfrm>
            <a:off x="9966960" y="292608"/>
            <a:ext cx="1920240" cy="384048"/>
          </a:xfrm>
          <a:prstGeom prst="roundRect">
            <a:avLst>
              <a:gd name="adj" fmla="val 50000"/>
            </a:avLst>
          </a:prstGeom>
          <a:solidFill>
            <a:srgbClr val="FF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C2410C"/>
                </a:solidFill>
                <a:latin typeface="Calibri"/>
              </a:rPr>
              <a:t>Backup (if asked)</a:t>
            </a:r>
          </a:p>
        </p:txBody>
      </p:sp>
      <p:graphicFrame>
        <p:nvGraphicFramePr>
          <p:cNvPr id="6" name="Table 5"/>
          <p:cNvGraphicFramePr>
            <a:graphicFrameLocks noGrp="1"/>
          </p:cNvGraphicFramePr>
          <p:nvPr/>
        </p:nvGraphicFramePr>
        <p:xfrm>
          <a:off x="548640" y="1371600"/>
          <a:ext cx="11155680" cy="4937760"/>
        </p:xfrm>
        <a:graphic>
          <a:graphicData uri="http://schemas.openxmlformats.org/drawingml/2006/table">
            <a:tbl>
              <a:tblPr firstRow="1" bandRow="1">
                <a:tableStyleId>{5C22544A-7EE6-4342-B048-85BDC9FD1C3A}</a:tableStyleId>
              </a:tblPr>
              <a:tblGrid>
                <a:gridCol w="3108960"/>
                <a:gridCol w="8046720"/>
              </a:tblGrid>
              <a:tr h="411480">
                <a:tc>
                  <a:txBody>
                    <a:bodyPr/>
                    <a:lstStyle/>
                    <a:p>
                      <a:pPr algn="l"/>
                      <a:r>
                        <a:rPr sz="1300" b="1">
                          <a:solidFill>
                            <a:srgbClr val="FFFFFF"/>
                          </a:solidFill>
                          <a:latin typeface="Calibri"/>
                        </a:rPr>
                        <a:t>Term</a:t>
                      </a:r>
                    </a:p>
                  </a:txBody>
                  <a:tcPr marT="45720" marB="45720" anchor="ctr">
                    <a:solidFill>
                      <a:srgbClr val="0F6E6A"/>
                    </a:solidFill>
                  </a:tcPr>
                </a:tc>
                <a:tc>
                  <a:txBody>
                    <a:bodyPr/>
                    <a:lstStyle/>
                    <a:p>
                      <a:pPr algn="l"/>
                      <a:r>
                        <a:rPr sz="1300" b="1">
                          <a:solidFill>
                            <a:srgbClr val="FFFFFF"/>
                          </a:solidFill>
                          <a:latin typeface="Calibri"/>
                        </a:rPr>
                        <a:t>Plain meaning</a:t>
                      </a:r>
                    </a:p>
                  </a:txBody>
                  <a:tcPr marT="45720" marB="45720" anchor="ctr">
                    <a:solidFill>
                      <a:srgbClr val="0F6E6A"/>
                    </a:solidFill>
                  </a:tcPr>
                </a:tc>
              </a:tr>
              <a:tr h="411480">
                <a:tc>
                  <a:txBody>
                    <a:bodyPr/>
                    <a:lstStyle/>
                    <a:p>
                      <a:pPr algn="l"/>
                      <a:r>
                        <a:rPr sz="1300" b="1">
                          <a:solidFill>
                            <a:srgbClr val="1F2937"/>
                          </a:solidFill>
                          <a:latin typeface="Calibri"/>
                        </a:rPr>
                        <a:t>Panel data</a:t>
                      </a:r>
                    </a:p>
                  </a:txBody>
                  <a:tcPr marT="45720" marB="45720" anchor="ctr">
                    <a:solidFill>
                      <a:srgbClr val="FFFFFF"/>
                    </a:solidFill>
                  </a:tcPr>
                </a:tc>
                <a:tc>
                  <a:txBody>
                    <a:bodyPr/>
                    <a:lstStyle/>
                    <a:p>
                      <a:pPr algn="l"/>
                      <a:r>
                        <a:rPr sz="1300" b="0">
                          <a:solidFill>
                            <a:srgbClr val="1F2937"/>
                          </a:solidFill>
                          <a:latin typeface="Calibri"/>
                        </a:rPr>
                        <a:t>The same households measured more than once</a:t>
                      </a:r>
                    </a:p>
                  </a:txBody>
                  <a:tcPr marT="45720" marB="45720" anchor="ctr">
                    <a:solidFill>
                      <a:srgbClr val="FFFFFF"/>
                    </a:solidFill>
                  </a:tcPr>
                </a:tc>
              </a:tr>
              <a:tr h="411480">
                <a:tc>
                  <a:txBody>
                    <a:bodyPr/>
                    <a:lstStyle/>
                    <a:p>
                      <a:pPr algn="l"/>
                      <a:r>
                        <a:rPr sz="1300" b="1">
                          <a:solidFill>
                            <a:srgbClr val="1F2937"/>
                          </a:solidFill>
                          <a:latin typeface="Calibri"/>
                        </a:rPr>
                        <a:t>Tendulkar line</a:t>
                      </a:r>
                    </a:p>
                  </a:txBody>
                  <a:tcPr marT="45720" marB="45720" anchor="ctr">
                    <a:solidFill>
                      <a:srgbClr val="FFFFFF"/>
                    </a:solidFill>
                  </a:tcPr>
                </a:tc>
                <a:tc>
                  <a:txBody>
                    <a:bodyPr/>
                    <a:lstStyle/>
                    <a:p>
                      <a:pPr algn="l"/>
                      <a:r>
                        <a:rPr sz="1300" b="0">
                          <a:solidFill>
                            <a:srgbClr val="1F2937"/>
                          </a:solidFill>
                          <a:latin typeface="Calibri"/>
                        </a:rPr>
                        <a:t>The official poverty line: monthly spending per person, set by state and rural or urban area</a:t>
                      </a:r>
                    </a:p>
                  </a:txBody>
                  <a:tcPr marT="45720" marB="45720" anchor="ctr">
                    <a:solidFill>
                      <a:srgbClr val="FFFFFF"/>
                    </a:solidFill>
                  </a:tcPr>
                </a:tc>
              </a:tr>
              <a:tr h="411480">
                <a:tc>
                  <a:txBody>
                    <a:bodyPr/>
                    <a:lstStyle/>
                    <a:p>
                      <a:pPr algn="l"/>
                      <a:r>
                        <a:rPr sz="1300" b="1">
                          <a:solidFill>
                            <a:srgbClr val="1F2937"/>
                          </a:solidFill>
                          <a:latin typeface="Calibri"/>
                        </a:rPr>
                        <a:t>One-hot encoding</a:t>
                      </a:r>
                    </a:p>
                  </a:txBody>
                  <a:tcPr marT="45720" marB="45720" anchor="ctr">
                    <a:solidFill>
                      <a:srgbClr val="FFFFFF"/>
                    </a:solidFill>
                  </a:tcPr>
                </a:tc>
                <a:tc>
                  <a:txBody>
                    <a:bodyPr/>
                    <a:lstStyle/>
                    <a:p>
                      <a:pPr algn="l"/>
                      <a:r>
                        <a:rPr sz="1300" b="0">
                          <a:solidFill>
                            <a:srgbClr val="1F2937"/>
                          </a:solidFill>
                          <a:latin typeface="Calibri"/>
                        </a:rPr>
                        <a:t>A category becomes one yes/no column per value</a:t>
                      </a:r>
                    </a:p>
                  </a:txBody>
                  <a:tcPr marT="45720" marB="45720" anchor="ctr">
                    <a:solidFill>
                      <a:srgbClr val="FFFFFF"/>
                    </a:solidFill>
                  </a:tcPr>
                </a:tc>
              </a:tr>
              <a:tr h="411480">
                <a:tc>
                  <a:txBody>
                    <a:bodyPr/>
                    <a:lstStyle/>
                    <a:p>
                      <a:pPr algn="l"/>
                      <a:r>
                        <a:rPr sz="1300" b="1">
                          <a:solidFill>
                            <a:srgbClr val="1F2937"/>
                          </a:solidFill>
                          <a:latin typeface="Calibri"/>
                        </a:rPr>
                        <a:t>Out-of-fold prediction</a:t>
                      </a:r>
                    </a:p>
                  </a:txBody>
                  <a:tcPr marT="45720" marB="45720" anchor="ctr">
                    <a:solidFill>
                      <a:srgbClr val="FFFFFF"/>
                    </a:solidFill>
                  </a:tcPr>
                </a:tc>
                <a:tc>
                  <a:txBody>
                    <a:bodyPr/>
                    <a:lstStyle/>
                    <a:p>
                      <a:pPr algn="l"/>
                      <a:r>
                        <a:rPr sz="1300" b="0">
                          <a:solidFill>
                            <a:srgbClr val="1F2937"/>
                          </a:solidFill>
                          <a:latin typeface="Calibri"/>
                        </a:rPr>
                        <a:t>A prediction made while the household's village was hidden from the model</a:t>
                      </a:r>
                    </a:p>
                  </a:txBody>
                  <a:tcPr marT="45720" marB="45720" anchor="ctr">
                    <a:solidFill>
                      <a:srgbClr val="FFFFFF"/>
                    </a:solidFill>
                  </a:tcPr>
                </a:tc>
              </a:tr>
              <a:tr h="411480">
                <a:tc>
                  <a:txBody>
                    <a:bodyPr/>
                    <a:lstStyle/>
                    <a:p>
                      <a:pPr algn="l"/>
                      <a:r>
                        <a:rPr sz="1300" b="1">
                          <a:solidFill>
                            <a:srgbClr val="1F2937"/>
                          </a:solidFill>
                          <a:latin typeface="Calibri"/>
                        </a:rPr>
                        <a:t>Cut-off (threshold)</a:t>
                      </a:r>
                    </a:p>
                  </a:txBody>
                  <a:tcPr marT="45720" marB="45720" anchor="ctr">
                    <a:solidFill>
                      <a:srgbClr val="FFFFFF"/>
                    </a:solidFill>
                  </a:tcPr>
                </a:tc>
                <a:tc>
                  <a:txBody>
                    <a:bodyPr/>
                    <a:lstStyle/>
                    <a:p>
                      <a:pPr algn="l"/>
                      <a:r>
                        <a:rPr sz="1300" b="0">
                          <a:solidFill>
                            <a:srgbClr val="1F2937"/>
                          </a:solidFill>
                          <a:latin typeface="Calibri"/>
                        </a:rPr>
                        <a:t>The probability above which we say 'escaped'</a:t>
                      </a:r>
                    </a:p>
                  </a:txBody>
                  <a:tcPr marT="45720" marB="45720" anchor="ctr">
                    <a:solidFill>
                      <a:srgbClr val="FFFFFF"/>
                    </a:solidFill>
                  </a:tcPr>
                </a:tc>
              </a:tr>
              <a:tr h="411480">
                <a:tc>
                  <a:txBody>
                    <a:bodyPr/>
                    <a:lstStyle/>
                    <a:p>
                      <a:pPr algn="l"/>
                      <a:r>
                        <a:rPr sz="1300" b="1">
                          <a:solidFill>
                            <a:srgbClr val="1F2937"/>
                          </a:solidFill>
                          <a:latin typeface="Calibri"/>
                        </a:rPr>
                        <a:t>ROC-AUC</a:t>
                      </a:r>
                    </a:p>
                  </a:txBody>
                  <a:tcPr marT="45720" marB="45720" anchor="ctr">
                    <a:solidFill>
                      <a:srgbClr val="FFFFFF"/>
                    </a:solidFill>
                  </a:tcPr>
                </a:tc>
                <a:tc>
                  <a:txBody>
                    <a:bodyPr/>
                    <a:lstStyle/>
                    <a:p>
                      <a:pPr algn="l"/>
                      <a:r>
                        <a:rPr sz="1300" b="0">
                          <a:solidFill>
                            <a:srgbClr val="1F2937"/>
                          </a:solidFill>
                          <a:latin typeface="Calibri"/>
                        </a:rPr>
                        <a:t>Chance the model scores a random escaped household above a random stayed-poor one</a:t>
                      </a:r>
                    </a:p>
                  </a:txBody>
                  <a:tcPr marT="45720" marB="45720" anchor="ctr">
                    <a:solidFill>
                      <a:srgbClr val="FFFFFF"/>
                    </a:solidFill>
                  </a:tcPr>
                </a:tc>
              </a:tr>
              <a:tr h="411480">
                <a:tc>
                  <a:txBody>
                    <a:bodyPr/>
                    <a:lstStyle/>
                    <a:p>
                      <a:pPr algn="l"/>
                      <a:r>
                        <a:rPr sz="1300" b="1">
                          <a:solidFill>
                            <a:srgbClr val="1F2937"/>
                          </a:solidFill>
                          <a:latin typeface="Calibri"/>
                        </a:rPr>
                        <a:t>Macro-F1</a:t>
                      </a:r>
                    </a:p>
                  </a:txBody>
                  <a:tcPr marT="45720" marB="45720" anchor="ctr">
                    <a:solidFill>
                      <a:srgbClr val="FFFFFF"/>
                    </a:solidFill>
                  </a:tcPr>
                </a:tc>
                <a:tc>
                  <a:txBody>
                    <a:bodyPr/>
                    <a:lstStyle/>
                    <a:p>
                      <a:pPr algn="l"/>
                      <a:r>
                        <a:rPr sz="1300" b="0">
                          <a:solidFill>
                            <a:srgbClr val="1F2937"/>
                          </a:solidFill>
                          <a:latin typeface="Calibri"/>
                        </a:rPr>
                        <a:t>The F1-score averaged over both classes</a:t>
                      </a:r>
                    </a:p>
                  </a:txBody>
                  <a:tcPr marT="45720" marB="45720" anchor="ctr">
                    <a:solidFill>
                      <a:srgbClr val="FFFFFF"/>
                    </a:solidFill>
                  </a:tcPr>
                </a:tc>
              </a:tr>
              <a:tr h="411480">
                <a:tc>
                  <a:txBody>
                    <a:bodyPr/>
                    <a:lstStyle/>
                    <a:p>
                      <a:pPr algn="l"/>
                      <a:r>
                        <a:rPr sz="1300" b="1">
                          <a:solidFill>
                            <a:srgbClr val="1F2937"/>
                          </a:solidFill>
                          <a:latin typeface="Calibri"/>
                        </a:rPr>
                        <a:t>SHAP</a:t>
                      </a:r>
                    </a:p>
                  </a:txBody>
                  <a:tcPr marT="45720" marB="45720" anchor="ctr">
                    <a:solidFill>
                      <a:srgbClr val="FFFFFF"/>
                    </a:solidFill>
                  </a:tcPr>
                </a:tc>
                <a:tc>
                  <a:txBody>
                    <a:bodyPr/>
                    <a:lstStyle/>
                    <a:p>
                      <a:pPr algn="l"/>
                      <a:r>
                        <a:rPr sz="1300" b="0">
                          <a:solidFill>
                            <a:srgbClr val="1F2937"/>
                          </a:solidFill>
                          <a:latin typeface="Calibri"/>
                        </a:rPr>
                        <a:t>A way to split a prediction into the push from each feature</a:t>
                      </a:r>
                    </a:p>
                  </a:txBody>
                  <a:tcPr marT="45720" marB="45720" anchor="ctr">
                    <a:solidFill>
                      <a:srgbClr val="FFFFFF"/>
                    </a:solidFill>
                  </a:tcPr>
                </a:tc>
              </a:tr>
              <a:tr h="411480">
                <a:tc>
                  <a:txBody>
                    <a:bodyPr/>
                    <a:lstStyle/>
                    <a:p>
                      <a:pPr algn="l"/>
                      <a:r>
                        <a:rPr sz="1300" b="1">
                          <a:solidFill>
                            <a:srgbClr val="1F2937"/>
                          </a:solidFill>
                          <a:latin typeface="Calibri"/>
                        </a:rPr>
                        <a:t>95% interval (bootstrap)</a:t>
                      </a:r>
                    </a:p>
                  </a:txBody>
                  <a:tcPr marT="45720" marB="45720" anchor="ctr">
                    <a:solidFill>
                      <a:srgbClr val="FFFFFF"/>
                    </a:solidFill>
                  </a:tcPr>
                </a:tc>
                <a:tc>
                  <a:txBody>
                    <a:bodyPr/>
                    <a:lstStyle/>
                    <a:p>
                      <a:pPr algn="l"/>
                      <a:r>
                        <a:rPr sz="1300" b="0">
                          <a:solidFill>
                            <a:srgbClr val="1F2937"/>
                          </a:solidFill>
                          <a:latin typeface="Calibri"/>
                        </a:rPr>
                        <a:t>Redraw villages 1,000 times and take the middle 95% of the scores</a:t>
                      </a:r>
                    </a:p>
                  </a:txBody>
                  <a:tcPr marT="45720" marB="45720" anchor="ctr">
                    <a:solidFill>
                      <a:srgbClr val="FFFFFF"/>
                    </a:solidFill>
                  </a:tcPr>
                </a:tc>
              </a:tr>
              <a:tr h="411480">
                <a:tc>
                  <a:txBody>
                    <a:bodyPr/>
                    <a:lstStyle/>
                    <a:p>
                      <a:pPr algn="l"/>
                      <a:r>
                        <a:rPr sz="1300" b="1">
                          <a:solidFill>
                            <a:srgbClr val="1F2937"/>
                          </a:solidFill>
                          <a:latin typeface="Calibri"/>
                        </a:rPr>
                        <a:t>Propensity score</a:t>
                      </a:r>
                    </a:p>
                  </a:txBody>
                  <a:tcPr marT="45720" marB="45720" anchor="ctr">
                    <a:solidFill>
                      <a:srgbClr val="FFFFFF"/>
                    </a:solidFill>
                  </a:tcPr>
                </a:tc>
                <a:tc>
                  <a:txBody>
                    <a:bodyPr/>
                    <a:lstStyle/>
                    <a:p>
                      <a:pPr algn="l"/>
                      <a:r>
                        <a:rPr sz="1300" b="0">
                          <a:solidFill>
                            <a:srgbClr val="1F2937"/>
                          </a:solidFill>
                          <a:latin typeface="Calibri"/>
                        </a:rPr>
                        <a:t>The chance of a household having a trait (here: an educated adult), given its other traits</a:t>
                      </a:r>
                    </a:p>
                  </a:txBody>
                  <a:tcPr marT="45720" marB="45720" anchor="ctr">
                    <a:solidFill>
                      <a:srgbClr val="FFFFFF"/>
                    </a:solidFill>
                  </a:tcPr>
                </a:tc>
              </a:tr>
              <a:tr h="411480">
                <a:tc>
                  <a:txBody>
                    <a:bodyPr/>
                    <a:lstStyle/>
                    <a:p>
                      <a:pPr algn="l"/>
                      <a:r>
                        <a:rPr sz="1300" b="1">
                          <a:solidFill>
                            <a:srgbClr val="1F2937"/>
                          </a:solidFill>
                          <a:latin typeface="Calibri"/>
                        </a:rPr>
                        <a:t>Data leakage</a:t>
                      </a:r>
                    </a:p>
                  </a:txBody>
                  <a:tcPr marT="45720" marB="45720" anchor="ctr">
                    <a:solidFill>
                      <a:srgbClr val="FFFFFF"/>
                    </a:solidFill>
                  </a:tcPr>
                </a:tc>
                <a:tc>
                  <a:txBody>
                    <a:bodyPr/>
                    <a:lstStyle/>
                    <a:p>
                      <a:pPr algn="l"/>
                      <a:r>
                        <a:rPr sz="1300" b="0">
                          <a:solidFill>
                            <a:srgbClr val="1F2937"/>
                          </a:solidFill>
                          <a:latin typeface="Calibri"/>
                        </a:rPr>
                        <a:t>Giving the model the answer, or information it would not have in real use</a:t>
                      </a:r>
                    </a:p>
                  </a:txBody>
                  <a:tcPr marT="45720" marB="45720" anchor="ctr">
                    <a:solidFill>
                      <a:srgbClr val="FFFFFF"/>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